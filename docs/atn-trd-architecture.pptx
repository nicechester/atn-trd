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atn-trd is a spec, not yet code. Nothing has been written outside docs/. Purpose of this review: agree the architecture before Phase 1 is handed to programmer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cadence is a confirmed decision — explicitly not intraday. Everything downstream (fill model, snapshots, calendar) assumes daily bars.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is deliberately shippable on its own. The gate: build the container, add a symbol validated against a live quote, get a green LLM test, restart and find it all persisted.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code only ever sees a LangChain chat model. Whether that is an OpenAI-compatible gateway or Gemini on GCP is decided in llm/ and in the settings UI, so the choice can stay open through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boundary rule exists so a future web/worker split is an env var, not a rewrite. The real constraint at that point is SQLite: WAL multi-process works on one host with a shared volume, not across hosts.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Numbered migrations rather than a single CREATE TABLE IF NOT EXISTS blob, because this schema evolves across two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idempotency and the pending → accepted → filled state machine in now — even though v1 fills instantly at last close — is the main thing that keeps a real Alpaca or IBKR adapter drop-in.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sentiment, SEC filings and deep options flow are deliberately deferred past v1. Every connector must degrade to { ok: false } rather than throw into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rather than one open-ended ReAct agent over the whole cycle: it bounds token cost and guarantees evidence is persisted rather than left to the model's discretion.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why not a single open-ended agent with an order tool: this slide is the answer. Safety, bounded cost, and a guaranteed evidence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acceptance: docker build and run with a mounted volume, add a symbol and see it validated live, green LLM test, test each source, set a schedule and see next 5 runs, restart and find everything persisted.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convention: junior = mechanical or small edits, senior = multi-file, cross-cutting or service-layer work. Phase 1 goes to programmer agents first and is validated before Phase 2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question worth settling in this review: which LLM backend Phase 1 tests against. An OpenAI-compatible gateway is the default assumption; Gemini on GCP is the live alternative and would swap the chat-model factory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1B2C45"/>
          </a:solidFill>
          <a:ln/>
        </p:spPr>
      </p:sp>
      <p:sp>
        <p:nvSpPr>
          <p:cNvPr id="3" name="Shape 1"/>
          <p:cNvSpPr/>
          <p:nvPr/>
        </p:nvSpPr>
        <p:spPr>
          <a:xfrm>
            <a:off x="10515600" y="4480560"/>
            <a:ext cx="2377440" cy="2377440"/>
          </a:xfrm>
          <a:prstGeom prst="ellipse">
            <a:avLst/>
          </a:prstGeom>
          <a:solidFill>
            <a:srgbClr val="1B2C45"/>
          </a:solidFill>
          <a:ln/>
        </p:spPr>
      </p:sp>
      <p:sp>
        <p:nvSpPr>
          <p:cNvPr id="4" name="Text 2"/>
          <p:cNvSpPr/>
          <p:nvPr/>
        </p:nvSpPr>
        <p:spPr>
          <a:xfrm>
            <a:off x="566928" y="1417320"/>
            <a:ext cx="7315200" cy="274320"/>
          </a:xfrm>
          <a:prstGeom prst="rect">
            <a:avLst/>
          </a:prstGeom>
          <a:noFill/>
          <a:ln/>
        </p:spPr>
        <p:txBody>
          <a:bodyPr wrap="square" lIns="0" tIns="0" rIns="0" bIns="0" rtlCol="0" anchor="ctr"/>
          <a:lstStyle/>
          <a:p>
            <a:pPr indent="0" marL="0">
              <a:buNone/>
            </a:pPr>
            <a:r>
              <a:rPr lang="en-US" sz="1200" b="1" spc="250" kern="0" dirty="0">
                <a:solidFill>
                  <a:srgbClr val="02C39A"/>
                </a:solidFill>
                <a:latin typeface="Calibri" pitchFamily="34" charset="0"/>
                <a:ea typeface="Calibri" pitchFamily="34" charset="-122"/>
                <a:cs typeface="Calibri" pitchFamily="34" charset="-120"/>
              </a:rPr>
              <a:t>ARCHITECTURE &amp; IMPLEMENTATION SPEC</a:t>
            </a:r>
            <a:endParaRPr lang="en-US" sz="1200" dirty="0"/>
          </a:p>
        </p:txBody>
      </p:sp>
      <p:sp>
        <p:nvSpPr>
          <p:cNvPr id="5" name="Text 3"/>
          <p:cNvSpPr/>
          <p:nvPr/>
        </p:nvSpPr>
        <p:spPr>
          <a:xfrm>
            <a:off x="566928" y="1783080"/>
            <a:ext cx="8229600" cy="960120"/>
          </a:xfrm>
          <a:prstGeom prst="rect">
            <a:avLst/>
          </a:prstGeom>
          <a:noFill/>
          <a:ln/>
        </p:spPr>
        <p:txBody>
          <a:bodyPr wrap="square" lIns="0" tIns="0" rIns="0" bIns="0" rtlCol="0" anchor="ctr"/>
          <a:lstStyle/>
          <a:p>
            <a:pPr indent="0" marL="0">
              <a:buNone/>
            </a:pPr>
            <a:r>
              <a:rPr lang="en-US" sz="5400" b="1" dirty="0">
                <a:solidFill>
                  <a:srgbClr val="FFFFFF"/>
                </a:solidFill>
                <a:latin typeface="Courier New" pitchFamily="34" charset="0"/>
                <a:ea typeface="Courier New" pitchFamily="34" charset="-122"/>
                <a:cs typeface="Courier New" pitchFamily="34" charset="-120"/>
              </a:rPr>
              <a:t>atn-trd</a:t>
            </a:r>
            <a:endParaRPr lang="en-US" sz="5400" dirty="0"/>
          </a:p>
        </p:txBody>
      </p:sp>
      <p:sp>
        <p:nvSpPr>
          <p:cNvPr id="6" name="Text 4"/>
          <p:cNvSpPr/>
          <p:nvPr/>
        </p:nvSpPr>
        <p:spPr>
          <a:xfrm>
            <a:off x="566928" y="2788920"/>
            <a:ext cx="7680960" cy="1051560"/>
          </a:xfrm>
          <a:prstGeom prst="rect">
            <a:avLst/>
          </a:prstGeom>
          <a:noFill/>
          <a:ln/>
        </p:spPr>
        <p:txBody>
          <a:bodyPr wrap="square" lIns="0" tIns="0" rIns="0" bIns="0" rtlCol="0" anchor="ctr"/>
          <a:lstStyle/>
          <a:p>
            <a:pPr indent="0" marL="0">
              <a:lnSpc>
                <a:spcPts val="3400"/>
              </a:lnSpc>
              <a:buNone/>
            </a:pPr>
            <a:r>
              <a:rPr lang="en-US" sz="2700" dirty="0">
                <a:solidFill>
                  <a:srgbClr val="CADCFC"/>
                </a:solidFill>
                <a:latin typeface="Cambria" pitchFamily="34" charset="0"/>
                <a:ea typeface="Cambria" pitchFamily="34" charset="-122"/>
                <a:cs typeface="Cambria" pitchFamily="34" charset="-120"/>
              </a:rPr>
              <a:t>Autonomous, LLM-driven stock research</a:t>
            </a:r>
            <a:endParaRPr lang="en-US" sz="2700" dirty="0"/>
          </a:p>
          <a:p>
            <a:pPr indent="0" marL="0">
              <a:lnSpc>
                <a:spcPts val="3400"/>
              </a:lnSpc>
              <a:buNone/>
            </a:pPr>
            <a:r>
              <a:rPr lang="en-US" sz="2700" dirty="0">
                <a:solidFill>
                  <a:srgbClr val="CADCFC"/>
                </a:solidFill>
                <a:latin typeface="Cambria" pitchFamily="34" charset="0"/>
                <a:ea typeface="Cambria" pitchFamily="34" charset="-122"/>
                <a:cs typeface="Cambria" pitchFamily="34" charset="-120"/>
              </a:rPr>
              <a:t>and paper trading</a:t>
            </a:r>
            <a:endParaRPr lang="en-US" sz="2700" dirty="0"/>
          </a:p>
        </p:txBody>
      </p:sp>
      <p:sp>
        <p:nvSpPr>
          <p:cNvPr id="7" name="Text 5"/>
          <p:cNvSpPr/>
          <p:nvPr/>
        </p:nvSpPr>
        <p:spPr>
          <a:xfrm>
            <a:off x="566928" y="3931920"/>
            <a:ext cx="7223760" cy="640080"/>
          </a:xfrm>
          <a:prstGeom prst="rect">
            <a:avLst/>
          </a:prstGeom>
          <a:noFill/>
          <a:ln/>
        </p:spPr>
        <p:txBody>
          <a:bodyPr wrap="square" lIns="0" tIns="0" rIns="0" bIns="0" rtlCol="0" anchor="ctr"/>
          <a:lstStyle/>
          <a:p>
            <a:pPr indent="0" marL="0">
              <a:lnSpc>
                <a:spcPts val="2200"/>
              </a:lnSpc>
              <a:buNone/>
            </a:pPr>
            <a:r>
              <a:rPr lang="en-US" sz="1450" dirty="0">
                <a:solidFill>
                  <a:srgbClr val="9FB3C8"/>
                </a:solidFill>
                <a:latin typeface="Calibri" pitchFamily="34" charset="0"/>
                <a:ea typeface="Calibri" pitchFamily="34" charset="-122"/>
                <a:cs typeface="Calibri" pitchFamily="34" charset="-120"/>
              </a:rPr>
              <a:t>A LangGraph agent researches a watchlist, a deterministic risk engine sizes the orders, and a PaperBroker simulates the fills.</a:t>
            </a:r>
            <a:endParaRPr lang="en-US" sz="1450" dirty="0"/>
          </a:p>
        </p:txBody>
      </p:sp>
      <p:sp>
        <p:nvSpPr>
          <p:cNvPr id="8" name="Shape 6"/>
          <p:cNvSpPr/>
          <p:nvPr/>
        </p:nvSpPr>
        <p:spPr>
          <a:xfrm>
            <a:off x="566928" y="4983480"/>
            <a:ext cx="2984602" cy="402336"/>
          </a:xfrm>
          <a:prstGeom prst="roundRect">
            <a:avLst>
              <a:gd name="adj" fmla="val 50000"/>
            </a:avLst>
          </a:prstGeom>
          <a:solidFill>
            <a:srgbClr val="1B2C45"/>
          </a:solidFill>
          <a:ln w="12700">
            <a:solidFill>
              <a:srgbClr val="2E4664"/>
            </a:solidFill>
            <a:prstDash val="solid"/>
          </a:ln>
        </p:spPr>
      </p:sp>
      <p:sp>
        <p:nvSpPr>
          <p:cNvPr id="9" name="Text 7"/>
          <p:cNvSpPr/>
          <p:nvPr/>
        </p:nvSpPr>
        <p:spPr>
          <a:xfrm>
            <a:off x="566928" y="4983480"/>
            <a:ext cx="2984602" cy="402336"/>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Daily cadence — not intraday</a:t>
            </a:r>
            <a:endParaRPr lang="en-US" sz="1200" dirty="0"/>
          </a:p>
        </p:txBody>
      </p:sp>
      <p:sp>
        <p:nvSpPr>
          <p:cNvPr id="10" name="Shape 8"/>
          <p:cNvSpPr/>
          <p:nvPr/>
        </p:nvSpPr>
        <p:spPr>
          <a:xfrm>
            <a:off x="3716122" y="4983480"/>
            <a:ext cx="1730045" cy="402336"/>
          </a:xfrm>
          <a:prstGeom prst="roundRect">
            <a:avLst>
              <a:gd name="adj" fmla="val 50000"/>
            </a:avLst>
          </a:prstGeom>
          <a:solidFill>
            <a:srgbClr val="1B2C45"/>
          </a:solidFill>
          <a:ln w="12700">
            <a:solidFill>
              <a:srgbClr val="2E4664"/>
            </a:solidFill>
            <a:prstDash val="solid"/>
          </a:ln>
        </p:spPr>
      </p:sp>
      <p:sp>
        <p:nvSpPr>
          <p:cNvPr id="11" name="Text 9"/>
          <p:cNvSpPr/>
          <p:nvPr/>
        </p:nvSpPr>
        <p:spPr>
          <a:xfrm>
            <a:off x="3716122" y="4983480"/>
            <a:ext cx="1730045" cy="402336"/>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4 data sources</a:t>
            </a:r>
            <a:endParaRPr lang="en-US" sz="1200" dirty="0"/>
          </a:p>
        </p:txBody>
      </p:sp>
      <p:sp>
        <p:nvSpPr>
          <p:cNvPr id="12" name="Shape 10"/>
          <p:cNvSpPr/>
          <p:nvPr/>
        </p:nvSpPr>
        <p:spPr>
          <a:xfrm>
            <a:off x="5610758" y="4983480"/>
            <a:ext cx="2088490" cy="402336"/>
          </a:xfrm>
          <a:prstGeom prst="roundRect">
            <a:avLst>
              <a:gd name="adj" fmla="val 50000"/>
            </a:avLst>
          </a:prstGeom>
          <a:solidFill>
            <a:srgbClr val="1B2C45"/>
          </a:solidFill>
          <a:ln w="12700">
            <a:solidFill>
              <a:srgbClr val="2E4664"/>
            </a:solidFill>
            <a:prstDash val="solid"/>
          </a:ln>
        </p:spPr>
      </p:sp>
      <p:sp>
        <p:nvSpPr>
          <p:cNvPr id="13" name="Text 11"/>
          <p:cNvSpPr/>
          <p:nvPr/>
        </p:nvSpPr>
        <p:spPr>
          <a:xfrm>
            <a:off x="5610758" y="4983480"/>
            <a:ext cx="2088490" cy="402336"/>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1 Docker container</a:t>
            </a:r>
            <a:endParaRPr lang="en-US" sz="1200" dirty="0"/>
          </a:p>
        </p:txBody>
      </p:sp>
      <p:sp>
        <p:nvSpPr>
          <p:cNvPr id="14" name="Shape 12"/>
          <p:cNvSpPr/>
          <p:nvPr/>
        </p:nvSpPr>
        <p:spPr>
          <a:xfrm>
            <a:off x="7863840" y="4983480"/>
            <a:ext cx="1192378" cy="402336"/>
          </a:xfrm>
          <a:prstGeom prst="roundRect">
            <a:avLst>
              <a:gd name="adj" fmla="val 50000"/>
            </a:avLst>
          </a:prstGeom>
          <a:solidFill>
            <a:srgbClr val="1B2C45"/>
          </a:solidFill>
          <a:ln w="12700">
            <a:solidFill>
              <a:srgbClr val="2E4664"/>
            </a:solidFill>
            <a:prstDash val="solid"/>
          </a:ln>
        </p:spPr>
      </p:sp>
      <p:sp>
        <p:nvSpPr>
          <p:cNvPr id="15" name="Text 13"/>
          <p:cNvSpPr/>
          <p:nvPr/>
        </p:nvSpPr>
        <p:spPr>
          <a:xfrm>
            <a:off x="7863840" y="4983480"/>
            <a:ext cx="1192378" cy="402336"/>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2 phases</a:t>
            </a:r>
            <a:endParaRPr lang="en-US" sz="1200" dirty="0"/>
          </a:p>
        </p:txBody>
      </p:sp>
      <p:sp>
        <p:nvSpPr>
          <p:cNvPr id="16" name="Text 14"/>
          <p:cNvSpPr/>
          <p:nvPr/>
        </p:nvSpPr>
        <p:spPr>
          <a:xfrm>
            <a:off x="566928" y="5943600"/>
            <a:ext cx="8229600" cy="274320"/>
          </a:xfrm>
          <a:prstGeom prst="rect">
            <a:avLst/>
          </a:prstGeom>
          <a:noFill/>
          <a:ln/>
        </p:spPr>
        <p:txBody>
          <a:bodyPr wrap="square" lIns="0" tIns="0" rIns="0" bIns="0" rtlCol="0" anchor="ctr"/>
          <a:lstStyle/>
          <a:p>
            <a:pPr indent="0" marL="0">
              <a:buNone/>
            </a:pPr>
            <a:r>
              <a:rPr lang="en-US" sz="1150" dirty="0">
                <a:solidFill>
                  <a:srgbClr val="6B8199"/>
                </a:solidFill>
                <a:latin typeface="Calibri" pitchFamily="34" charset="0"/>
                <a:ea typeface="Calibri" pitchFamily="34" charset="-122"/>
                <a:cs typeface="Calibri" pitchFamily="34" charset="-120"/>
              </a:rPr>
              <a:t>Engineering design review  ·  Phase 1 pending implementation</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HOW IT RUNS</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One decision cycle, once a day</a:t>
            </a:r>
            <a:endParaRPr lang="en-US" sz="3600" dirty="0"/>
          </a:p>
        </p:txBody>
      </p:sp>
      <p:sp>
        <p:nvSpPr>
          <p:cNvPr id="4" name="Shape 2"/>
          <p:cNvSpPr/>
          <p:nvPr/>
        </p:nvSpPr>
        <p:spPr>
          <a:xfrm>
            <a:off x="566928" y="1783080"/>
            <a:ext cx="2084832" cy="1691640"/>
          </a:xfrm>
          <a:prstGeom prst="roundRect">
            <a:avLst>
              <a:gd name="adj" fmla="val 3243"/>
            </a:avLst>
          </a:prstGeom>
          <a:solidFill>
            <a:srgbClr val="EEF4F7"/>
          </a:solidFill>
          <a:ln w="6350">
            <a:solidFill>
              <a:srgbClr val="EEF4F7"/>
            </a:solidFill>
            <a:prstDash val="solid"/>
          </a:ln>
        </p:spPr>
      </p:sp>
      <p:sp>
        <p:nvSpPr>
          <p:cNvPr id="5" name="Shape 3"/>
          <p:cNvSpPr/>
          <p:nvPr/>
        </p:nvSpPr>
        <p:spPr>
          <a:xfrm>
            <a:off x="768096" y="1984248"/>
            <a:ext cx="365760" cy="365760"/>
          </a:xfrm>
          <a:prstGeom prst="ellipse">
            <a:avLst/>
          </a:prstGeom>
          <a:solidFill>
            <a:srgbClr val="02C39A"/>
          </a:solidFill>
          <a:ln/>
        </p:spPr>
      </p:sp>
      <p:sp>
        <p:nvSpPr>
          <p:cNvPr id="6" name="Text 4"/>
          <p:cNvSpPr/>
          <p:nvPr/>
        </p:nvSpPr>
        <p:spPr>
          <a:xfrm>
            <a:off x="768096" y="1984248"/>
            <a:ext cx="365760" cy="365760"/>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768096" y="2441448"/>
            <a:ext cx="1682496"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Scheduler</a:t>
            </a:r>
            <a:endParaRPr lang="en-US" sz="1500" dirty="0"/>
          </a:p>
        </p:txBody>
      </p:sp>
      <p:sp>
        <p:nvSpPr>
          <p:cNvPr id="8" name="Text 6"/>
          <p:cNvSpPr/>
          <p:nvPr/>
        </p:nvSpPr>
        <p:spPr>
          <a:xfrm>
            <a:off x="768096" y="2752344"/>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croner @ 16:30 ET</a:t>
            </a:r>
            <a:endParaRPr lang="en-US" sz="1150" dirty="0"/>
          </a:p>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weekdays, holiday-aware</a:t>
            </a:r>
            <a:endParaRPr lang="en-US" sz="1150" dirty="0"/>
          </a:p>
        </p:txBody>
      </p:sp>
      <p:sp>
        <p:nvSpPr>
          <p:cNvPr id="9" name="Text 7"/>
          <p:cNvSpPr/>
          <p:nvPr/>
        </p:nvSpPr>
        <p:spPr>
          <a:xfrm>
            <a:off x="2651760" y="2286000"/>
            <a:ext cx="256032" cy="45720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2907792" y="1783080"/>
            <a:ext cx="2084832" cy="1691640"/>
          </a:xfrm>
          <a:prstGeom prst="roundRect">
            <a:avLst>
              <a:gd name="adj" fmla="val 3243"/>
            </a:avLst>
          </a:prstGeom>
          <a:solidFill>
            <a:srgbClr val="EEF4F7"/>
          </a:solidFill>
          <a:ln w="6350">
            <a:solidFill>
              <a:srgbClr val="EEF4F7"/>
            </a:solidFill>
            <a:prstDash val="solid"/>
          </a:ln>
        </p:spPr>
      </p:sp>
      <p:sp>
        <p:nvSpPr>
          <p:cNvPr id="11" name="Shape 9"/>
          <p:cNvSpPr/>
          <p:nvPr/>
        </p:nvSpPr>
        <p:spPr>
          <a:xfrm>
            <a:off x="3108960" y="1984248"/>
            <a:ext cx="365760" cy="365760"/>
          </a:xfrm>
          <a:prstGeom prst="ellipse">
            <a:avLst/>
          </a:prstGeom>
          <a:solidFill>
            <a:srgbClr val="02C39A"/>
          </a:solidFill>
          <a:ln/>
        </p:spPr>
      </p:sp>
      <p:sp>
        <p:nvSpPr>
          <p:cNvPr id="12" name="Text 10"/>
          <p:cNvSpPr/>
          <p:nvPr/>
        </p:nvSpPr>
        <p:spPr>
          <a:xfrm>
            <a:off x="3108960" y="1984248"/>
            <a:ext cx="365760" cy="365760"/>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3108960" y="2441448"/>
            <a:ext cx="1682496"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Analyst agent</a:t>
            </a:r>
            <a:endParaRPr lang="en-US" sz="1500" dirty="0"/>
          </a:p>
        </p:txBody>
      </p:sp>
      <p:sp>
        <p:nvSpPr>
          <p:cNvPr id="14" name="Text 12"/>
          <p:cNvSpPr/>
          <p:nvPr/>
        </p:nvSpPr>
        <p:spPr>
          <a:xfrm>
            <a:off x="3108960" y="2752344"/>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per symbol, ReAct</a:t>
            </a:r>
            <a:endParaRPr lang="en-US" sz="1150" dirty="0"/>
          </a:p>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7 read-only tools</a:t>
            </a:r>
            <a:endParaRPr lang="en-US" sz="1150" dirty="0"/>
          </a:p>
        </p:txBody>
      </p:sp>
      <p:sp>
        <p:nvSpPr>
          <p:cNvPr id="15" name="Text 13"/>
          <p:cNvSpPr/>
          <p:nvPr/>
        </p:nvSpPr>
        <p:spPr>
          <a:xfrm>
            <a:off x="4992624" y="2286000"/>
            <a:ext cx="256032" cy="45720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5248656" y="1783080"/>
            <a:ext cx="2084832" cy="1691640"/>
          </a:xfrm>
          <a:prstGeom prst="roundRect">
            <a:avLst>
              <a:gd name="adj" fmla="val 3243"/>
            </a:avLst>
          </a:prstGeom>
          <a:solidFill>
            <a:srgbClr val="EEF4F7"/>
          </a:solidFill>
          <a:ln w="6350">
            <a:solidFill>
              <a:srgbClr val="EEF4F7"/>
            </a:solidFill>
            <a:prstDash val="solid"/>
          </a:ln>
        </p:spPr>
      </p:sp>
      <p:sp>
        <p:nvSpPr>
          <p:cNvPr id="17" name="Shape 15"/>
          <p:cNvSpPr/>
          <p:nvPr/>
        </p:nvSpPr>
        <p:spPr>
          <a:xfrm>
            <a:off x="5449824" y="1984248"/>
            <a:ext cx="365760" cy="365760"/>
          </a:xfrm>
          <a:prstGeom prst="ellipse">
            <a:avLst/>
          </a:prstGeom>
          <a:solidFill>
            <a:srgbClr val="02C39A"/>
          </a:solidFill>
          <a:ln/>
        </p:spPr>
      </p:sp>
      <p:sp>
        <p:nvSpPr>
          <p:cNvPr id="18" name="Text 16"/>
          <p:cNvSpPr/>
          <p:nvPr/>
        </p:nvSpPr>
        <p:spPr>
          <a:xfrm>
            <a:off x="5449824" y="1984248"/>
            <a:ext cx="365760" cy="365760"/>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5449824" y="2441448"/>
            <a:ext cx="1682496"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Portfolio Mgr</a:t>
            </a:r>
            <a:endParaRPr lang="en-US" sz="1500" dirty="0"/>
          </a:p>
        </p:txBody>
      </p:sp>
      <p:sp>
        <p:nvSpPr>
          <p:cNvPr id="20" name="Text 18"/>
          <p:cNvSpPr/>
          <p:nvPr/>
        </p:nvSpPr>
        <p:spPr>
          <a:xfrm>
            <a:off x="5449824" y="2752344"/>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one structured call</a:t>
            </a:r>
            <a:endParaRPr lang="en-US" sz="1150" dirty="0"/>
          </a:p>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target weights</a:t>
            </a:r>
            <a:endParaRPr lang="en-US" sz="1150" dirty="0"/>
          </a:p>
        </p:txBody>
      </p:sp>
      <p:sp>
        <p:nvSpPr>
          <p:cNvPr id="21" name="Text 19"/>
          <p:cNvSpPr/>
          <p:nvPr/>
        </p:nvSpPr>
        <p:spPr>
          <a:xfrm>
            <a:off x="7333488" y="2286000"/>
            <a:ext cx="256032" cy="45720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7589520" y="1783080"/>
            <a:ext cx="2084832" cy="1691640"/>
          </a:xfrm>
          <a:prstGeom prst="roundRect">
            <a:avLst>
              <a:gd name="adj" fmla="val 3243"/>
            </a:avLst>
          </a:prstGeom>
          <a:solidFill>
            <a:srgbClr val="0F1B2D"/>
          </a:solidFill>
          <a:ln w="6350">
            <a:solidFill>
              <a:srgbClr val="0F1B2D"/>
            </a:solidFill>
            <a:prstDash val="solid"/>
          </a:ln>
        </p:spPr>
      </p:sp>
      <p:sp>
        <p:nvSpPr>
          <p:cNvPr id="23" name="Shape 21"/>
          <p:cNvSpPr/>
          <p:nvPr/>
        </p:nvSpPr>
        <p:spPr>
          <a:xfrm>
            <a:off x="7790688" y="1984248"/>
            <a:ext cx="365760" cy="365760"/>
          </a:xfrm>
          <a:prstGeom prst="ellipse">
            <a:avLst/>
          </a:prstGeom>
          <a:solidFill>
            <a:srgbClr val="02C39A"/>
          </a:solidFill>
          <a:ln/>
        </p:spPr>
      </p:sp>
      <p:sp>
        <p:nvSpPr>
          <p:cNvPr id="24" name="Text 22"/>
          <p:cNvSpPr/>
          <p:nvPr/>
        </p:nvSpPr>
        <p:spPr>
          <a:xfrm>
            <a:off x="7790688" y="1984248"/>
            <a:ext cx="365760" cy="365760"/>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7790688" y="2441448"/>
            <a:ext cx="1682496"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Risk engine</a:t>
            </a:r>
            <a:endParaRPr lang="en-US" sz="1500" dirty="0"/>
          </a:p>
        </p:txBody>
      </p:sp>
      <p:sp>
        <p:nvSpPr>
          <p:cNvPr id="26" name="Text 24"/>
          <p:cNvSpPr/>
          <p:nvPr/>
        </p:nvSpPr>
        <p:spPr>
          <a:xfrm>
            <a:off x="7790688" y="2752344"/>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FB3C8"/>
                </a:solidFill>
                <a:latin typeface="Calibri" pitchFamily="34" charset="0"/>
                <a:ea typeface="Calibri" pitchFamily="34" charset="-122"/>
                <a:cs typeface="Calibri" pitchFamily="34" charset="-120"/>
              </a:rPr>
              <a:t>pure TypeScript</a:t>
            </a:r>
            <a:endParaRPr lang="en-US" sz="1150" dirty="0"/>
          </a:p>
          <a:p>
            <a:pPr indent="0" marL="0">
              <a:lnSpc>
                <a:spcPts val="1500"/>
              </a:lnSpc>
              <a:buNone/>
            </a:pPr>
            <a:r>
              <a:rPr lang="en-US" sz="1150" dirty="0">
                <a:solidFill>
                  <a:srgbClr val="9FB3C8"/>
                </a:solidFill>
                <a:latin typeface="Calibri" pitchFamily="34" charset="0"/>
                <a:ea typeface="Calibri" pitchFamily="34" charset="-122"/>
                <a:cs typeface="Calibri" pitchFamily="34" charset="-120"/>
              </a:rPr>
              <a:t>weights → orders</a:t>
            </a:r>
            <a:endParaRPr lang="en-US" sz="1150" dirty="0"/>
          </a:p>
        </p:txBody>
      </p:sp>
      <p:sp>
        <p:nvSpPr>
          <p:cNvPr id="27" name="Text 25"/>
          <p:cNvSpPr/>
          <p:nvPr/>
        </p:nvSpPr>
        <p:spPr>
          <a:xfrm>
            <a:off x="9674352" y="2286000"/>
            <a:ext cx="256032" cy="45720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28" name="Shape 26"/>
          <p:cNvSpPr/>
          <p:nvPr/>
        </p:nvSpPr>
        <p:spPr>
          <a:xfrm>
            <a:off x="9930384" y="1783080"/>
            <a:ext cx="2084832" cy="1691640"/>
          </a:xfrm>
          <a:prstGeom prst="roundRect">
            <a:avLst>
              <a:gd name="adj" fmla="val 3243"/>
            </a:avLst>
          </a:prstGeom>
          <a:solidFill>
            <a:srgbClr val="0F1B2D"/>
          </a:solidFill>
          <a:ln w="6350">
            <a:solidFill>
              <a:srgbClr val="0F1B2D"/>
            </a:solidFill>
            <a:prstDash val="solid"/>
          </a:ln>
        </p:spPr>
      </p:sp>
      <p:sp>
        <p:nvSpPr>
          <p:cNvPr id="29" name="Shape 27"/>
          <p:cNvSpPr/>
          <p:nvPr/>
        </p:nvSpPr>
        <p:spPr>
          <a:xfrm>
            <a:off x="10131552" y="1984248"/>
            <a:ext cx="365760" cy="365760"/>
          </a:xfrm>
          <a:prstGeom prst="ellipse">
            <a:avLst/>
          </a:prstGeom>
          <a:solidFill>
            <a:srgbClr val="02C39A"/>
          </a:solidFill>
          <a:ln/>
        </p:spPr>
      </p:sp>
      <p:sp>
        <p:nvSpPr>
          <p:cNvPr id="30" name="Text 28"/>
          <p:cNvSpPr/>
          <p:nvPr/>
        </p:nvSpPr>
        <p:spPr>
          <a:xfrm>
            <a:off x="10131552" y="1984248"/>
            <a:ext cx="365760" cy="365760"/>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10131552" y="2441448"/>
            <a:ext cx="1682496" cy="2743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PaperBroker</a:t>
            </a:r>
            <a:endParaRPr lang="en-US" sz="1500" dirty="0"/>
          </a:p>
        </p:txBody>
      </p:sp>
      <p:sp>
        <p:nvSpPr>
          <p:cNvPr id="32" name="Text 30"/>
          <p:cNvSpPr/>
          <p:nvPr/>
        </p:nvSpPr>
        <p:spPr>
          <a:xfrm>
            <a:off x="10131552" y="2752344"/>
            <a:ext cx="1682496" cy="566928"/>
          </a:xfrm>
          <a:prstGeom prst="rect">
            <a:avLst/>
          </a:prstGeom>
          <a:noFill/>
          <a:ln/>
        </p:spPr>
        <p:txBody>
          <a:bodyPr wrap="square" lIns="0" tIns="0" rIns="0" bIns="0" rtlCol="0" anchor="ctr"/>
          <a:lstStyle/>
          <a:p>
            <a:pPr indent="0" marL="0">
              <a:lnSpc>
                <a:spcPts val="1500"/>
              </a:lnSpc>
              <a:buNone/>
            </a:pPr>
            <a:r>
              <a:rPr lang="en-US" sz="1150" dirty="0">
                <a:solidFill>
                  <a:srgbClr val="9FB3C8"/>
                </a:solidFill>
                <a:latin typeface="Calibri" pitchFamily="34" charset="0"/>
                <a:ea typeface="Calibri" pitchFamily="34" charset="-122"/>
                <a:cs typeface="Calibri" pitchFamily="34" charset="-120"/>
              </a:rPr>
              <a:t>simulated fills</a:t>
            </a:r>
            <a:endParaRPr lang="en-US" sz="1150" dirty="0"/>
          </a:p>
          <a:p>
            <a:pPr indent="0" marL="0">
              <a:lnSpc>
                <a:spcPts val="1500"/>
              </a:lnSpc>
              <a:buNone/>
            </a:pPr>
            <a:r>
              <a:rPr lang="en-US" sz="1150" dirty="0">
                <a:solidFill>
                  <a:srgbClr val="9FB3C8"/>
                </a:solidFill>
                <a:latin typeface="Calibri" pitchFamily="34" charset="0"/>
                <a:ea typeface="Calibri" pitchFamily="34" charset="-122"/>
                <a:cs typeface="Calibri" pitchFamily="34" charset="-120"/>
              </a:rPr>
              <a:t>against daily bars</a:t>
            </a:r>
            <a:endParaRPr lang="en-US" sz="1150" dirty="0"/>
          </a:p>
        </p:txBody>
      </p:sp>
      <p:sp>
        <p:nvSpPr>
          <p:cNvPr id="33" name="Text 31"/>
          <p:cNvSpPr/>
          <p:nvPr/>
        </p:nvSpPr>
        <p:spPr>
          <a:xfrm>
            <a:off x="566928" y="3703320"/>
            <a:ext cx="11055096" cy="310896"/>
          </a:xfrm>
          <a:prstGeom prst="rect">
            <a:avLst/>
          </a:prstGeom>
          <a:noFill/>
          <a:ln/>
        </p:spPr>
        <p:txBody>
          <a:bodyPr wrap="square" lIns="0" tIns="0" rIns="0" bIns="0" rtlCol="0" anchor="ctr"/>
          <a:lstStyle/>
          <a:p>
            <a:pPr indent="0" marL="0">
              <a:buNone/>
            </a:pPr>
            <a:r>
              <a:rPr lang="en-US" sz="1450" b="1" dirty="0">
                <a:solidFill>
                  <a:srgbClr val="16222F"/>
                </a:solidFill>
                <a:latin typeface="Calibri" pitchFamily="34" charset="0"/>
                <a:ea typeface="Calibri" pitchFamily="34" charset="-122"/>
                <a:cs typeface="Calibri" pitchFamily="34" charset="-120"/>
              </a:rPr>
              <a:t>LLM proposes, code disposes.</a:t>
            </a:r>
            <a:pPr indent="0" marL="0">
              <a:buNone/>
            </a:pPr>
            <a:r>
              <a:rPr lang="en-US" sz="1450" dirty="0">
                <a:solidFill>
                  <a:srgbClr val="5E6E7E"/>
                </a:solidFill>
                <a:latin typeface="Calibri" pitchFamily="34" charset="0"/>
                <a:ea typeface="Calibri" pitchFamily="34" charset="-122"/>
                <a:cs typeface="Calibri" pitchFamily="34" charset="-120"/>
              </a:rPr>
              <a:t>  Steps 1–3 are the model's; steps 4–5 are deterministic and the model cannot reach them.</a:t>
            </a:r>
            <a:endParaRPr lang="en-US" sz="1450" dirty="0"/>
          </a:p>
        </p:txBody>
      </p:sp>
      <p:sp>
        <p:nvSpPr>
          <p:cNvPr id="34" name="Shape 32"/>
          <p:cNvSpPr/>
          <p:nvPr/>
        </p:nvSpPr>
        <p:spPr>
          <a:xfrm>
            <a:off x="566928" y="4224528"/>
            <a:ext cx="3502152" cy="1572768"/>
          </a:xfrm>
          <a:prstGeom prst="roundRect">
            <a:avLst>
              <a:gd name="adj" fmla="val 3488"/>
            </a:avLst>
          </a:prstGeom>
          <a:solidFill>
            <a:srgbClr val="E3F2EE"/>
          </a:solidFill>
          <a:ln w="6350">
            <a:solidFill>
              <a:srgbClr val="E3F2EE"/>
            </a:solidFill>
            <a:prstDash val="solid"/>
          </a:ln>
        </p:spPr>
      </p:sp>
      <p:sp>
        <p:nvSpPr>
          <p:cNvPr id="35" name="Text 33"/>
          <p:cNvSpPr/>
          <p:nvPr/>
        </p:nvSpPr>
        <p:spPr>
          <a:xfrm>
            <a:off x="786384" y="4407408"/>
            <a:ext cx="306324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Why after the close</a:t>
            </a:r>
            <a:endParaRPr lang="en-US" sz="1350" dirty="0"/>
          </a:p>
        </p:txBody>
      </p:sp>
      <p:sp>
        <p:nvSpPr>
          <p:cNvPr id="36" name="Text 34"/>
          <p:cNvSpPr/>
          <p:nvPr/>
        </p:nvSpPr>
        <p:spPr>
          <a:xfrm>
            <a:off x="786384" y="4681728"/>
            <a:ext cx="3063240" cy="914400"/>
          </a:xfrm>
          <a:prstGeom prst="rect">
            <a:avLst/>
          </a:prstGeom>
          <a:noFill/>
          <a:ln/>
        </p:spPr>
        <p:txBody>
          <a:bodyPr wrap="square" lIns="0" tIns="0" rIns="0" bIns="0" rtlCol="0" anchor="t"/>
          <a:lstStyle/>
          <a:p>
            <a:pPr indent="0" marL="0">
              <a:lnSpc>
                <a:spcPts val="1600"/>
              </a:lnSpc>
              <a:buNone/>
            </a:pPr>
            <a:r>
              <a:rPr lang="en-US" sz="1200" dirty="0">
                <a:solidFill>
                  <a:srgbClr val="16222F"/>
                </a:solidFill>
                <a:latin typeface="Calibri" pitchFamily="34" charset="0"/>
                <a:ea typeface="Calibri" pitchFamily="34" charset="-122"/>
                <a:cs typeface="Calibri" pitchFamily="34" charset="-120"/>
              </a:rPr>
              <a:t>16:30 ET means the cycle reasons over settled daily bars, never a moving intraday tape.</a:t>
            </a:r>
            <a:endParaRPr lang="en-US" sz="1200" dirty="0"/>
          </a:p>
        </p:txBody>
      </p:sp>
      <p:sp>
        <p:nvSpPr>
          <p:cNvPr id="37" name="Shape 35"/>
          <p:cNvSpPr/>
          <p:nvPr/>
        </p:nvSpPr>
        <p:spPr>
          <a:xfrm>
            <a:off x="4343400" y="4224528"/>
            <a:ext cx="3502152" cy="1572768"/>
          </a:xfrm>
          <a:prstGeom prst="roundRect">
            <a:avLst>
              <a:gd name="adj" fmla="val 3488"/>
            </a:avLst>
          </a:prstGeom>
          <a:solidFill>
            <a:srgbClr val="E3F2EE"/>
          </a:solidFill>
          <a:ln w="6350">
            <a:solidFill>
              <a:srgbClr val="E3F2EE"/>
            </a:solidFill>
            <a:prstDash val="solid"/>
          </a:ln>
        </p:spPr>
      </p:sp>
      <p:sp>
        <p:nvSpPr>
          <p:cNvPr id="38" name="Text 36"/>
          <p:cNvSpPr/>
          <p:nvPr/>
        </p:nvSpPr>
        <p:spPr>
          <a:xfrm>
            <a:off x="4562856" y="4407408"/>
            <a:ext cx="306324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Why a separate job</a:t>
            </a:r>
            <a:endParaRPr lang="en-US" sz="1350" dirty="0"/>
          </a:p>
        </p:txBody>
      </p:sp>
      <p:sp>
        <p:nvSpPr>
          <p:cNvPr id="39" name="Text 37"/>
          <p:cNvSpPr/>
          <p:nvPr/>
        </p:nvSpPr>
        <p:spPr>
          <a:xfrm>
            <a:off x="4562856" y="4681728"/>
            <a:ext cx="3063240" cy="914400"/>
          </a:xfrm>
          <a:prstGeom prst="rect">
            <a:avLst/>
          </a:prstGeom>
          <a:noFill/>
          <a:ln/>
        </p:spPr>
        <p:txBody>
          <a:bodyPr wrap="square" lIns="0" tIns="0" rIns="0" bIns="0" rtlCol="0" anchor="t"/>
          <a:lstStyle/>
          <a:p>
            <a:pPr indent="0" marL="0">
              <a:lnSpc>
                <a:spcPts val="1600"/>
              </a:lnSpc>
              <a:buNone/>
            </a:pPr>
            <a:r>
              <a:rPr lang="en-US" sz="1200" dirty="0">
                <a:solidFill>
                  <a:srgbClr val="16222F"/>
                </a:solidFill>
                <a:latin typeface="Calibri" pitchFamily="34" charset="0"/>
                <a:ea typeface="Calibri" pitchFamily="34" charset="-122"/>
                <a:cs typeface="Calibri" pitchFamily="34" charset="-120"/>
              </a:rPr>
              <a:t>A second job at 16:45 ET writes NAV + SPY snapshots whether or not the agent ran, keeping the benchmark series continuous.</a:t>
            </a:r>
            <a:endParaRPr lang="en-US" sz="1200" dirty="0"/>
          </a:p>
        </p:txBody>
      </p:sp>
      <p:sp>
        <p:nvSpPr>
          <p:cNvPr id="40" name="Shape 38"/>
          <p:cNvSpPr/>
          <p:nvPr/>
        </p:nvSpPr>
        <p:spPr>
          <a:xfrm>
            <a:off x="8119872" y="4224528"/>
            <a:ext cx="3502152" cy="1572768"/>
          </a:xfrm>
          <a:prstGeom prst="roundRect">
            <a:avLst>
              <a:gd name="adj" fmla="val 3488"/>
            </a:avLst>
          </a:prstGeom>
          <a:solidFill>
            <a:srgbClr val="E3F2EE"/>
          </a:solidFill>
          <a:ln w="6350">
            <a:solidFill>
              <a:srgbClr val="E3F2EE"/>
            </a:solidFill>
            <a:prstDash val="solid"/>
          </a:ln>
        </p:spPr>
      </p:sp>
      <p:sp>
        <p:nvSpPr>
          <p:cNvPr id="41" name="Text 39"/>
          <p:cNvSpPr/>
          <p:nvPr/>
        </p:nvSpPr>
        <p:spPr>
          <a:xfrm>
            <a:off x="8339328" y="4407408"/>
            <a:ext cx="3063240" cy="274320"/>
          </a:xfrm>
          <a:prstGeom prst="rect">
            <a:avLst/>
          </a:prstGeom>
          <a:noFill/>
          <a:ln/>
        </p:spPr>
        <p:txBody>
          <a:bodyPr wrap="square" lIns="0" tIns="0" rIns="0" bIns="0"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Why it can't run away</a:t>
            </a:r>
            <a:endParaRPr lang="en-US" sz="1350" dirty="0"/>
          </a:p>
        </p:txBody>
      </p:sp>
      <p:sp>
        <p:nvSpPr>
          <p:cNvPr id="42" name="Text 40"/>
          <p:cNvSpPr/>
          <p:nvPr/>
        </p:nvSpPr>
        <p:spPr>
          <a:xfrm>
            <a:off x="8339328" y="4681728"/>
            <a:ext cx="3063240" cy="914400"/>
          </a:xfrm>
          <a:prstGeom prst="rect">
            <a:avLst/>
          </a:prstGeom>
          <a:noFill/>
          <a:ln/>
        </p:spPr>
        <p:txBody>
          <a:bodyPr wrap="square" lIns="0" tIns="0" rIns="0" bIns="0" rtlCol="0" anchor="t"/>
          <a:lstStyle/>
          <a:p>
            <a:pPr indent="0" marL="0">
              <a:lnSpc>
                <a:spcPts val="1600"/>
              </a:lnSpc>
              <a:buNone/>
            </a:pPr>
            <a:r>
              <a:rPr lang="en-US" sz="1200" dirty="0">
                <a:solidFill>
                  <a:srgbClr val="16222F"/>
                </a:solidFill>
                <a:latin typeface="Calibri" pitchFamily="34" charset="0"/>
                <a:ea typeface="Calibri" pitchFamily="34" charset="-122"/>
                <a:cs typeface="Calibri" pitchFamily="34" charset="-120"/>
              </a:rPr>
              <a:t>A DB-level single-run lock, a kill switch, and a config-enforced minimum interval between fires.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DELIVERY SHAPE</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Two phases, shipped in order</a:t>
            </a:r>
            <a:endParaRPr lang="en-US" sz="3600" dirty="0"/>
          </a:p>
        </p:txBody>
      </p:sp>
      <p:sp>
        <p:nvSpPr>
          <p:cNvPr id="4" name="Shape 2"/>
          <p:cNvSpPr/>
          <p:nvPr/>
        </p:nvSpPr>
        <p:spPr>
          <a:xfrm>
            <a:off x="566928" y="1783080"/>
            <a:ext cx="5394960" cy="3794760"/>
          </a:xfrm>
          <a:prstGeom prst="roundRect">
            <a:avLst>
              <a:gd name="adj" fmla="val 1446"/>
            </a:avLst>
          </a:prstGeom>
          <a:solidFill>
            <a:srgbClr val="E3F2EE"/>
          </a:solidFill>
          <a:ln w="6350">
            <a:solidFill>
              <a:srgbClr val="E3F2EE"/>
            </a:solidFill>
            <a:prstDash val="solid"/>
          </a:ln>
        </p:spPr>
      </p:sp>
      <p:sp>
        <p:nvSpPr>
          <p:cNvPr id="5" name="Text 3"/>
          <p:cNvSpPr/>
          <p:nvPr/>
        </p:nvSpPr>
        <p:spPr>
          <a:xfrm>
            <a:off x="859536" y="2039112"/>
            <a:ext cx="274320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PHASE 1</a:t>
            </a:r>
            <a:endParaRPr lang="en-US" sz="1150" dirty="0"/>
          </a:p>
        </p:txBody>
      </p:sp>
      <p:sp>
        <p:nvSpPr>
          <p:cNvPr id="6" name="Text 4"/>
          <p:cNvSpPr/>
          <p:nvPr/>
        </p:nvSpPr>
        <p:spPr>
          <a:xfrm>
            <a:off x="859536" y="2313432"/>
            <a:ext cx="4114800" cy="457200"/>
          </a:xfrm>
          <a:prstGeom prst="rect">
            <a:avLst/>
          </a:prstGeom>
          <a:noFill/>
          <a:ln/>
        </p:spPr>
        <p:txBody>
          <a:bodyPr wrap="square" lIns="0" tIns="0" rIns="0" bIns="0" rtlCol="0" anchor="ctr"/>
          <a:lstStyle/>
          <a:p>
            <a:pPr indent="0" marL="0">
              <a:buNone/>
            </a:pPr>
            <a:r>
              <a:rPr lang="en-US" sz="2700" b="1" dirty="0">
                <a:solidFill>
                  <a:srgbClr val="16222F"/>
                </a:solidFill>
                <a:latin typeface="Cambria" pitchFamily="34" charset="0"/>
                <a:ea typeface="Cambria" pitchFamily="34" charset="-122"/>
                <a:cs typeface="Cambria" pitchFamily="34" charset="-120"/>
              </a:rPr>
              <a:t>Configure</a:t>
            </a:r>
            <a:endParaRPr lang="en-US" sz="2700" dirty="0"/>
          </a:p>
        </p:txBody>
      </p:sp>
      <p:sp>
        <p:nvSpPr>
          <p:cNvPr id="7" name="Text 5"/>
          <p:cNvSpPr/>
          <p:nvPr/>
        </p:nvSpPr>
        <p:spPr>
          <a:xfrm>
            <a:off x="859536" y="2880360"/>
            <a:ext cx="4809744" cy="17373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50" dirty="0">
                <a:solidFill>
                  <a:srgbClr val="16222F"/>
                </a:solidFill>
                <a:latin typeface="Calibri" pitchFamily="34" charset="0"/>
                <a:ea typeface="Calibri" pitchFamily="34" charset="-122"/>
                <a:cs typeface="Calibri" pitchFamily="34" charset="-120"/>
              </a:rPr>
              <a:t>Workspace skeleton — npm workspaces: shared / server / web</a:t>
            </a:r>
            <a:endParaRPr lang="en-US" sz="1350" dirty="0"/>
          </a:p>
          <a:p>
            <a:pPr marL="342900" indent="-342900">
              <a:lnSpc>
                <a:spcPts val="1800"/>
              </a:lnSpc>
              <a:spcAft>
                <a:spcPts val="700"/>
              </a:spcAft>
              <a:buSzPct val="100000"/>
              <a:buChar char="•"/>
            </a:pPr>
            <a:r>
              <a:rPr lang="en-US" sz="1350" dirty="0">
                <a:solidFill>
                  <a:srgbClr val="16222F"/>
                </a:solidFill>
                <a:latin typeface="Calibri" pitchFamily="34" charset="0"/>
                <a:ea typeface="Calibri" pitchFamily="34" charset="-122"/>
                <a:cs typeface="Calibri" pitchFamily="34" charset="-120"/>
              </a:rPr>
              <a:t>SQLite persistence with numbered migrations</a:t>
            </a:r>
            <a:endParaRPr lang="en-US" sz="1350" dirty="0"/>
          </a:p>
          <a:p>
            <a:pPr marL="342900" indent="-342900">
              <a:lnSpc>
                <a:spcPts val="1800"/>
              </a:lnSpc>
              <a:spcAft>
                <a:spcPts val="700"/>
              </a:spcAft>
              <a:buSzPct val="100000"/>
              <a:buChar char="•"/>
            </a:pPr>
            <a:r>
              <a:rPr lang="en-US" sz="1350" dirty="0">
                <a:solidFill>
                  <a:srgbClr val="16222F"/>
                </a:solidFill>
                <a:latin typeface="Calibri" pitchFamily="34" charset="0"/>
                <a:ea typeface="Calibri" pitchFamily="34" charset="-122"/>
                <a:cs typeface="Calibri" pitchFamily="34" charset="-120"/>
              </a:rPr>
              <a:t>Settings service + AES-256-GCM secret storage</a:t>
            </a:r>
            <a:endParaRPr lang="en-US" sz="1350" dirty="0"/>
          </a:p>
          <a:p>
            <a:pPr marL="342900" indent="-342900">
              <a:lnSpc>
                <a:spcPts val="1800"/>
              </a:lnSpc>
              <a:spcAft>
                <a:spcPts val="700"/>
              </a:spcAft>
              <a:buSzPct val="100000"/>
              <a:buChar char="•"/>
            </a:pPr>
            <a:r>
              <a:rPr lang="en-US" sz="1350" dirty="0">
                <a:solidFill>
                  <a:srgbClr val="16222F"/>
                </a:solidFill>
                <a:latin typeface="Calibri" pitchFamily="34" charset="0"/>
                <a:ea typeface="Calibri" pitchFamily="34" charset="-122"/>
                <a:cs typeface="Calibri" pitchFamily="34" charset="-120"/>
              </a:rPr>
              <a:t>Complete configuration UI, round-tripping through the API</a:t>
            </a:r>
            <a:endParaRPr lang="en-US" sz="1350" dirty="0"/>
          </a:p>
          <a:p>
            <a:pPr marL="342900" indent="-342900">
              <a:lnSpc>
                <a:spcPts val="1800"/>
              </a:lnSpc>
              <a:spcAft>
                <a:spcPts val="700"/>
              </a:spcAft>
              <a:buSzPct val="100000"/>
              <a:buChar char="•"/>
            </a:pPr>
            <a:r>
              <a:rPr lang="en-US" sz="1350" dirty="0">
                <a:solidFill>
                  <a:srgbClr val="16222F"/>
                </a:solidFill>
                <a:latin typeface="Calibri" pitchFamily="34" charset="0"/>
                <a:ea typeface="Calibri" pitchFamily="34" charset="-122"/>
                <a:cs typeface="Calibri" pitchFamily="34" charset="-120"/>
              </a:rPr>
              <a:t>Live "Test connection" against the LLM provider and all four sources</a:t>
            </a:r>
            <a:endParaRPr lang="en-US" sz="1350" dirty="0"/>
          </a:p>
        </p:txBody>
      </p:sp>
      <p:sp>
        <p:nvSpPr>
          <p:cNvPr id="8" name="Shape 6"/>
          <p:cNvSpPr/>
          <p:nvPr/>
        </p:nvSpPr>
        <p:spPr>
          <a:xfrm>
            <a:off x="859536" y="4663440"/>
            <a:ext cx="4809744" cy="658368"/>
          </a:xfrm>
          <a:prstGeom prst="roundRect">
            <a:avLst>
              <a:gd name="adj" fmla="val 8333"/>
            </a:avLst>
          </a:prstGeom>
          <a:solidFill>
            <a:srgbClr val="02C39A"/>
          </a:solidFill>
          <a:ln/>
        </p:spPr>
      </p:sp>
      <p:sp>
        <p:nvSpPr>
          <p:cNvPr id="9" name="Text 7"/>
          <p:cNvSpPr/>
          <p:nvPr/>
        </p:nvSpPr>
        <p:spPr>
          <a:xfrm>
            <a:off x="1024128" y="4663440"/>
            <a:ext cx="4480560" cy="658368"/>
          </a:xfrm>
          <a:prstGeom prst="rect">
            <a:avLst/>
          </a:prstGeom>
          <a:noFill/>
          <a:ln/>
        </p:spPr>
        <p:txBody>
          <a:bodyPr wrap="square" lIns="0" tIns="0" rIns="0" bIns="0" rtlCol="0" anchor="ctr"/>
          <a:lstStyle/>
          <a:p>
            <a:pPr indent="0" marL="0">
              <a:lnSpc>
                <a:spcPts val="1600"/>
              </a:lnSpc>
              <a:buNone/>
            </a:pPr>
            <a:r>
              <a:rPr lang="en-US" sz="1250" b="1" dirty="0">
                <a:solidFill>
                  <a:srgbClr val="0F1B2D"/>
                </a:solidFill>
                <a:latin typeface="Calibri" pitchFamily="34" charset="0"/>
                <a:ea typeface="Calibri" pitchFamily="34" charset="-122"/>
                <a:cs typeface="Calibri" pitchFamily="34" charset="-120"/>
              </a:rPr>
              <a:t>No trading logic ships in Phase 1 — and Phase 1 is validated before Phase 2 starts.</a:t>
            </a:r>
            <a:endParaRPr lang="en-US" sz="1250" dirty="0"/>
          </a:p>
        </p:txBody>
      </p:sp>
      <p:sp>
        <p:nvSpPr>
          <p:cNvPr id="10" name="Shape 8"/>
          <p:cNvSpPr/>
          <p:nvPr/>
        </p:nvSpPr>
        <p:spPr>
          <a:xfrm>
            <a:off x="6227064" y="1783080"/>
            <a:ext cx="5394960" cy="3794760"/>
          </a:xfrm>
          <a:prstGeom prst="roundRect">
            <a:avLst>
              <a:gd name="adj" fmla="val 1446"/>
            </a:avLst>
          </a:prstGeom>
          <a:solidFill>
            <a:srgbClr val="0F1B2D"/>
          </a:solidFill>
          <a:ln w="6350">
            <a:solidFill>
              <a:srgbClr val="0F1B2D"/>
            </a:solidFill>
            <a:prstDash val="solid"/>
          </a:ln>
        </p:spPr>
      </p:sp>
      <p:sp>
        <p:nvSpPr>
          <p:cNvPr id="11" name="Text 9"/>
          <p:cNvSpPr/>
          <p:nvPr/>
        </p:nvSpPr>
        <p:spPr>
          <a:xfrm>
            <a:off x="6519672" y="2039112"/>
            <a:ext cx="2743200" cy="256032"/>
          </a:xfrm>
          <a:prstGeom prst="rect">
            <a:avLst/>
          </a:prstGeom>
          <a:noFill/>
          <a:ln/>
        </p:spPr>
        <p:txBody>
          <a:bodyPr wrap="square" lIns="0" tIns="0" rIns="0" bIns="0"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PHASE 2</a:t>
            </a:r>
            <a:endParaRPr lang="en-US" sz="1150" dirty="0"/>
          </a:p>
        </p:txBody>
      </p:sp>
      <p:sp>
        <p:nvSpPr>
          <p:cNvPr id="12" name="Text 10"/>
          <p:cNvSpPr/>
          <p:nvPr/>
        </p:nvSpPr>
        <p:spPr>
          <a:xfrm>
            <a:off x="6519672" y="2313432"/>
            <a:ext cx="4754880" cy="45720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Trade autonomously</a:t>
            </a:r>
            <a:endParaRPr lang="en-US" sz="2700" dirty="0"/>
          </a:p>
        </p:txBody>
      </p:sp>
      <p:sp>
        <p:nvSpPr>
          <p:cNvPr id="13" name="Text 11"/>
          <p:cNvSpPr/>
          <p:nvPr/>
        </p:nvSpPr>
        <p:spPr>
          <a:xfrm>
            <a:off x="6519672" y="2880360"/>
            <a:ext cx="4809744" cy="1737360"/>
          </a:xfrm>
          <a:prstGeom prst="rect">
            <a:avLst/>
          </a:prstGeom>
          <a:noFill/>
          <a:ln/>
        </p:spPr>
        <p:txBody>
          <a:bodyPr wrap="square" lIns="0" tIns="0" rIns="0" bIns="0" rtlCol="0" anchor="t"/>
          <a:lstStyle/>
          <a:p>
            <a:pPr marL="342900" indent="-342900">
              <a:lnSpc>
                <a:spcPts val="1800"/>
              </a:lnSpc>
              <a:spcAft>
                <a:spcPts val="700"/>
              </a:spcAft>
              <a:buSzPct val="100000"/>
              <a:buChar char="•"/>
            </a:pPr>
            <a:r>
              <a:rPr lang="en-US" sz="1350" dirty="0">
                <a:solidFill>
                  <a:srgbClr val="CADCFC"/>
                </a:solidFill>
                <a:latin typeface="Calibri" pitchFamily="34" charset="0"/>
                <a:ea typeface="Calibri" pitchFamily="34" charset="-122"/>
                <a:cs typeface="Calibri" pitchFamily="34" charset="-120"/>
              </a:rPr>
              <a:t>Trading schema (migration 002) and its repositories</a:t>
            </a:r>
            <a:endParaRPr lang="en-US" sz="1350" dirty="0"/>
          </a:p>
          <a:p>
            <a:pPr marL="342900" indent="-342900">
              <a:lnSpc>
                <a:spcPts val="1800"/>
              </a:lnSpc>
              <a:spcAft>
                <a:spcPts val="700"/>
              </a:spcAft>
              <a:buSzPct val="100000"/>
              <a:buChar char="•"/>
            </a:pPr>
            <a:r>
              <a:rPr lang="en-US" sz="1350" dirty="0">
                <a:solidFill>
                  <a:srgbClr val="CADCFC"/>
                </a:solidFill>
                <a:latin typeface="Calibri" pitchFamily="34" charset="0"/>
                <a:ea typeface="Calibri" pitchFamily="34" charset="-122"/>
                <a:cs typeface="Calibri" pitchFamily="34" charset="-120"/>
              </a:rPr>
              <a:t>Price service, PaperBroker, portfolio and snapshot services</a:t>
            </a:r>
            <a:endParaRPr lang="en-US" sz="1350" dirty="0"/>
          </a:p>
          <a:p>
            <a:pPr marL="342900" indent="-342900">
              <a:lnSpc>
                <a:spcPts val="1800"/>
              </a:lnSpc>
              <a:spcAft>
                <a:spcPts val="700"/>
              </a:spcAft>
              <a:buSzPct val="100000"/>
              <a:buChar char="•"/>
            </a:pPr>
            <a:r>
              <a:rPr lang="en-US" sz="1350" dirty="0">
                <a:solidFill>
                  <a:srgbClr val="CADCFC"/>
                </a:solidFill>
                <a:latin typeface="Calibri" pitchFamily="34" charset="0"/>
                <a:ea typeface="Calibri" pitchFamily="34" charset="-122"/>
                <a:cs typeface="Calibri" pitchFamily="34" charset="-120"/>
              </a:rPr>
              <a:t>Analyst agent, portfolio manager, deterministic risk engine</a:t>
            </a:r>
            <a:endParaRPr lang="en-US" sz="1350" dirty="0"/>
          </a:p>
          <a:p>
            <a:pPr marL="342900" indent="-342900">
              <a:lnSpc>
                <a:spcPts val="1800"/>
              </a:lnSpc>
              <a:spcAft>
                <a:spcPts val="700"/>
              </a:spcAft>
              <a:buSzPct val="100000"/>
              <a:buChar char="•"/>
            </a:pPr>
            <a:r>
              <a:rPr lang="en-US" sz="1350" dirty="0">
                <a:solidFill>
                  <a:srgbClr val="CADCFC"/>
                </a:solidFill>
                <a:latin typeface="Calibri" pitchFamily="34" charset="0"/>
                <a:ea typeface="Calibri" pitchFamily="34" charset="-122"/>
                <a:cs typeface="Calibri" pitchFamily="34" charset="-120"/>
              </a:rPr>
              <a:t>Trading-cycle orchestrator + scheduled job</a:t>
            </a:r>
            <a:endParaRPr lang="en-US" sz="1350" dirty="0"/>
          </a:p>
          <a:p>
            <a:pPr marL="342900" indent="-342900">
              <a:lnSpc>
                <a:spcPts val="1800"/>
              </a:lnSpc>
              <a:spcAft>
                <a:spcPts val="700"/>
              </a:spcAft>
              <a:buSzPct val="100000"/>
              <a:buChar char="•"/>
            </a:pPr>
            <a:r>
              <a:rPr lang="en-US" sz="1350" dirty="0">
                <a:solidFill>
                  <a:srgbClr val="CADCFC"/>
                </a:solidFill>
                <a:latin typeface="Calibri" pitchFamily="34" charset="0"/>
                <a:ea typeface="Calibri" pitchFamily="34" charset="-122"/>
                <a:cs typeface="Calibri" pitchFamily="34" charset="-120"/>
              </a:rPr>
              <a:t>Runs, Run detail, Portfolio and Trades pages</a:t>
            </a:r>
            <a:endParaRPr lang="en-US" sz="1350" dirty="0"/>
          </a:p>
        </p:txBody>
      </p:sp>
      <p:sp>
        <p:nvSpPr>
          <p:cNvPr id="14" name="Shape 12"/>
          <p:cNvSpPr/>
          <p:nvPr/>
        </p:nvSpPr>
        <p:spPr>
          <a:xfrm>
            <a:off x="6519672" y="4663440"/>
            <a:ext cx="4809744" cy="658368"/>
          </a:xfrm>
          <a:prstGeom prst="roundRect">
            <a:avLst>
              <a:gd name="adj" fmla="val 8333"/>
            </a:avLst>
          </a:prstGeom>
          <a:solidFill>
            <a:srgbClr val="1B2C45"/>
          </a:solidFill>
          <a:ln/>
        </p:spPr>
      </p:sp>
      <p:sp>
        <p:nvSpPr>
          <p:cNvPr id="15" name="Text 13"/>
          <p:cNvSpPr/>
          <p:nvPr/>
        </p:nvSpPr>
        <p:spPr>
          <a:xfrm>
            <a:off x="6684264" y="4663440"/>
            <a:ext cx="4480560" cy="658368"/>
          </a:xfrm>
          <a:prstGeom prst="rect">
            <a:avLst/>
          </a:prstGeom>
          <a:noFill/>
          <a:ln/>
        </p:spPr>
        <p:txBody>
          <a:bodyPr wrap="square" lIns="0" tIns="0" rIns="0" bIns="0" rtlCol="0" anchor="ctr"/>
          <a:lstStyle/>
          <a:p>
            <a:pPr indent="0" marL="0">
              <a:lnSpc>
                <a:spcPts val="1600"/>
              </a:lnSpc>
              <a:buNone/>
            </a:pPr>
            <a:r>
              <a:rPr lang="en-US" sz="1250" dirty="0">
                <a:solidFill>
                  <a:srgbClr val="CADCFC"/>
                </a:solidFill>
                <a:latin typeface="Calibri" pitchFamily="34" charset="0"/>
                <a:ea typeface="Calibri" pitchFamily="34" charset="-122"/>
                <a:cs typeface="Calibri" pitchFamily="34" charset="-120"/>
              </a:rPr>
              <a:t>Stretch: performance vs SPY buy-and-hold, and the next_open fill model.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FOUNDATIONS</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Stack decisions and their reasons</a:t>
            </a:r>
            <a:endParaRPr lang="en-US" sz="3600" dirty="0"/>
          </a:p>
        </p:txBody>
      </p:sp>
      <p:sp>
        <p:nvSpPr>
          <p:cNvPr id="4" name="Shape 2"/>
          <p:cNvSpPr/>
          <p:nvPr/>
        </p:nvSpPr>
        <p:spPr>
          <a:xfrm>
            <a:off x="566928" y="1783080"/>
            <a:ext cx="2585466" cy="1298448"/>
          </a:xfrm>
          <a:prstGeom prst="roundRect">
            <a:avLst>
              <a:gd name="adj" fmla="val 4225"/>
            </a:avLst>
          </a:prstGeom>
          <a:solidFill>
            <a:srgbClr val="EEF4F7"/>
          </a:solidFill>
          <a:ln w="6350">
            <a:solidFill>
              <a:srgbClr val="EEF4F7"/>
            </a:solidFill>
            <a:prstDash val="solid"/>
          </a:ln>
        </p:spPr>
      </p:sp>
      <p:sp>
        <p:nvSpPr>
          <p:cNvPr id="5" name="Text 3"/>
          <p:cNvSpPr/>
          <p:nvPr/>
        </p:nvSpPr>
        <p:spPr>
          <a:xfrm>
            <a:off x="768096" y="196596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Node 22 + TypeScript, ESM</a:t>
            </a:r>
            <a:endParaRPr lang="en-US" sz="1350" dirty="0"/>
          </a:p>
        </p:txBody>
      </p:sp>
      <p:sp>
        <p:nvSpPr>
          <p:cNvPr id="6" name="Text 4"/>
          <p:cNvSpPr/>
          <p:nvPr/>
        </p:nvSpPr>
        <p:spPr>
          <a:xfrm>
            <a:off x="768096" y="245973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One language across server, web and the shared types</a:t>
            </a:r>
            <a:endParaRPr lang="en-US" sz="1150" dirty="0"/>
          </a:p>
        </p:txBody>
      </p:sp>
      <p:sp>
        <p:nvSpPr>
          <p:cNvPr id="7" name="Shape 5"/>
          <p:cNvSpPr/>
          <p:nvPr/>
        </p:nvSpPr>
        <p:spPr>
          <a:xfrm>
            <a:off x="3390138" y="1783080"/>
            <a:ext cx="2585466" cy="1298448"/>
          </a:xfrm>
          <a:prstGeom prst="roundRect">
            <a:avLst>
              <a:gd name="adj" fmla="val 4225"/>
            </a:avLst>
          </a:prstGeom>
          <a:solidFill>
            <a:srgbClr val="EEF4F7"/>
          </a:solidFill>
          <a:ln w="6350">
            <a:solidFill>
              <a:srgbClr val="EEF4F7"/>
            </a:solidFill>
            <a:prstDash val="solid"/>
          </a:ln>
        </p:spPr>
      </p:sp>
      <p:sp>
        <p:nvSpPr>
          <p:cNvPr id="8" name="Text 6"/>
          <p:cNvSpPr/>
          <p:nvPr/>
        </p:nvSpPr>
        <p:spPr>
          <a:xfrm>
            <a:off x="3591306" y="196596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Express 4</a:t>
            </a:r>
            <a:endParaRPr lang="en-US" sz="1350" dirty="0"/>
          </a:p>
        </p:txBody>
      </p:sp>
      <p:sp>
        <p:nvSpPr>
          <p:cNvPr id="9" name="Text 7"/>
          <p:cNvSpPr/>
          <p:nvPr/>
        </p:nvSpPr>
        <p:spPr>
          <a:xfrm>
            <a:off x="3591306" y="245973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One process serves the API and the static web build</a:t>
            </a:r>
            <a:endParaRPr lang="en-US" sz="1150" dirty="0"/>
          </a:p>
        </p:txBody>
      </p:sp>
      <p:sp>
        <p:nvSpPr>
          <p:cNvPr id="10" name="Shape 8"/>
          <p:cNvSpPr/>
          <p:nvPr/>
        </p:nvSpPr>
        <p:spPr>
          <a:xfrm>
            <a:off x="6213348" y="1783080"/>
            <a:ext cx="2585466" cy="1298448"/>
          </a:xfrm>
          <a:prstGeom prst="roundRect">
            <a:avLst>
              <a:gd name="adj" fmla="val 4225"/>
            </a:avLst>
          </a:prstGeom>
          <a:solidFill>
            <a:srgbClr val="EEF4F7"/>
          </a:solidFill>
          <a:ln w="6350">
            <a:solidFill>
              <a:srgbClr val="EEF4F7"/>
            </a:solidFill>
            <a:prstDash val="solid"/>
          </a:ln>
        </p:spPr>
      </p:sp>
      <p:sp>
        <p:nvSpPr>
          <p:cNvPr id="11" name="Text 9"/>
          <p:cNvSpPr/>
          <p:nvPr/>
        </p:nvSpPr>
        <p:spPr>
          <a:xfrm>
            <a:off x="6414516" y="196596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better-sqlite3, WAL</a:t>
            </a:r>
            <a:endParaRPr lang="en-US" sz="1350" dirty="0"/>
          </a:p>
        </p:txBody>
      </p:sp>
      <p:sp>
        <p:nvSpPr>
          <p:cNvPr id="12" name="Text 10"/>
          <p:cNvSpPr/>
          <p:nvPr/>
        </p:nvSpPr>
        <p:spPr>
          <a:xfrm>
            <a:off x="6414516" y="245973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Synchronous API keeps the repositories trivial</a:t>
            </a:r>
            <a:endParaRPr lang="en-US" sz="1150" dirty="0"/>
          </a:p>
        </p:txBody>
      </p:sp>
      <p:sp>
        <p:nvSpPr>
          <p:cNvPr id="13" name="Shape 11"/>
          <p:cNvSpPr/>
          <p:nvPr/>
        </p:nvSpPr>
        <p:spPr>
          <a:xfrm>
            <a:off x="9036558" y="1783080"/>
            <a:ext cx="2585466" cy="1298448"/>
          </a:xfrm>
          <a:prstGeom prst="roundRect">
            <a:avLst>
              <a:gd name="adj" fmla="val 4225"/>
            </a:avLst>
          </a:prstGeom>
          <a:solidFill>
            <a:srgbClr val="EEF4F7"/>
          </a:solidFill>
          <a:ln w="6350">
            <a:solidFill>
              <a:srgbClr val="EEF4F7"/>
            </a:solidFill>
            <a:prstDash val="solid"/>
          </a:ln>
        </p:spPr>
      </p:sp>
      <p:sp>
        <p:nvSpPr>
          <p:cNvPr id="14" name="Text 12"/>
          <p:cNvSpPr/>
          <p:nvPr/>
        </p:nvSpPr>
        <p:spPr>
          <a:xfrm>
            <a:off x="9237726" y="196596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Vite + React 18 + TS</a:t>
            </a:r>
            <a:endParaRPr lang="en-US" sz="1350" dirty="0"/>
          </a:p>
        </p:txBody>
      </p:sp>
      <p:sp>
        <p:nvSpPr>
          <p:cNvPr id="15" name="Text 13"/>
          <p:cNvSpPr/>
          <p:nvPr/>
        </p:nvSpPr>
        <p:spPr>
          <a:xfrm>
            <a:off x="9237726" y="245973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Served by the same Express process</a:t>
            </a:r>
            <a:endParaRPr lang="en-US" sz="1150" dirty="0"/>
          </a:p>
        </p:txBody>
      </p:sp>
      <p:sp>
        <p:nvSpPr>
          <p:cNvPr id="16" name="Shape 14"/>
          <p:cNvSpPr/>
          <p:nvPr/>
        </p:nvSpPr>
        <p:spPr>
          <a:xfrm>
            <a:off x="566928" y="3337560"/>
            <a:ext cx="2585466" cy="1298448"/>
          </a:xfrm>
          <a:prstGeom prst="roundRect">
            <a:avLst>
              <a:gd name="adj" fmla="val 4225"/>
            </a:avLst>
          </a:prstGeom>
          <a:solidFill>
            <a:srgbClr val="E3F2EE"/>
          </a:solidFill>
          <a:ln w="6350">
            <a:solidFill>
              <a:srgbClr val="E3F2EE"/>
            </a:solidFill>
            <a:prstDash val="solid"/>
          </a:ln>
        </p:spPr>
      </p:sp>
      <p:sp>
        <p:nvSpPr>
          <p:cNvPr id="17" name="Text 15"/>
          <p:cNvSpPr/>
          <p:nvPr/>
        </p:nvSpPr>
        <p:spPr>
          <a:xfrm>
            <a:off x="768096" y="352044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LangChain / LangGraph</a:t>
            </a:r>
            <a:endParaRPr lang="en-US" sz="1350" dirty="0"/>
          </a:p>
        </p:txBody>
      </p:sp>
      <p:sp>
        <p:nvSpPr>
          <p:cNvPr id="18" name="Text 16"/>
          <p:cNvSpPr/>
          <p:nvPr/>
        </p:nvSpPr>
        <p:spPr>
          <a:xfrm>
            <a:off x="768096" y="401421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Provider-agnostic — the model is a config value, not a dependency</a:t>
            </a:r>
            <a:endParaRPr lang="en-US" sz="1150" dirty="0"/>
          </a:p>
        </p:txBody>
      </p:sp>
      <p:sp>
        <p:nvSpPr>
          <p:cNvPr id="19" name="Shape 17"/>
          <p:cNvSpPr/>
          <p:nvPr/>
        </p:nvSpPr>
        <p:spPr>
          <a:xfrm>
            <a:off x="3390138" y="3337560"/>
            <a:ext cx="2585466" cy="1298448"/>
          </a:xfrm>
          <a:prstGeom prst="roundRect">
            <a:avLst>
              <a:gd name="adj" fmla="val 4225"/>
            </a:avLst>
          </a:prstGeom>
          <a:solidFill>
            <a:srgbClr val="E3F2EE"/>
          </a:solidFill>
          <a:ln w="6350">
            <a:solidFill>
              <a:srgbClr val="E3F2EE"/>
            </a:solidFill>
            <a:prstDash val="solid"/>
          </a:ln>
        </p:spPr>
      </p:sp>
      <p:sp>
        <p:nvSpPr>
          <p:cNvPr id="20" name="Text 18"/>
          <p:cNvSpPr/>
          <p:nvPr/>
        </p:nvSpPr>
        <p:spPr>
          <a:xfrm>
            <a:off x="3591306" y="352044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zod, shared server + web</a:t>
            </a:r>
            <a:endParaRPr lang="en-US" sz="1350" dirty="0"/>
          </a:p>
        </p:txBody>
      </p:sp>
      <p:sp>
        <p:nvSpPr>
          <p:cNvPr id="21" name="Text 19"/>
          <p:cNvSpPr/>
          <p:nvPr/>
        </p:nvSpPr>
        <p:spPr>
          <a:xfrm>
            <a:off x="3591306" y="401421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One settings schema, two consumers</a:t>
            </a:r>
            <a:endParaRPr lang="en-US" sz="1150" dirty="0"/>
          </a:p>
        </p:txBody>
      </p:sp>
      <p:sp>
        <p:nvSpPr>
          <p:cNvPr id="22" name="Shape 20"/>
          <p:cNvSpPr/>
          <p:nvPr/>
        </p:nvSpPr>
        <p:spPr>
          <a:xfrm>
            <a:off x="6213348" y="3337560"/>
            <a:ext cx="2585466" cy="1298448"/>
          </a:xfrm>
          <a:prstGeom prst="roundRect">
            <a:avLst>
              <a:gd name="adj" fmla="val 4225"/>
            </a:avLst>
          </a:prstGeom>
          <a:solidFill>
            <a:srgbClr val="E3F2EE"/>
          </a:solidFill>
          <a:ln w="6350">
            <a:solidFill>
              <a:srgbClr val="E3F2EE"/>
            </a:solidFill>
            <a:prstDash val="solid"/>
          </a:ln>
        </p:spPr>
      </p:sp>
      <p:sp>
        <p:nvSpPr>
          <p:cNvPr id="23" name="Text 21"/>
          <p:cNvSpPr/>
          <p:nvPr/>
        </p:nvSpPr>
        <p:spPr>
          <a:xfrm>
            <a:off x="6414516" y="352044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croner</a:t>
            </a:r>
            <a:endParaRPr lang="en-US" sz="1350" dirty="0"/>
          </a:p>
        </p:txBody>
      </p:sp>
      <p:sp>
        <p:nvSpPr>
          <p:cNvPr id="24" name="Text 22"/>
          <p:cNvSpPr/>
          <p:nvPr/>
        </p:nvSpPr>
        <p:spPr>
          <a:xfrm>
            <a:off x="6414516" y="401421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IANA timezones, DST-correct, and nextRuns(n) for the UI</a:t>
            </a:r>
            <a:endParaRPr lang="en-US" sz="1150" dirty="0"/>
          </a:p>
        </p:txBody>
      </p:sp>
      <p:sp>
        <p:nvSpPr>
          <p:cNvPr id="25" name="Shape 23"/>
          <p:cNvSpPr/>
          <p:nvPr/>
        </p:nvSpPr>
        <p:spPr>
          <a:xfrm>
            <a:off x="9036558" y="3337560"/>
            <a:ext cx="2585466" cy="1298448"/>
          </a:xfrm>
          <a:prstGeom prst="roundRect">
            <a:avLst>
              <a:gd name="adj" fmla="val 4225"/>
            </a:avLst>
          </a:prstGeom>
          <a:solidFill>
            <a:srgbClr val="E3F2EE"/>
          </a:solidFill>
          <a:ln w="6350">
            <a:solidFill>
              <a:srgbClr val="E3F2EE"/>
            </a:solidFill>
            <a:prstDash val="solid"/>
          </a:ln>
        </p:spPr>
      </p:sp>
      <p:sp>
        <p:nvSpPr>
          <p:cNvPr id="26" name="Text 24"/>
          <p:cNvSpPr/>
          <p:nvPr/>
        </p:nvSpPr>
        <p:spPr>
          <a:xfrm>
            <a:off x="9237726" y="3520440"/>
            <a:ext cx="2183130" cy="475488"/>
          </a:xfrm>
          <a:prstGeom prst="rect">
            <a:avLst/>
          </a:prstGeom>
          <a:noFill/>
          <a:ln/>
        </p:spPr>
        <p:txBody>
          <a:bodyPr wrap="square" lIns="0" tIns="0" rIns="0" bIns="0" rtlCol="0" anchor="ctr"/>
          <a:lstStyle/>
          <a:p>
            <a:pPr indent="0" marL="0">
              <a:lnSpc>
                <a:spcPts val="1700"/>
              </a:lnSpc>
              <a:buNone/>
            </a:pPr>
            <a:r>
              <a:rPr lang="en-US" sz="1350" b="1" dirty="0">
                <a:solidFill>
                  <a:srgbClr val="16222F"/>
                </a:solidFill>
                <a:latin typeface="Calibri" pitchFamily="34" charset="0"/>
                <a:ea typeface="Calibri" pitchFamily="34" charset="-122"/>
                <a:cs typeface="Calibri" pitchFamily="34" charset="-120"/>
              </a:rPr>
              <a:t>Integer cents for money</a:t>
            </a:r>
            <a:endParaRPr lang="en-US" sz="1350" dirty="0"/>
          </a:p>
        </p:txBody>
      </p:sp>
      <p:sp>
        <p:nvSpPr>
          <p:cNvPr id="27" name="Text 25"/>
          <p:cNvSpPr/>
          <p:nvPr/>
        </p:nvSpPr>
        <p:spPr>
          <a:xfrm>
            <a:off x="9237726" y="4014216"/>
            <a:ext cx="2183130" cy="502920"/>
          </a:xfrm>
          <a:prstGeom prst="rect">
            <a:avLst/>
          </a:prstGeom>
          <a:noFill/>
          <a:ln/>
        </p:spPr>
        <p:txBody>
          <a:bodyPr wrap="square" lIns="0" tIns="0" rIns="0" bIns="0" rtlCol="0" anchor="t"/>
          <a:lstStyle/>
          <a:p>
            <a:pPr indent="0" marL="0">
              <a:lnSpc>
                <a:spcPts val="1500"/>
              </a:lnSpc>
              <a:buNone/>
            </a:pPr>
            <a:r>
              <a:rPr lang="en-US" sz="1150" dirty="0">
                <a:solidFill>
                  <a:srgbClr val="5E6E7E"/>
                </a:solidFill>
                <a:latin typeface="Calibri" pitchFamily="34" charset="0"/>
                <a:ea typeface="Calibri" pitchFamily="34" charset="-122"/>
                <a:cs typeface="Calibri" pitchFamily="34" charset="-120"/>
              </a:rPr>
              <a:t>No float drift in cash or P&amp;L; tini as PID 1</a:t>
            </a:r>
            <a:endParaRPr lang="en-US" sz="1150" dirty="0"/>
          </a:p>
        </p:txBody>
      </p:sp>
      <p:sp>
        <p:nvSpPr>
          <p:cNvPr id="28" name="Shape 26"/>
          <p:cNvSpPr/>
          <p:nvPr/>
        </p:nvSpPr>
        <p:spPr>
          <a:xfrm>
            <a:off x="566928" y="4864608"/>
            <a:ext cx="11055096" cy="1188720"/>
          </a:xfrm>
          <a:prstGeom prst="roundRect">
            <a:avLst>
              <a:gd name="adj" fmla="val 4615"/>
            </a:avLst>
          </a:prstGeom>
          <a:solidFill>
            <a:srgbClr val="0F1B2D"/>
          </a:solidFill>
          <a:ln w="6350">
            <a:solidFill>
              <a:srgbClr val="0F1B2D"/>
            </a:solidFill>
            <a:prstDash val="solid"/>
          </a:ln>
        </p:spPr>
      </p:sp>
      <p:sp>
        <p:nvSpPr>
          <p:cNvPr id="29" name="Text 27"/>
          <p:cNvSpPr/>
          <p:nvPr/>
        </p:nvSpPr>
        <p:spPr>
          <a:xfrm>
            <a:off x="859536" y="5047488"/>
            <a:ext cx="4572000" cy="274320"/>
          </a:xfrm>
          <a:prstGeom prst="rect">
            <a:avLst/>
          </a:prstGeom>
          <a:noFill/>
          <a:ln/>
        </p:spPr>
        <p:txBody>
          <a:bodyPr wrap="square" lIns="0" tIns="0" rIns="0" bIns="0" rtlCol="0" anchor="ctr"/>
          <a:lstStyle/>
          <a:p>
            <a:pPr indent="0" marL="0">
              <a:buNone/>
            </a:pPr>
            <a:r>
              <a:rPr lang="en-US" sz="1350" b="1" dirty="0">
                <a:solidFill>
                  <a:srgbClr val="02C39A"/>
                </a:solidFill>
                <a:latin typeface="Calibri" pitchFamily="34" charset="0"/>
                <a:ea typeface="Calibri" pitchFamily="34" charset="-122"/>
                <a:cs typeface="Calibri" pitchFamily="34" charset="-120"/>
              </a:rPr>
              <a:t>The LLM backend is a swappable detail</a:t>
            </a:r>
            <a:endParaRPr lang="en-US" sz="1350" dirty="0"/>
          </a:p>
        </p:txBody>
      </p:sp>
      <p:sp>
        <p:nvSpPr>
          <p:cNvPr id="30" name="Text 28"/>
          <p:cNvSpPr/>
          <p:nvPr/>
        </p:nvSpPr>
        <p:spPr>
          <a:xfrm>
            <a:off x="859536" y="5358384"/>
            <a:ext cx="10469880" cy="548640"/>
          </a:xfrm>
          <a:prstGeom prst="rect">
            <a:avLst/>
          </a:prstGeom>
          <a:noFill/>
          <a:ln/>
        </p:spPr>
        <p:txBody>
          <a:bodyPr wrap="square" lIns="0" tIns="0" rIns="0" bIns="0" rtlCol="0" anchor="ctr"/>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Credentials are UI-managed and live in the DB, not read from process.env at build time, so the chat-model factory takes an explicit config object with env as fallback. v1 targets an OpenAI-compatible endpoint — configurable baseURL, OAuth2 client_credentials with expiry skew, a custom fetch that re-sets Authorization per request and retries once on 401. Pointing it at a different gateway, or at the Gemini API on GCP through @langchain/google-genai, is a config-and-adapter change confined to llm/ — not an agent rewrite.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CODE STRUCTURE</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Module layout and the boundary rule</a:t>
            </a:r>
            <a:endParaRPr lang="en-US" sz="3600" dirty="0"/>
          </a:p>
        </p:txBody>
      </p:sp>
      <p:sp>
        <p:nvSpPr>
          <p:cNvPr id="4" name="Shape 2"/>
          <p:cNvSpPr/>
          <p:nvPr/>
        </p:nvSpPr>
        <p:spPr>
          <a:xfrm>
            <a:off x="566928" y="1783080"/>
            <a:ext cx="5989320" cy="4041648"/>
          </a:xfrm>
          <a:prstGeom prst="roundRect">
            <a:avLst>
              <a:gd name="adj" fmla="val 1357"/>
            </a:avLst>
          </a:prstGeom>
          <a:solidFill>
            <a:srgbClr val="0F1B2D"/>
          </a:solidFill>
          <a:ln w="6350">
            <a:solidFill>
              <a:srgbClr val="0F1B2D"/>
            </a:solidFill>
            <a:prstDash val="solid"/>
          </a:ln>
        </p:spPr>
      </p:sp>
      <p:sp>
        <p:nvSpPr>
          <p:cNvPr id="5" name="Text 3"/>
          <p:cNvSpPr/>
          <p:nvPr/>
        </p:nvSpPr>
        <p:spPr>
          <a:xfrm>
            <a:off x="841248" y="2011680"/>
            <a:ext cx="5486400" cy="3566160"/>
          </a:xfrm>
          <a:prstGeom prst="rect">
            <a:avLst/>
          </a:prstGeom>
          <a:noFill/>
          <a:ln/>
        </p:spPr>
        <p:txBody>
          <a:bodyPr wrap="square" lIns="0" tIns="0" rIns="0" bIns="0" rtlCol="0" anchor="ctr"/>
          <a:lstStyle/>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atn-trd/</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shared/src/      settings.ts (zod)  domain.ts  api.ts</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server/src/</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main.ts      composition root; reads ATN_ROLE</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app.ts       createApp(deps) -&gt; express.Application</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config/      env.ts  settingsService.ts</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db/          index  migrate  migrations/*.sql</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repos/       settings secrets watchlist orders …</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routes/      health settings datasources llm runs …</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services/    symbol price portfolio risk tradingCycle</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brokers/     types.ts  paperBroker.ts  index.ts</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datasources/ news fundamentals macro options prices</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llm/         authTokenProvider  chatModel  prompts</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agent/       tools analystAgent portfolioManagerAgent</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 scheduler/   index  marketCalendar  jobs/</a:t>
            </a:r>
            <a:endParaRPr lang="en-US" sz="1050" dirty="0"/>
          </a:p>
          <a:p>
            <a:pPr indent="0" marL="0">
              <a:lnSpc>
                <a:spcPts val="1450"/>
              </a:lnSpc>
              <a:buNone/>
            </a:pPr>
            <a:r>
              <a:rPr lang="en-US" sz="1050" dirty="0">
                <a:solidFill>
                  <a:srgbClr val="CADCFC"/>
                </a:solidFill>
                <a:latin typeface="Courier New" pitchFamily="34" charset="0"/>
                <a:ea typeface="Courier New" pitchFamily="34" charset="-122"/>
                <a:cs typeface="Courier New" pitchFamily="34" charset="-120"/>
              </a:rPr>
              <a:t>└─ web/src/         pages/  components/  api/client.ts</a:t>
            </a:r>
            <a:endParaRPr lang="en-US" sz="1050" dirty="0"/>
          </a:p>
        </p:txBody>
      </p:sp>
      <p:sp>
        <p:nvSpPr>
          <p:cNvPr id="6" name="Shape 4"/>
          <p:cNvSpPr/>
          <p:nvPr/>
        </p:nvSpPr>
        <p:spPr>
          <a:xfrm>
            <a:off x="6830568" y="1783080"/>
            <a:ext cx="4791456" cy="1170432"/>
          </a:xfrm>
          <a:prstGeom prst="roundRect">
            <a:avLst>
              <a:gd name="adj" fmla="val 4688"/>
            </a:avLst>
          </a:prstGeom>
          <a:solidFill>
            <a:srgbClr val="EEF4F7"/>
          </a:solidFill>
          <a:ln w="6350">
            <a:solidFill>
              <a:srgbClr val="EEF4F7"/>
            </a:solidFill>
            <a:prstDash val="solid"/>
          </a:ln>
        </p:spPr>
      </p:sp>
      <p:sp>
        <p:nvSpPr>
          <p:cNvPr id="7" name="Shape 5"/>
          <p:cNvSpPr/>
          <p:nvPr/>
        </p:nvSpPr>
        <p:spPr>
          <a:xfrm>
            <a:off x="7050024" y="2002536"/>
            <a:ext cx="347472" cy="347472"/>
          </a:xfrm>
          <a:prstGeom prst="ellipse">
            <a:avLst/>
          </a:prstGeom>
          <a:solidFill>
            <a:srgbClr val="02C39A"/>
          </a:solidFill>
          <a:ln/>
        </p:spPr>
      </p:sp>
      <p:sp>
        <p:nvSpPr>
          <p:cNvPr id="8" name="Text 6"/>
          <p:cNvSpPr/>
          <p:nvPr/>
        </p:nvSpPr>
        <p:spPr>
          <a:xfrm>
            <a:off x="7050024" y="2002536"/>
            <a:ext cx="347472" cy="347472"/>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7525512" y="2002536"/>
            <a:ext cx="3877056" cy="292608"/>
          </a:xfrm>
          <a:prstGeom prst="rect">
            <a:avLst/>
          </a:prstGeom>
          <a:noFill/>
          <a:ln/>
        </p:spPr>
        <p:txBody>
          <a:bodyPr wrap="square" lIns="0" tIns="0" rIns="0" bIns="0" rtlCol="0" anchor="ctr"/>
          <a:lstStyle/>
          <a:p>
            <a:pPr indent="0" marL="0">
              <a:buNone/>
            </a:pPr>
            <a:r>
              <a:rPr lang="en-US" sz="1400" b="1" dirty="0">
                <a:solidFill>
                  <a:srgbClr val="16222F"/>
                </a:solidFill>
                <a:latin typeface="Calibri" pitchFamily="34" charset="0"/>
                <a:ea typeface="Calibri" pitchFamily="34" charset="-122"/>
                <a:cs typeface="Calibri" pitchFamily="34" charset="-120"/>
              </a:rPr>
              <a:t>Routes never reach past services</a:t>
            </a:r>
            <a:endParaRPr lang="en-US" sz="1400" dirty="0"/>
          </a:p>
        </p:txBody>
      </p:sp>
      <p:sp>
        <p:nvSpPr>
          <p:cNvPr id="10" name="Text 8"/>
          <p:cNvSpPr/>
          <p:nvPr/>
        </p:nvSpPr>
        <p:spPr>
          <a:xfrm>
            <a:off x="7525512" y="2313432"/>
            <a:ext cx="3877056" cy="548640"/>
          </a:xfrm>
          <a:prstGeom prst="rect">
            <a:avLst/>
          </a:prstGeom>
          <a:noFill/>
          <a:ln/>
        </p:spPr>
        <p:txBody>
          <a:bodyPr wrap="square" lIns="0" tIns="0" rIns="0" bIns="0" rtlCol="0" anchor="t"/>
          <a:lstStyle/>
          <a:p>
            <a:pPr indent="0" marL="0">
              <a:lnSpc>
                <a:spcPts val="1550"/>
              </a:lnSpc>
              <a:buNone/>
            </a:pPr>
            <a:r>
              <a:rPr lang="en-US" sz="1200" dirty="0">
                <a:solidFill>
                  <a:srgbClr val="5E6E7E"/>
                </a:solidFill>
                <a:latin typeface="Calibri" pitchFamily="34" charset="0"/>
                <a:ea typeface="Calibri" pitchFamily="34" charset="-122"/>
                <a:cs typeface="Calibri" pitchFamily="34" charset="-120"/>
              </a:rPr>
              <a:t>No route touches a data source or a broker directly. Services never import Express types.</a:t>
            </a:r>
            <a:endParaRPr lang="en-US" sz="1200" dirty="0"/>
          </a:p>
        </p:txBody>
      </p:sp>
      <p:sp>
        <p:nvSpPr>
          <p:cNvPr id="11" name="Shape 9"/>
          <p:cNvSpPr/>
          <p:nvPr/>
        </p:nvSpPr>
        <p:spPr>
          <a:xfrm>
            <a:off x="6830568" y="3218688"/>
            <a:ext cx="4791456" cy="1170432"/>
          </a:xfrm>
          <a:prstGeom prst="roundRect">
            <a:avLst>
              <a:gd name="adj" fmla="val 4688"/>
            </a:avLst>
          </a:prstGeom>
          <a:solidFill>
            <a:srgbClr val="EEF4F7"/>
          </a:solidFill>
          <a:ln w="6350">
            <a:solidFill>
              <a:srgbClr val="EEF4F7"/>
            </a:solidFill>
            <a:prstDash val="solid"/>
          </a:ln>
        </p:spPr>
      </p:sp>
      <p:sp>
        <p:nvSpPr>
          <p:cNvPr id="12" name="Shape 10"/>
          <p:cNvSpPr/>
          <p:nvPr/>
        </p:nvSpPr>
        <p:spPr>
          <a:xfrm>
            <a:off x="7050024" y="3438144"/>
            <a:ext cx="347472" cy="347472"/>
          </a:xfrm>
          <a:prstGeom prst="ellipse">
            <a:avLst/>
          </a:prstGeom>
          <a:solidFill>
            <a:srgbClr val="02C39A"/>
          </a:solidFill>
          <a:ln/>
        </p:spPr>
      </p:sp>
      <p:sp>
        <p:nvSpPr>
          <p:cNvPr id="13" name="Text 11"/>
          <p:cNvSpPr/>
          <p:nvPr/>
        </p:nvSpPr>
        <p:spPr>
          <a:xfrm>
            <a:off x="7050024" y="3438144"/>
            <a:ext cx="347472" cy="347472"/>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7525512" y="3438144"/>
            <a:ext cx="3877056" cy="292608"/>
          </a:xfrm>
          <a:prstGeom prst="rect">
            <a:avLst/>
          </a:prstGeom>
          <a:noFill/>
          <a:ln/>
        </p:spPr>
        <p:txBody>
          <a:bodyPr wrap="square" lIns="0" tIns="0" rIns="0" bIns="0" rtlCol="0" anchor="ctr"/>
          <a:lstStyle/>
          <a:p>
            <a:pPr indent="0" marL="0">
              <a:buNone/>
            </a:pPr>
            <a:r>
              <a:rPr lang="en-US" sz="1400" b="1" dirty="0">
                <a:solidFill>
                  <a:srgbClr val="16222F"/>
                </a:solidFill>
                <a:latin typeface="Calibri" pitchFamily="34" charset="0"/>
                <a:ea typeface="Calibri" pitchFamily="34" charset="-122"/>
                <a:cs typeface="Calibri" pitchFamily="34" charset="-120"/>
              </a:rPr>
              <a:t>app.ts knows only Express</a:t>
            </a:r>
            <a:endParaRPr lang="en-US" sz="1400" dirty="0"/>
          </a:p>
        </p:txBody>
      </p:sp>
      <p:sp>
        <p:nvSpPr>
          <p:cNvPr id="15" name="Text 13"/>
          <p:cNvSpPr/>
          <p:nvPr/>
        </p:nvSpPr>
        <p:spPr>
          <a:xfrm>
            <a:off x="7525512" y="3749040"/>
            <a:ext cx="3877056" cy="548640"/>
          </a:xfrm>
          <a:prstGeom prst="rect">
            <a:avLst/>
          </a:prstGeom>
          <a:noFill/>
          <a:ln/>
        </p:spPr>
        <p:txBody>
          <a:bodyPr wrap="square" lIns="0" tIns="0" rIns="0" bIns="0" rtlCol="0" anchor="t"/>
          <a:lstStyle/>
          <a:p>
            <a:pPr indent="0" marL="0">
              <a:lnSpc>
                <a:spcPts val="1550"/>
              </a:lnSpc>
              <a:buNone/>
            </a:pPr>
            <a:r>
              <a:rPr lang="en-US" sz="1200" dirty="0">
                <a:solidFill>
                  <a:srgbClr val="5E6E7E"/>
                </a:solidFill>
                <a:latin typeface="Calibri" pitchFamily="34" charset="0"/>
                <a:ea typeface="Calibri" pitchFamily="34" charset="-122"/>
                <a:cs typeface="Calibri" pitchFamily="34" charset="-120"/>
              </a:rPr>
              <a:t>scheduler/index.ts knows only croner and services. main.ts is the only file that starts both.</a:t>
            </a:r>
            <a:endParaRPr lang="en-US" sz="1200" dirty="0"/>
          </a:p>
        </p:txBody>
      </p:sp>
      <p:sp>
        <p:nvSpPr>
          <p:cNvPr id="16" name="Shape 14"/>
          <p:cNvSpPr/>
          <p:nvPr/>
        </p:nvSpPr>
        <p:spPr>
          <a:xfrm>
            <a:off x="6830568" y="4654296"/>
            <a:ext cx="4791456" cy="1170432"/>
          </a:xfrm>
          <a:prstGeom prst="roundRect">
            <a:avLst>
              <a:gd name="adj" fmla="val 4688"/>
            </a:avLst>
          </a:prstGeom>
          <a:solidFill>
            <a:srgbClr val="E3F2EE"/>
          </a:solidFill>
          <a:ln w="6350">
            <a:solidFill>
              <a:srgbClr val="E3F2EE"/>
            </a:solidFill>
            <a:prstDash val="solid"/>
          </a:ln>
        </p:spPr>
      </p:sp>
      <p:sp>
        <p:nvSpPr>
          <p:cNvPr id="17" name="Shape 15"/>
          <p:cNvSpPr/>
          <p:nvPr/>
        </p:nvSpPr>
        <p:spPr>
          <a:xfrm>
            <a:off x="7050024" y="4873752"/>
            <a:ext cx="347472" cy="347472"/>
          </a:xfrm>
          <a:prstGeom prst="ellipse">
            <a:avLst/>
          </a:prstGeom>
          <a:solidFill>
            <a:srgbClr val="02C39A"/>
          </a:solidFill>
          <a:ln/>
        </p:spPr>
      </p:sp>
      <p:sp>
        <p:nvSpPr>
          <p:cNvPr id="18" name="Text 16"/>
          <p:cNvSpPr/>
          <p:nvPr/>
        </p:nvSpPr>
        <p:spPr>
          <a:xfrm>
            <a:off x="7050024" y="4873752"/>
            <a:ext cx="347472" cy="347472"/>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7525512" y="4873752"/>
            <a:ext cx="3877056" cy="292608"/>
          </a:xfrm>
          <a:prstGeom prst="rect">
            <a:avLst/>
          </a:prstGeom>
          <a:noFill/>
          <a:ln/>
        </p:spPr>
        <p:txBody>
          <a:bodyPr wrap="square" lIns="0" tIns="0" rIns="0" bIns="0" rtlCol="0" anchor="ctr"/>
          <a:lstStyle/>
          <a:p>
            <a:pPr indent="0" marL="0">
              <a:buNone/>
            </a:pPr>
            <a:r>
              <a:rPr lang="en-US" sz="1400" b="1" dirty="0">
                <a:solidFill>
                  <a:srgbClr val="16222F"/>
                </a:solidFill>
                <a:latin typeface="Calibri" pitchFamily="34" charset="0"/>
                <a:ea typeface="Calibri" pitchFamily="34" charset="-122"/>
                <a:cs typeface="Calibri" pitchFamily="34" charset="-120"/>
              </a:rPr>
              <a:t>ATN_ROLE = all | web | worker</a:t>
            </a:r>
            <a:endParaRPr lang="en-US" sz="1400" dirty="0"/>
          </a:p>
        </p:txBody>
      </p:sp>
      <p:sp>
        <p:nvSpPr>
          <p:cNvPr id="20" name="Text 18"/>
          <p:cNvSpPr/>
          <p:nvPr/>
        </p:nvSpPr>
        <p:spPr>
          <a:xfrm>
            <a:off x="7525512" y="5184648"/>
            <a:ext cx="3877056" cy="548640"/>
          </a:xfrm>
          <a:prstGeom prst="rect">
            <a:avLst/>
          </a:prstGeom>
          <a:noFill/>
          <a:ln/>
        </p:spPr>
        <p:txBody>
          <a:bodyPr wrap="square" lIns="0" tIns="0" rIns="0" bIns="0" rtlCol="0" anchor="t"/>
          <a:lstStyle/>
          <a:p>
            <a:pPr indent="0" marL="0">
              <a:lnSpc>
                <a:spcPts val="1550"/>
              </a:lnSpc>
              <a:buNone/>
            </a:pPr>
            <a:r>
              <a:rPr lang="en-US" sz="1200" dirty="0">
                <a:solidFill>
                  <a:srgbClr val="5E6E7E"/>
                </a:solidFill>
                <a:latin typeface="Calibri" pitchFamily="34" charset="0"/>
                <a:ea typeface="Calibri" pitchFamily="34" charset="-122"/>
                <a:cs typeface="Calibri" pitchFamily="34" charset="-120"/>
              </a:rPr>
              <a:t>Splitting the container later means running the same image twice with a different env var — no refactor.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DATA MODEL</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SQLite schema, numbered migrations</a:t>
            </a:r>
            <a:endParaRPr lang="en-US" sz="3600" dirty="0"/>
          </a:p>
        </p:txBody>
      </p:sp>
      <p:sp>
        <p:nvSpPr>
          <p:cNvPr id="4" name="Shape 2"/>
          <p:cNvSpPr/>
          <p:nvPr/>
        </p:nvSpPr>
        <p:spPr>
          <a:xfrm>
            <a:off x="566928" y="1783080"/>
            <a:ext cx="5394960" cy="3200400"/>
          </a:xfrm>
          <a:prstGeom prst="roundRect">
            <a:avLst>
              <a:gd name="adj" fmla="val 1714"/>
            </a:avLst>
          </a:prstGeom>
          <a:solidFill>
            <a:srgbClr val="E3F2EE"/>
          </a:solidFill>
          <a:ln w="6350">
            <a:solidFill>
              <a:srgbClr val="E3F2EE"/>
            </a:solidFill>
            <a:prstDash val="solid"/>
          </a:ln>
        </p:spPr>
      </p:sp>
      <p:sp>
        <p:nvSpPr>
          <p:cNvPr id="5" name="Text 3"/>
          <p:cNvSpPr/>
          <p:nvPr/>
        </p:nvSpPr>
        <p:spPr>
          <a:xfrm>
            <a:off x="841248" y="1993392"/>
            <a:ext cx="484632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MIGRATION 001 — PHASE 1</a:t>
            </a:r>
            <a:endParaRPr lang="en-US" sz="1150" dirty="0"/>
          </a:p>
        </p:txBody>
      </p:sp>
      <p:sp>
        <p:nvSpPr>
          <p:cNvPr id="6" name="Text 4"/>
          <p:cNvSpPr/>
          <p:nvPr/>
        </p:nvSpPr>
        <p:spPr>
          <a:xfrm>
            <a:off x="841248" y="2395728"/>
            <a:ext cx="4846320" cy="256032"/>
          </a:xfrm>
          <a:prstGeom prst="rect">
            <a:avLst/>
          </a:prstGeom>
          <a:noFill/>
          <a:ln/>
        </p:spPr>
        <p:txBody>
          <a:bodyPr wrap="square" lIns="0" tIns="0" rIns="0" bIns="0" rtlCol="0" anchor="ctr"/>
          <a:lstStyle/>
          <a:p>
            <a:pPr indent="0" marL="0">
              <a:buNone/>
            </a:pPr>
            <a:r>
              <a:rPr lang="en-US" sz="1200" b="1" dirty="0">
                <a:solidFill>
                  <a:srgbClr val="16222F"/>
                </a:solidFill>
                <a:latin typeface="Courier New" pitchFamily="34" charset="0"/>
                <a:ea typeface="Courier New" pitchFamily="34" charset="-122"/>
                <a:cs typeface="Courier New" pitchFamily="34" charset="-120"/>
              </a:rPr>
              <a:t>app_settings</a:t>
            </a:r>
            <a:endParaRPr lang="en-US" sz="1200" dirty="0"/>
          </a:p>
        </p:txBody>
      </p:sp>
      <p:sp>
        <p:nvSpPr>
          <p:cNvPr id="7" name="Text 5"/>
          <p:cNvSpPr/>
          <p:nvPr/>
        </p:nvSpPr>
        <p:spPr>
          <a:xfrm>
            <a:off x="841248" y="2651760"/>
            <a:ext cx="4846320" cy="274320"/>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single JSON doc, zod-validated on every read and write</a:t>
            </a:r>
            <a:endParaRPr lang="en-US" sz="1150" dirty="0"/>
          </a:p>
        </p:txBody>
      </p:sp>
      <p:sp>
        <p:nvSpPr>
          <p:cNvPr id="8" name="Text 6"/>
          <p:cNvSpPr/>
          <p:nvPr/>
        </p:nvSpPr>
        <p:spPr>
          <a:xfrm>
            <a:off x="841248" y="3017520"/>
            <a:ext cx="4846320" cy="256032"/>
          </a:xfrm>
          <a:prstGeom prst="rect">
            <a:avLst/>
          </a:prstGeom>
          <a:noFill/>
          <a:ln/>
        </p:spPr>
        <p:txBody>
          <a:bodyPr wrap="square" lIns="0" tIns="0" rIns="0" bIns="0" rtlCol="0" anchor="ctr"/>
          <a:lstStyle/>
          <a:p>
            <a:pPr indent="0" marL="0">
              <a:buNone/>
            </a:pPr>
            <a:r>
              <a:rPr lang="en-US" sz="1200" b="1" dirty="0">
                <a:solidFill>
                  <a:srgbClr val="16222F"/>
                </a:solidFill>
                <a:latin typeface="Courier New" pitchFamily="34" charset="0"/>
                <a:ea typeface="Courier New" pitchFamily="34" charset="-122"/>
                <a:cs typeface="Courier New" pitchFamily="34" charset="-120"/>
              </a:rPr>
              <a:t>secrets</a:t>
            </a:r>
            <a:endParaRPr lang="en-US" sz="1200" dirty="0"/>
          </a:p>
        </p:txBody>
      </p:sp>
      <p:sp>
        <p:nvSpPr>
          <p:cNvPr id="9" name="Text 7"/>
          <p:cNvSpPr/>
          <p:nvPr/>
        </p:nvSpPr>
        <p:spPr>
          <a:xfrm>
            <a:off x="841248" y="3273552"/>
            <a:ext cx="4846320" cy="274320"/>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AES-256-GCM sealed; API returns { name, isSet, updatedAt } only</a:t>
            </a:r>
            <a:endParaRPr lang="en-US" sz="1150" dirty="0"/>
          </a:p>
        </p:txBody>
      </p:sp>
      <p:sp>
        <p:nvSpPr>
          <p:cNvPr id="10" name="Text 8"/>
          <p:cNvSpPr/>
          <p:nvPr/>
        </p:nvSpPr>
        <p:spPr>
          <a:xfrm>
            <a:off x="841248" y="3639312"/>
            <a:ext cx="4846320" cy="256032"/>
          </a:xfrm>
          <a:prstGeom prst="rect">
            <a:avLst/>
          </a:prstGeom>
          <a:noFill/>
          <a:ln/>
        </p:spPr>
        <p:txBody>
          <a:bodyPr wrap="square" lIns="0" tIns="0" rIns="0" bIns="0" rtlCol="0" anchor="ctr"/>
          <a:lstStyle/>
          <a:p>
            <a:pPr indent="0" marL="0">
              <a:buNone/>
            </a:pPr>
            <a:r>
              <a:rPr lang="en-US" sz="1200" b="1" dirty="0">
                <a:solidFill>
                  <a:srgbClr val="16222F"/>
                </a:solidFill>
                <a:latin typeface="Courier New" pitchFamily="34" charset="0"/>
                <a:ea typeface="Courier New" pitchFamily="34" charset="-122"/>
                <a:cs typeface="Courier New" pitchFamily="34" charset="-120"/>
              </a:rPr>
              <a:t>watchlist</a:t>
            </a:r>
            <a:endParaRPr lang="en-US" sz="1200" dirty="0"/>
          </a:p>
        </p:txBody>
      </p:sp>
      <p:sp>
        <p:nvSpPr>
          <p:cNvPr id="11" name="Text 9"/>
          <p:cNvSpPr/>
          <p:nvPr/>
        </p:nvSpPr>
        <p:spPr>
          <a:xfrm>
            <a:off x="841248" y="3895344"/>
            <a:ext cx="4846320" cy="274320"/>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symbol, enabled, note, added_at</a:t>
            </a:r>
            <a:endParaRPr lang="en-US" sz="1150" dirty="0"/>
          </a:p>
        </p:txBody>
      </p:sp>
      <p:sp>
        <p:nvSpPr>
          <p:cNvPr id="12" name="Text 10"/>
          <p:cNvSpPr/>
          <p:nvPr/>
        </p:nvSpPr>
        <p:spPr>
          <a:xfrm>
            <a:off x="841248" y="4261104"/>
            <a:ext cx="4846320" cy="256032"/>
          </a:xfrm>
          <a:prstGeom prst="rect">
            <a:avLst/>
          </a:prstGeom>
          <a:noFill/>
          <a:ln/>
        </p:spPr>
        <p:txBody>
          <a:bodyPr wrap="square" lIns="0" tIns="0" rIns="0" bIns="0" rtlCol="0" anchor="ctr"/>
          <a:lstStyle/>
          <a:p>
            <a:pPr indent="0" marL="0">
              <a:buNone/>
            </a:pPr>
            <a:r>
              <a:rPr lang="en-US" sz="1200" b="1" dirty="0">
                <a:solidFill>
                  <a:srgbClr val="16222F"/>
                </a:solidFill>
                <a:latin typeface="Courier New" pitchFamily="34" charset="0"/>
                <a:ea typeface="Courier New" pitchFamily="34" charset="-122"/>
                <a:cs typeface="Courier New" pitchFamily="34" charset="-120"/>
              </a:rPr>
              <a:t>portfolio</a:t>
            </a:r>
            <a:endParaRPr lang="en-US" sz="1200" dirty="0"/>
          </a:p>
        </p:txBody>
      </p:sp>
      <p:sp>
        <p:nvSpPr>
          <p:cNvPr id="13" name="Text 11"/>
          <p:cNvSpPr/>
          <p:nvPr/>
        </p:nvSpPr>
        <p:spPr>
          <a:xfrm>
            <a:off x="841248" y="4517136"/>
            <a:ext cx="4846320" cy="274320"/>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cash, starting cash, started_at — anchors the benchmark series</a:t>
            </a:r>
            <a:endParaRPr lang="en-US" sz="1150" dirty="0"/>
          </a:p>
        </p:txBody>
      </p:sp>
      <p:sp>
        <p:nvSpPr>
          <p:cNvPr id="14" name="Shape 12"/>
          <p:cNvSpPr/>
          <p:nvPr/>
        </p:nvSpPr>
        <p:spPr>
          <a:xfrm>
            <a:off x="6227064" y="1783080"/>
            <a:ext cx="5394960" cy="3200400"/>
          </a:xfrm>
          <a:prstGeom prst="roundRect">
            <a:avLst>
              <a:gd name="adj" fmla="val 1714"/>
            </a:avLst>
          </a:prstGeom>
          <a:solidFill>
            <a:srgbClr val="0F1B2D"/>
          </a:solidFill>
          <a:ln w="6350">
            <a:solidFill>
              <a:srgbClr val="0F1B2D"/>
            </a:solidFill>
            <a:prstDash val="solid"/>
          </a:ln>
        </p:spPr>
      </p:sp>
      <p:sp>
        <p:nvSpPr>
          <p:cNvPr id="15" name="Text 13"/>
          <p:cNvSpPr/>
          <p:nvPr/>
        </p:nvSpPr>
        <p:spPr>
          <a:xfrm>
            <a:off x="6501384" y="1993392"/>
            <a:ext cx="4846320" cy="256032"/>
          </a:xfrm>
          <a:prstGeom prst="rect">
            <a:avLst/>
          </a:prstGeom>
          <a:noFill/>
          <a:ln/>
        </p:spPr>
        <p:txBody>
          <a:bodyPr wrap="square" lIns="0" tIns="0" rIns="0" bIns="0"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MIGRATION 002 — PHASE 2</a:t>
            </a:r>
            <a:endParaRPr lang="en-US" sz="1150" dirty="0"/>
          </a:p>
        </p:txBody>
      </p:sp>
      <p:sp>
        <p:nvSpPr>
          <p:cNvPr id="16" name="Text 14"/>
          <p:cNvSpPr/>
          <p:nvPr/>
        </p:nvSpPr>
        <p:spPr>
          <a:xfrm>
            <a:off x="6501384" y="2395728"/>
            <a:ext cx="4846320" cy="25603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agent_runs · agent_messages</a:t>
            </a:r>
            <a:endParaRPr lang="en-US" sz="1200" dirty="0"/>
          </a:p>
        </p:txBody>
      </p:sp>
      <p:sp>
        <p:nvSpPr>
          <p:cNvPr id="17" name="Text 15"/>
          <p:cNvSpPr/>
          <p:nvPr/>
        </p:nvSpPr>
        <p:spPr>
          <a:xfrm>
            <a:off x="6501384" y="2651760"/>
            <a:ext cx="4846320" cy="274320"/>
          </a:xfrm>
          <a:prstGeom prst="rect">
            <a:avLst/>
          </a:prstGeom>
          <a:noFill/>
          <a:ln/>
        </p:spPr>
        <p:txBody>
          <a:bodyPr wrap="square" lIns="0" tIns="0" rIns="0" bIns="0" rtlCol="0" anchor="ctr"/>
          <a:lstStyle/>
          <a:p>
            <a:pPr indent="0" marL="0">
              <a:buNone/>
            </a:pPr>
            <a:r>
              <a:rPr lang="en-US" sz="1150" dirty="0">
                <a:solidFill>
                  <a:srgbClr val="9FB3C8"/>
                </a:solidFill>
                <a:latin typeface="Calibri" pitchFamily="34" charset="0"/>
                <a:ea typeface="Calibri" pitchFamily="34" charset="-122"/>
                <a:cs typeface="Calibri" pitchFamily="34" charset="-120"/>
              </a:rPr>
              <a:t>trigger, status, settings snapshot, full transcript</a:t>
            </a:r>
            <a:endParaRPr lang="en-US" sz="1150" dirty="0"/>
          </a:p>
        </p:txBody>
      </p:sp>
      <p:sp>
        <p:nvSpPr>
          <p:cNvPr id="18" name="Text 16"/>
          <p:cNvSpPr/>
          <p:nvPr/>
        </p:nvSpPr>
        <p:spPr>
          <a:xfrm>
            <a:off x="6501384" y="3017520"/>
            <a:ext cx="4846320" cy="25603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research_artifacts · assessments</a:t>
            </a:r>
            <a:endParaRPr lang="en-US" sz="1200" dirty="0"/>
          </a:p>
        </p:txBody>
      </p:sp>
      <p:sp>
        <p:nvSpPr>
          <p:cNvPr id="19" name="Text 17"/>
          <p:cNvSpPr/>
          <p:nvPr/>
        </p:nvSpPr>
        <p:spPr>
          <a:xfrm>
            <a:off x="6501384" y="3273552"/>
            <a:ext cx="4846320" cy="274320"/>
          </a:xfrm>
          <a:prstGeom prst="rect">
            <a:avLst/>
          </a:prstGeom>
          <a:noFill/>
          <a:ln/>
        </p:spPr>
        <p:txBody>
          <a:bodyPr wrap="square" lIns="0" tIns="0" rIns="0" bIns="0" rtlCol="0" anchor="ctr"/>
          <a:lstStyle/>
          <a:p>
            <a:pPr indent="0" marL="0">
              <a:buNone/>
            </a:pPr>
            <a:r>
              <a:rPr lang="en-US" sz="1150" dirty="0">
                <a:solidFill>
                  <a:srgbClr val="9FB3C8"/>
                </a:solidFill>
                <a:latin typeface="Calibri" pitchFamily="34" charset="0"/>
                <a:ea typeface="Calibri" pitchFamily="34" charset="-122"/>
                <a:cs typeface="Calibri" pitchFamily="34" charset="-120"/>
              </a:rPr>
              <a:t>the evidence trail, and scored theses per symbol</a:t>
            </a:r>
            <a:endParaRPr lang="en-US" sz="1150" dirty="0"/>
          </a:p>
        </p:txBody>
      </p:sp>
      <p:sp>
        <p:nvSpPr>
          <p:cNvPr id="20" name="Text 18"/>
          <p:cNvSpPr/>
          <p:nvPr/>
        </p:nvSpPr>
        <p:spPr>
          <a:xfrm>
            <a:off x="6501384" y="3639312"/>
            <a:ext cx="4846320" cy="25603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decisions · orders · fills · positions</a:t>
            </a:r>
            <a:endParaRPr lang="en-US" sz="1200" dirty="0"/>
          </a:p>
        </p:txBody>
      </p:sp>
      <p:sp>
        <p:nvSpPr>
          <p:cNvPr id="21" name="Text 19"/>
          <p:cNvSpPr/>
          <p:nvPr/>
        </p:nvSpPr>
        <p:spPr>
          <a:xfrm>
            <a:off x="6501384" y="3895344"/>
            <a:ext cx="4846320" cy="274320"/>
          </a:xfrm>
          <a:prstGeom prst="rect">
            <a:avLst/>
          </a:prstGeom>
          <a:noFill/>
          <a:ln/>
        </p:spPr>
        <p:txBody>
          <a:bodyPr wrap="square" lIns="0" tIns="0" rIns="0" bIns="0" rtlCol="0" anchor="ctr"/>
          <a:lstStyle/>
          <a:p>
            <a:pPr indent="0" marL="0">
              <a:buNone/>
            </a:pPr>
            <a:r>
              <a:rPr lang="en-US" sz="1150" dirty="0">
                <a:solidFill>
                  <a:srgbClr val="9FB3C8"/>
                </a:solidFill>
                <a:latin typeface="Calibri" pitchFamily="34" charset="0"/>
                <a:ea typeface="Calibri" pitchFamily="34" charset="-122"/>
                <a:cs typeface="Calibri" pitchFamily="34" charset="-120"/>
              </a:rPr>
              <a:t>canonical local record for every broker</a:t>
            </a:r>
            <a:endParaRPr lang="en-US" sz="1150" dirty="0"/>
          </a:p>
        </p:txBody>
      </p:sp>
      <p:sp>
        <p:nvSpPr>
          <p:cNvPr id="22" name="Text 20"/>
          <p:cNvSpPr/>
          <p:nvPr/>
        </p:nvSpPr>
        <p:spPr>
          <a:xfrm>
            <a:off x="6501384" y="4261104"/>
            <a:ext cx="4846320" cy="256032"/>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price_bars · portfolio / benchmark_snapshots</a:t>
            </a:r>
            <a:endParaRPr lang="en-US" sz="1200" dirty="0"/>
          </a:p>
        </p:txBody>
      </p:sp>
      <p:sp>
        <p:nvSpPr>
          <p:cNvPr id="23" name="Text 21"/>
          <p:cNvSpPr/>
          <p:nvPr/>
        </p:nvSpPr>
        <p:spPr>
          <a:xfrm>
            <a:off x="6501384" y="4517136"/>
            <a:ext cx="4846320" cy="274320"/>
          </a:xfrm>
          <a:prstGeom prst="rect">
            <a:avLst/>
          </a:prstGeom>
          <a:noFill/>
          <a:ln/>
        </p:spPr>
        <p:txBody>
          <a:bodyPr wrap="square" lIns="0" tIns="0" rIns="0" bIns="0" rtlCol="0" anchor="ctr"/>
          <a:lstStyle/>
          <a:p>
            <a:pPr indent="0" marL="0">
              <a:buNone/>
            </a:pPr>
            <a:r>
              <a:rPr lang="en-US" sz="1150" dirty="0">
                <a:solidFill>
                  <a:srgbClr val="9FB3C8"/>
                </a:solidFill>
                <a:latin typeface="Calibri" pitchFamily="34" charset="0"/>
                <a:ea typeface="Calibri" pitchFamily="34" charset="-122"/>
                <a:cs typeface="Calibri" pitchFamily="34" charset="-120"/>
              </a:rPr>
              <a:t>fills, NAV, and the SPY comparison</a:t>
            </a:r>
            <a:endParaRPr lang="en-US" sz="1150" dirty="0"/>
          </a:p>
        </p:txBody>
      </p:sp>
      <p:sp>
        <p:nvSpPr>
          <p:cNvPr id="24" name="Shape 22"/>
          <p:cNvSpPr/>
          <p:nvPr/>
        </p:nvSpPr>
        <p:spPr>
          <a:xfrm>
            <a:off x="566928" y="5138928"/>
            <a:ext cx="3502152" cy="914400"/>
          </a:xfrm>
          <a:prstGeom prst="roundRect">
            <a:avLst>
              <a:gd name="adj" fmla="val 6000"/>
            </a:avLst>
          </a:prstGeom>
          <a:solidFill>
            <a:srgbClr val="EEF4F7"/>
          </a:solidFill>
          <a:ln w="6350">
            <a:solidFill>
              <a:srgbClr val="EEF4F7"/>
            </a:solidFill>
            <a:prstDash val="solid"/>
          </a:ln>
        </p:spPr>
      </p:sp>
      <p:sp>
        <p:nvSpPr>
          <p:cNvPr id="25" name="Text 23"/>
          <p:cNvSpPr/>
          <p:nvPr/>
        </p:nvSpPr>
        <p:spPr>
          <a:xfrm>
            <a:off x="786384" y="5285232"/>
            <a:ext cx="3063240" cy="256032"/>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Money is INTEGER cents</a:t>
            </a:r>
            <a:endParaRPr lang="en-US" sz="1300" dirty="0"/>
          </a:p>
        </p:txBody>
      </p:sp>
      <p:sp>
        <p:nvSpPr>
          <p:cNvPr id="26" name="Text 24"/>
          <p:cNvSpPr/>
          <p:nvPr/>
        </p:nvSpPr>
        <p:spPr>
          <a:xfrm>
            <a:off x="786384" y="5541264"/>
            <a:ext cx="3063240" cy="420624"/>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Quantities are REAL, so fractional shares still work.</a:t>
            </a:r>
            <a:endParaRPr lang="en-US" sz="1150" dirty="0"/>
          </a:p>
        </p:txBody>
      </p:sp>
      <p:sp>
        <p:nvSpPr>
          <p:cNvPr id="27" name="Shape 25"/>
          <p:cNvSpPr/>
          <p:nvPr/>
        </p:nvSpPr>
        <p:spPr>
          <a:xfrm>
            <a:off x="4343400" y="5138928"/>
            <a:ext cx="3502152" cy="914400"/>
          </a:xfrm>
          <a:prstGeom prst="roundRect">
            <a:avLst>
              <a:gd name="adj" fmla="val 6000"/>
            </a:avLst>
          </a:prstGeom>
          <a:solidFill>
            <a:srgbClr val="EEF4F7"/>
          </a:solidFill>
          <a:ln w="6350">
            <a:solidFill>
              <a:srgbClr val="EEF4F7"/>
            </a:solidFill>
            <a:prstDash val="solid"/>
          </a:ln>
        </p:spPr>
      </p:sp>
      <p:sp>
        <p:nvSpPr>
          <p:cNvPr id="28" name="Text 26"/>
          <p:cNvSpPr/>
          <p:nvPr/>
        </p:nvSpPr>
        <p:spPr>
          <a:xfrm>
            <a:off x="4562856" y="5285232"/>
            <a:ext cx="3063240" cy="256032"/>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Timestamps are epoch-ms</a:t>
            </a:r>
            <a:endParaRPr lang="en-US" sz="1300" dirty="0"/>
          </a:p>
        </p:txBody>
      </p:sp>
      <p:sp>
        <p:nvSpPr>
          <p:cNvPr id="29" name="Text 27"/>
          <p:cNvSpPr/>
          <p:nvPr/>
        </p:nvSpPr>
        <p:spPr>
          <a:xfrm>
            <a:off x="4562856" y="5541264"/>
            <a:ext cx="3063240" cy="420624"/>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Except as_of_date / bar_date — TEXT YYYY-MM-DD, ET calendar.</a:t>
            </a:r>
            <a:endParaRPr lang="en-US" sz="1150" dirty="0"/>
          </a:p>
        </p:txBody>
      </p:sp>
      <p:sp>
        <p:nvSpPr>
          <p:cNvPr id="30" name="Shape 28"/>
          <p:cNvSpPr/>
          <p:nvPr/>
        </p:nvSpPr>
        <p:spPr>
          <a:xfrm>
            <a:off x="8119872" y="5138928"/>
            <a:ext cx="3502152" cy="914400"/>
          </a:xfrm>
          <a:prstGeom prst="roundRect">
            <a:avLst>
              <a:gd name="adj" fmla="val 6000"/>
            </a:avLst>
          </a:prstGeom>
          <a:solidFill>
            <a:srgbClr val="EEF4F7"/>
          </a:solidFill>
          <a:ln w="6350">
            <a:solidFill>
              <a:srgbClr val="EEF4F7"/>
            </a:solidFill>
            <a:prstDash val="solid"/>
          </a:ln>
        </p:spPr>
      </p:sp>
      <p:sp>
        <p:nvSpPr>
          <p:cNvPr id="31" name="Text 29"/>
          <p:cNvSpPr/>
          <p:nvPr/>
        </p:nvSpPr>
        <p:spPr>
          <a:xfrm>
            <a:off x="8339328" y="5285232"/>
            <a:ext cx="3063240" cy="256032"/>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Benchmark needs no new schema</a:t>
            </a:r>
            <a:endParaRPr lang="en-US" sz="1300" dirty="0"/>
          </a:p>
        </p:txBody>
      </p:sp>
      <p:sp>
        <p:nvSpPr>
          <p:cNvPr id="32" name="Text 30"/>
          <p:cNvSpPr/>
          <p:nvPr/>
        </p:nvSpPr>
        <p:spPr>
          <a:xfrm>
            <a:off x="8339328" y="5541264"/>
            <a:ext cx="3063240" cy="420624"/>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Snapshots plus starting_cash are enough to compute strategy vs SPY later.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EXECUTION</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One Broker interface, one PaperBroker</a:t>
            </a:r>
            <a:endParaRPr lang="en-US" sz="3600" dirty="0"/>
          </a:p>
        </p:txBody>
      </p:sp>
      <p:sp>
        <p:nvSpPr>
          <p:cNvPr id="4" name="Shape 2"/>
          <p:cNvSpPr/>
          <p:nvPr/>
        </p:nvSpPr>
        <p:spPr>
          <a:xfrm>
            <a:off x="566928" y="1783080"/>
            <a:ext cx="5349240" cy="4069080"/>
          </a:xfrm>
          <a:prstGeom prst="roundRect">
            <a:avLst>
              <a:gd name="adj" fmla="val 1348"/>
            </a:avLst>
          </a:prstGeom>
          <a:solidFill>
            <a:srgbClr val="0F1B2D"/>
          </a:solidFill>
          <a:ln w="6350">
            <a:solidFill>
              <a:srgbClr val="0F1B2D"/>
            </a:solidFill>
            <a:prstDash val="solid"/>
          </a:ln>
        </p:spPr>
      </p:sp>
      <p:sp>
        <p:nvSpPr>
          <p:cNvPr id="5" name="Text 3"/>
          <p:cNvSpPr/>
          <p:nvPr/>
        </p:nvSpPr>
        <p:spPr>
          <a:xfrm>
            <a:off x="841248" y="1975104"/>
            <a:ext cx="4754880" cy="256032"/>
          </a:xfrm>
          <a:prstGeom prst="rect">
            <a:avLst/>
          </a:prstGeom>
          <a:noFill/>
          <a:ln/>
        </p:spPr>
        <p:txBody>
          <a:bodyPr wrap="square" lIns="0" tIns="0" rIns="0" bIns="0" rtlCol="0" anchor="ctr"/>
          <a:lstStyle/>
          <a:p>
            <a:pPr indent="0" marL="0">
              <a:buNone/>
            </a:pPr>
            <a:r>
              <a:rPr lang="en-US" sz="1150" b="1" dirty="0">
                <a:solidFill>
                  <a:srgbClr val="02C39A"/>
                </a:solidFill>
                <a:latin typeface="Courier New" pitchFamily="34" charset="0"/>
                <a:ea typeface="Courier New" pitchFamily="34" charset="-122"/>
                <a:cs typeface="Courier New" pitchFamily="34" charset="-120"/>
              </a:rPr>
              <a:t>server/src/brokers/types.ts</a:t>
            </a:r>
            <a:endParaRPr lang="en-US" sz="1150" dirty="0"/>
          </a:p>
        </p:txBody>
      </p:sp>
      <p:sp>
        <p:nvSpPr>
          <p:cNvPr id="6" name="Text 4"/>
          <p:cNvSpPr/>
          <p:nvPr/>
        </p:nvSpPr>
        <p:spPr>
          <a:xfrm>
            <a:off x="841248" y="2304288"/>
            <a:ext cx="4800600" cy="1965960"/>
          </a:xfrm>
          <a:prstGeom prst="rect">
            <a:avLst/>
          </a:prstGeom>
          <a:noFill/>
          <a:ln/>
        </p:spPr>
        <p:txBody>
          <a:bodyPr wrap="square" lIns="0" tIns="0" rIns="0" bIns="0" rtlCol="0" anchor="t"/>
          <a:lstStyle/>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interface Broker {</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readonly id: string;            // "paper"</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readonly supportsFractionalShares: boolean;</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getAccount()  -&gt; Account</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getPositions() -&gt; BrokerPosition[]</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submitOrder(req: OrderRequest) -&gt; OrderState</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getOrder(orderId) -&gt; OrderState | null</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listOrders({ status?, since? }) -&gt; OrderState[]</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cancelOrder(orderId) -&gt; void</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  getClock() -&gt; { isOpen, nextOpen, nextClose }</a:t>
            </a:r>
            <a:endParaRPr lang="en-US" sz="1000" dirty="0"/>
          </a:p>
          <a:p>
            <a:pPr indent="0" marL="0">
              <a:lnSpc>
                <a:spcPts val="1400"/>
              </a:lnSpc>
              <a:buNone/>
            </a:pPr>
            <a:r>
              <a:rPr lang="en-US" sz="1000" dirty="0">
                <a:solidFill>
                  <a:srgbClr val="CADCFC"/>
                </a:solidFill>
                <a:latin typeface="Courier New" pitchFamily="34" charset="0"/>
                <a:ea typeface="Courier New" pitchFamily="34" charset="-122"/>
                <a:cs typeface="Courier New" pitchFamily="34" charset="-120"/>
              </a:rPr>
              <a:t>}</a:t>
            </a:r>
            <a:endParaRPr lang="en-US" sz="1000" dirty="0"/>
          </a:p>
        </p:txBody>
      </p:sp>
      <p:sp>
        <p:nvSpPr>
          <p:cNvPr id="7" name="Text 5"/>
          <p:cNvSpPr/>
          <p:nvPr/>
        </p:nvSpPr>
        <p:spPr>
          <a:xfrm>
            <a:off x="841248" y="4407408"/>
            <a:ext cx="4754880" cy="256032"/>
          </a:xfrm>
          <a:prstGeom prst="rect">
            <a:avLst/>
          </a:prstGeom>
          <a:noFill/>
          <a:ln/>
        </p:spPr>
        <p:txBody>
          <a:bodyPr wrap="square" lIns="0" tIns="0" rIns="0" bIns="0" rtlCol="0" anchor="ctr"/>
          <a:lstStyle/>
          <a:p>
            <a:pPr indent="0" marL="0">
              <a:buNone/>
            </a:pPr>
            <a:r>
              <a:rPr lang="en-US" sz="1350" b="1" dirty="0">
                <a:solidFill>
                  <a:srgbClr val="02C39A"/>
                </a:solidFill>
                <a:latin typeface="Calibri" pitchFamily="34" charset="0"/>
                <a:ea typeface="Calibri" pitchFamily="34" charset="-122"/>
                <a:cs typeface="Calibri" pitchFamily="34" charset="-120"/>
              </a:rPr>
              <a:t>PaperBroker plan</a:t>
            </a:r>
            <a:endParaRPr lang="en-US" sz="1350" dirty="0"/>
          </a:p>
        </p:txBody>
      </p:sp>
      <p:sp>
        <p:nvSpPr>
          <p:cNvPr id="8" name="Text 6"/>
          <p:cNvSpPr/>
          <p:nvPr/>
        </p:nvSpPr>
        <p:spPr>
          <a:xfrm>
            <a:off x="841248" y="4681728"/>
            <a:ext cx="4800600" cy="1097280"/>
          </a:xfrm>
          <a:prstGeom prst="rect">
            <a:avLst/>
          </a:prstGeom>
          <a:noFill/>
          <a:ln/>
        </p:spPr>
        <p:txBody>
          <a:bodyPr wrap="square" lIns="0" tIns="0" rIns="0" bIns="0" rtlCol="0" anchor="t"/>
          <a:lstStyle/>
          <a:p>
            <a:pPr marL="342900" indent="-342900">
              <a:lnSpc>
                <a:spcPts val="1400"/>
              </a:lnSpc>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No account, no API key — needs only a price feed reading through the price_bars cache</a:t>
            </a:r>
            <a:endParaRPr lang="en-US" sz="1100" dirty="0"/>
          </a:p>
          <a:p>
            <a:pPr marL="342900" indent="-342900">
              <a:lnSpc>
                <a:spcPts val="1400"/>
              </a:lnSpc>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Fill model last_close in v1; slippage 5 bps applied adversely, commission per order</a:t>
            </a:r>
            <a:endParaRPr lang="en-US" sz="1100" dirty="0"/>
          </a:p>
          <a:p>
            <a:pPr marL="342900" indent="-342900">
              <a:lnSpc>
                <a:spcPts val="1400"/>
              </a:lnSpc>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Rejects on insufficient cash or shares, unknown symbol, no price — no shorting</a:t>
            </a:r>
            <a:endParaRPr lang="en-US" sz="1100" dirty="0"/>
          </a:p>
        </p:txBody>
      </p:sp>
      <p:sp>
        <p:nvSpPr>
          <p:cNvPr id="9" name="Text 7"/>
          <p:cNvSpPr/>
          <p:nvPr/>
        </p:nvSpPr>
        <p:spPr>
          <a:xfrm>
            <a:off x="6190488" y="1783080"/>
            <a:ext cx="5431536"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Contract rules the implementation must honor</a:t>
            </a:r>
            <a:endParaRPr lang="en-US" sz="1500" dirty="0"/>
          </a:p>
        </p:txBody>
      </p:sp>
      <p:sp>
        <p:nvSpPr>
          <p:cNvPr id="10" name="Shape 8"/>
          <p:cNvSpPr/>
          <p:nvPr/>
        </p:nvSpPr>
        <p:spPr>
          <a:xfrm>
            <a:off x="6190488" y="2194560"/>
            <a:ext cx="5431536" cy="868680"/>
          </a:xfrm>
          <a:prstGeom prst="roundRect">
            <a:avLst>
              <a:gd name="adj" fmla="val 6316"/>
            </a:avLst>
          </a:prstGeom>
          <a:solidFill>
            <a:srgbClr val="E3F2EE"/>
          </a:solidFill>
          <a:ln w="6350">
            <a:solidFill>
              <a:srgbClr val="E3F2EE"/>
            </a:solidFill>
            <a:prstDash val="solid"/>
          </a:ln>
        </p:spPr>
      </p:sp>
      <p:sp>
        <p:nvSpPr>
          <p:cNvPr id="11" name="Shape 9"/>
          <p:cNvSpPr/>
          <p:nvPr/>
        </p:nvSpPr>
        <p:spPr>
          <a:xfrm>
            <a:off x="6391656" y="2377440"/>
            <a:ext cx="310896" cy="310896"/>
          </a:xfrm>
          <a:prstGeom prst="ellipse">
            <a:avLst/>
          </a:prstGeom>
          <a:solidFill>
            <a:srgbClr val="02C39A"/>
          </a:solidFill>
          <a:ln/>
        </p:spPr>
      </p:sp>
      <p:sp>
        <p:nvSpPr>
          <p:cNvPr id="12" name="Text 10"/>
          <p:cNvSpPr/>
          <p:nvPr/>
        </p:nvSpPr>
        <p:spPr>
          <a:xfrm>
            <a:off x="6391656" y="2377440"/>
            <a:ext cx="310896" cy="310896"/>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6812280" y="2331720"/>
            <a:ext cx="4608576" cy="256032"/>
          </a:xfrm>
          <a:prstGeom prst="rect">
            <a:avLst/>
          </a:prstGeom>
          <a:noFill/>
          <a:ln/>
        </p:spPr>
        <p:txBody>
          <a:bodyPr wrap="square" lIns="0" tIns="0" rIns="0" bIns="0" rtlCol="0" anchor="ctr"/>
          <a:lstStyle/>
          <a:p>
            <a:pPr indent="0" marL="0">
              <a:buNone/>
            </a:pPr>
            <a:r>
              <a:rPr lang="en-US" sz="1300" b="1" dirty="0">
                <a:solidFill>
                  <a:srgbClr val="16222F"/>
                </a:solidFill>
                <a:latin typeface="Calibri" pitchFamily="34" charset="0"/>
                <a:ea typeface="Calibri" pitchFamily="34" charset="-122"/>
                <a:cs typeface="Calibri" pitchFamily="34" charset="-120"/>
              </a:rPr>
              <a:t>submitOrder is idempotent on clientOrderId</a:t>
            </a:r>
            <a:endParaRPr lang="en-US" sz="1300" dirty="0"/>
          </a:p>
        </p:txBody>
      </p:sp>
      <p:sp>
        <p:nvSpPr>
          <p:cNvPr id="14" name="Text 12"/>
          <p:cNvSpPr/>
          <p:nvPr/>
        </p:nvSpPr>
        <p:spPr>
          <a:xfrm>
            <a:off x="6812280" y="2587752"/>
            <a:ext cx="4608576" cy="411480"/>
          </a:xfrm>
          <a:prstGeom prst="rect">
            <a:avLst/>
          </a:prstGeom>
          <a:noFill/>
          <a:ln/>
        </p:spPr>
        <p:txBody>
          <a:bodyPr wrap="square" lIns="0" tIns="0" rIns="0" bIns="0" rtlCol="0" anchor="t"/>
          <a:lstStyle/>
          <a:p>
            <a:pPr indent="0" marL="0">
              <a:lnSpc>
                <a:spcPts val="1400"/>
              </a:lnSpc>
              <a:buNone/>
            </a:pPr>
            <a:r>
              <a:rPr lang="en-US" sz="1100" dirty="0">
                <a:solidFill>
                  <a:srgbClr val="5E6E7E"/>
                </a:solidFill>
                <a:latin typeface="Calibri" pitchFamily="34" charset="0"/>
                <a:ea typeface="Calibri" pitchFamily="34" charset="-122"/>
                <a:cs typeface="Calibri" pitchFamily="34" charset="-120"/>
              </a:rPr>
              <a:t>Re-submitting an existing id returns the existing state. This is what stops a retried run from double-buying — and every real broker supports it.</a:t>
            </a:r>
            <a:endParaRPr lang="en-US" sz="1100" dirty="0"/>
          </a:p>
        </p:txBody>
      </p:sp>
      <p:sp>
        <p:nvSpPr>
          <p:cNvPr id="15" name="Shape 13"/>
          <p:cNvSpPr/>
          <p:nvPr/>
        </p:nvSpPr>
        <p:spPr>
          <a:xfrm>
            <a:off x="6190488" y="3154680"/>
            <a:ext cx="5431536" cy="868680"/>
          </a:xfrm>
          <a:prstGeom prst="roundRect">
            <a:avLst>
              <a:gd name="adj" fmla="val 6316"/>
            </a:avLst>
          </a:prstGeom>
          <a:solidFill>
            <a:srgbClr val="EEF4F7"/>
          </a:solidFill>
          <a:ln w="6350">
            <a:solidFill>
              <a:srgbClr val="EEF4F7"/>
            </a:solidFill>
            <a:prstDash val="solid"/>
          </a:ln>
        </p:spPr>
      </p:sp>
      <p:sp>
        <p:nvSpPr>
          <p:cNvPr id="16" name="Shape 14"/>
          <p:cNvSpPr/>
          <p:nvPr/>
        </p:nvSpPr>
        <p:spPr>
          <a:xfrm>
            <a:off x="6391656" y="3337560"/>
            <a:ext cx="310896" cy="310896"/>
          </a:xfrm>
          <a:prstGeom prst="ellipse">
            <a:avLst/>
          </a:prstGeom>
          <a:solidFill>
            <a:srgbClr val="02C39A"/>
          </a:solidFill>
          <a:ln/>
        </p:spPr>
      </p:sp>
      <p:sp>
        <p:nvSpPr>
          <p:cNvPr id="17" name="Text 15"/>
          <p:cNvSpPr/>
          <p:nvPr/>
        </p:nvSpPr>
        <p:spPr>
          <a:xfrm>
            <a:off x="6391656" y="3337560"/>
            <a:ext cx="310896" cy="310896"/>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812280" y="3291840"/>
            <a:ext cx="4608576" cy="256032"/>
          </a:xfrm>
          <a:prstGeom prst="rect">
            <a:avLst/>
          </a:prstGeom>
          <a:noFill/>
          <a:ln/>
        </p:spPr>
        <p:txBody>
          <a:bodyPr wrap="square" lIns="0" tIns="0" rIns="0" bIns="0" rtlCol="0" anchor="ctr"/>
          <a:lstStyle/>
          <a:p>
            <a:pPr indent="0" marL="0">
              <a:buNone/>
            </a:pPr>
            <a:r>
              <a:rPr lang="en-US" sz="1300" b="1" dirty="0">
                <a:solidFill>
                  <a:srgbClr val="16222F"/>
                </a:solidFill>
                <a:latin typeface="Calibri" pitchFamily="34" charset="0"/>
                <a:ea typeface="Calibri" pitchFamily="34" charset="-122"/>
                <a:cs typeface="Calibri" pitchFamily="34" charset="-120"/>
              </a:rPr>
              <a:t>It returns accepted or pending, never a guaranteed fill</a:t>
            </a:r>
            <a:endParaRPr lang="en-US" sz="1300" dirty="0"/>
          </a:p>
        </p:txBody>
      </p:sp>
      <p:sp>
        <p:nvSpPr>
          <p:cNvPr id="19" name="Text 17"/>
          <p:cNvSpPr/>
          <p:nvPr/>
        </p:nvSpPr>
        <p:spPr>
          <a:xfrm>
            <a:off x="6812280" y="3547872"/>
            <a:ext cx="4608576" cy="411480"/>
          </a:xfrm>
          <a:prstGeom prst="rect">
            <a:avLst/>
          </a:prstGeom>
          <a:noFill/>
          <a:ln/>
        </p:spPr>
        <p:txBody>
          <a:bodyPr wrap="square" lIns="0" tIns="0" rIns="0" bIns="0" rtlCol="0" anchor="t"/>
          <a:lstStyle/>
          <a:p>
            <a:pPr indent="0" marL="0">
              <a:lnSpc>
                <a:spcPts val="1400"/>
              </a:lnSpc>
              <a:buNone/>
            </a:pPr>
            <a:r>
              <a:rPr lang="en-US" sz="1100" dirty="0">
                <a:solidFill>
                  <a:srgbClr val="5E6E7E"/>
                </a:solidFill>
                <a:latin typeface="Calibri" pitchFamily="34" charset="0"/>
                <a:ea typeface="Calibri" pitchFamily="34" charset="-122"/>
                <a:cs typeface="Calibri" pitchFamily="34" charset="-120"/>
              </a:rPr>
              <a:t>Callers poll getOrder. PaperBroker may fill immediately inside, but no caller may assume it.</a:t>
            </a:r>
            <a:endParaRPr lang="en-US" sz="1100" dirty="0"/>
          </a:p>
        </p:txBody>
      </p:sp>
      <p:sp>
        <p:nvSpPr>
          <p:cNvPr id="20" name="Shape 18"/>
          <p:cNvSpPr/>
          <p:nvPr/>
        </p:nvSpPr>
        <p:spPr>
          <a:xfrm>
            <a:off x="6190488" y="4114800"/>
            <a:ext cx="5431536" cy="868680"/>
          </a:xfrm>
          <a:prstGeom prst="roundRect">
            <a:avLst>
              <a:gd name="adj" fmla="val 6316"/>
            </a:avLst>
          </a:prstGeom>
          <a:solidFill>
            <a:srgbClr val="E3F2EE"/>
          </a:solidFill>
          <a:ln w="6350">
            <a:solidFill>
              <a:srgbClr val="E3F2EE"/>
            </a:solidFill>
            <a:prstDash val="solid"/>
          </a:ln>
        </p:spPr>
      </p:sp>
      <p:sp>
        <p:nvSpPr>
          <p:cNvPr id="21" name="Shape 19"/>
          <p:cNvSpPr/>
          <p:nvPr/>
        </p:nvSpPr>
        <p:spPr>
          <a:xfrm>
            <a:off x="6391656" y="4297680"/>
            <a:ext cx="310896" cy="310896"/>
          </a:xfrm>
          <a:prstGeom prst="ellipse">
            <a:avLst/>
          </a:prstGeom>
          <a:solidFill>
            <a:srgbClr val="02C39A"/>
          </a:solidFill>
          <a:ln/>
        </p:spPr>
      </p:sp>
      <p:sp>
        <p:nvSpPr>
          <p:cNvPr id="22" name="Text 20"/>
          <p:cNvSpPr/>
          <p:nvPr/>
        </p:nvSpPr>
        <p:spPr>
          <a:xfrm>
            <a:off x="6391656" y="4297680"/>
            <a:ext cx="310896" cy="310896"/>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6812280" y="4251960"/>
            <a:ext cx="4608576" cy="256032"/>
          </a:xfrm>
          <a:prstGeom prst="rect">
            <a:avLst/>
          </a:prstGeom>
          <a:noFill/>
          <a:ln/>
        </p:spPr>
        <p:txBody>
          <a:bodyPr wrap="square" lIns="0" tIns="0" rIns="0" bIns="0" rtlCol="0" anchor="ctr"/>
          <a:lstStyle/>
          <a:p>
            <a:pPr indent="0" marL="0">
              <a:buNone/>
            </a:pPr>
            <a:r>
              <a:rPr lang="en-US" sz="1300" b="1" dirty="0">
                <a:solidFill>
                  <a:srgbClr val="16222F"/>
                </a:solidFill>
                <a:latin typeface="Calibri" pitchFamily="34" charset="0"/>
                <a:ea typeface="Calibri" pitchFamily="34" charset="-122"/>
                <a:cs typeface="Calibri" pitchFamily="34" charset="-120"/>
              </a:rPr>
              <a:t>The broker never reasons about strategy</a:t>
            </a:r>
            <a:endParaRPr lang="en-US" sz="1300" dirty="0"/>
          </a:p>
        </p:txBody>
      </p:sp>
      <p:sp>
        <p:nvSpPr>
          <p:cNvPr id="24" name="Text 22"/>
          <p:cNvSpPr/>
          <p:nvPr/>
        </p:nvSpPr>
        <p:spPr>
          <a:xfrm>
            <a:off x="6812280" y="4507992"/>
            <a:ext cx="4608576" cy="411480"/>
          </a:xfrm>
          <a:prstGeom prst="rect">
            <a:avLst/>
          </a:prstGeom>
          <a:noFill/>
          <a:ln/>
        </p:spPr>
        <p:txBody>
          <a:bodyPr wrap="square" lIns="0" tIns="0" rIns="0" bIns="0" rtlCol="0" anchor="t"/>
          <a:lstStyle/>
          <a:p>
            <a:pPr indent="0" marL="0">
              <a:lnSpc>
                <a:spcPts val="1400"/>
              </a:lnSpc>
              <a:buNone/>
            </a:pPr>
            <a:r>
              <a:rPr lang="en-US" sz="1100" dirty="0">
                <a:solidFill>
                  <a:srgbClr val="5E6E7E"/>
                </a:solidFill>
                <a:latin typeface="Calibri" pitchFamily="34" charset="0"/>
                <a:ea typeface="Calibri" pitchFamily="34" charset="-122"/>
                <a:cs typeface="Calibri" pitchFamily="34" charset="-120"/>
              </a:rPr>
              <a:t>No knowledge of decisions, assessments, or the watchlist. Integer cents and string ids across the boundary.</a:t>
            </a:r>
            <a:endParaRPr lang="en-US" sz="1100" dirty="0"/>
          </a:p>
        </p:txBody>
      </p:sp>
      <p:sp>
        <p:nvSpPr>
          <p:cNvPr id="25" name="Shape 23"/>
          <p:cNvSpPr/>
          <p:nvPr/>
        </p:nvSpPr>
        <p:spPr>
          <a:xfrm>
            <a:off x="6190488" y="5074920"/>
            <a:ext cx="5431536" cy="868680"/>
          </a:xfrm>
          <a:prstGeom prst="roundRect">
            <a:avLst>
              <a:gd name="adj" fmla="val 6316"/>
            </a:avLst>
          </a:prstGeom>
          <a:solidFill>
            <a:srgbClr val="EEF4F7"/>
          </a:solidFill>
          <a:ln w="6350">
            <a:solidFill>
              <a:srgbClr val="EEF4F7"/>
            </a:solidFill>
            <a:prstDash val="solid"/>
          </a:ln>
        </p:spPr>
      </p:sp>
      <p:sp>
        <p:nvSpPr>
          <p:cNvPr id="26" name="Shape 24"/>
          <p:cNvSpPr/>
          <p:nvPr/>
        </p:nvSpPr>
        <p:spPr>
          <a:xfrm>
            <a:off x="6391656" y="5257800"/>
            <a:ext cx="310896" cy="310896"/>
          </a:xfrm>
          <a:prstGeom prst="ellipse">
            <a:avLst/>
          </a:prstGeom>
          <a:solidFill>
            <a:srgbClr val="02C39A"/>
          </a:solidFill>
          <a:ln/>
        </p:spPr>
      </p:sp>
      <p:sp>
        <p:nvSpPr>
          <p:cNvPr id="27" name="Text 25"/>
          <p:cNvSpPr/>
          <p:nvPr/>
        </p:nvSpPr>
        <p:spPr>
          <a:xfrm>
            <a:off x="6391656" y="5257800"/>
            <a:ext cx="310896" cy="310896"/>
          </a:xfrm>
          <a:prstGeom prst="rect">
            <a:avLst/>
          </a:prstGeom>
          <a:noFill/>
          <a:ln/>
        </p:spPr>
        <p:txBody>
          <a:bodyPr wrap="square" lIns="0" tIns="0" rIns="0" bIns="0" rtlCol="0" anchor="ctr"/>
          <a:lstStyle/>
          <a:p>
            <a:pPr algn="ctr" indent="0" marL="0">
              <a:buNone/>
            </a:pPr>
            <a:r>
              <a:rPr lang="en-US" sz="1200" b="1" dirty="0">
                <a:solidFill>
                  <a:srgbClr val="0F1B2D"/>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812280" y="5212080"/>
            <a:ext cx="4608576" cy="256032"/>
          </a:xfrm>
          <a:prstGeom prst="rect">
            <a:avLst/>
          </a:prstGeom>
          <a:noFill/>
          <a:ln/>
        </p:spPr>
        <p:txBody>
          <a:bodyPr wrap="square" lIns="0" tIns="0" rIns="0" bIns="0" rtlCol="0" anchor="ctr"/>
          <a:lstStyle/>
          <a:p>
            <a:pPr indent="0" marL="0">
              <a:buNone/>
            </a:pPr>
            <a:r>
              <a:rPr lang="en-US" sz="1300" b="1" dirty="0">
                <a:solidFill>
                  <a:srgbClr val="16222F"/>
                </a:solidFill>
                <a:latin typeface="Calibri" pitchFamily="34" charset="0"/>
                <a:ea typeface="Calibri" pitchFamily="34" charset="-122"/>
                <a:cs typeface="Calibri" pitchFamily="34" charset="-120"/>
              </a:rPr>
              <a:t>orders / fills / positions are canonical</a:t>
            </a:r>
            <a:endParaRPr lang="en-US" sz="1300" dirty="0"/>
          </a:p>
        </p:txBody>
      </p:sp>
      <p:sp>
        <p:nvSpPr>
          <p:cNvPr id="29" name="Text 27"/>
          <p:cNvSpPr/>
          <p:nvPr/>
        </p:nvSpPr>
        <p:spPr>
          <a:xfrm>
            <a:off x="6812280" y="5468112"/>
            <a:ext cx="4608576" cy="411480"/>
          </a:xfrm>
          <a:prstGeom prst="rect">
            <a:avLst/>
          </a:prstGeom>
          <a:noFill/>
          <a:ln/>
        </p:spPr>
        <p:txBody>
          <a:bodyPr wrap="square" lIns="0" tIns="0" rIns="0" bIns="0" rtlCol="0" anchor="t"/>
          <a:lstStyle/>
          <a:p>
            <a:pPr indent="0" marL="0">
              <a:lnSpc>
                <a:spcPts val="1400"/>
              </a:lnSpc>
              <a:buNone/>
            </a:pPr>
            <a:r>
              <a:rPr lang="en-US" sz="1100" dirty="0">
                <a:solidFill>
                  <a:srgbClr val="5E6E7E"/>
                </a:solidFill>
                <a:latin typeface="Calibri" pitchFamily="34" charset="0"/>
                <a:ea typeface="Calibri" pitchFamily="34" charset="-122"/>
                <a:cs typeface="Calibri" pitchFamily="34" charset="-120"/>
              </a:rPr>
              <a:t>Agent and reporting code read only these tables, so swapping brokers touches nothing above brokers/.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RESEARCH INPUTS</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Exactly four data sources in v1</a:t>
            </a:r>
            <a:endParaRPr lang="en-US" sz="3600" dirty="0"/>
          </a:p>
        </p:txBody>
      </p:sp>
      <p:sp>
        <p:nvSpPr>
          <p:cNvPr id="4" name="Shape 2"/>
          <p:cNvSpPr/>
          <p:nvPr/>
        </p:nvSpPr>
        <p:spPr>
          <a:xfrm>
            <a:off x="566928" y="1783080"/>
            <a:ext cx="11055096" cy="786384"/>
          </a:xfrm>
          <a:prstGeom prst="roundRect">
            <a:avLst>
              <a:gd name="adj" fmla="val 6977"/>
            </a:avLst>
          </a:prstGeom>
          <a:solidFill>
            <a:srgbClr val="E3F2EE"/>
          </a:solidFill>
          <a:ln w="6350">
            <a:solidFill>
              <a:srgbClr val="E3F2EE"/>
            </a:solidFill>
            <a:prstDash val="solid"/>
          </a:ln>
        </p:spPr>
      </p:sp>
      <p:sp>
        <p:nvSpPr>
          <p:cNvPr id="5" name="Shape 3"/>
          <p:cNvSpPr/>
          <p:nvPr/>
        </p:nvSpPr>
        <p:spPr>
          <a:xfrm>
            <a:off x="804672" y="1975104"/>
            <a:ext cx="402336" cy="402336"/>
          </a:xfrm>
          <a:prstGeom prst="ellipse">
            <a:avLst/>
          </a:prstGeom>
          <a:solidFill>
            <a:srgbClr val="02C39A"/>
          </a:solidFill>
          <a:ln/>
        </p:spPr>
      </p:sp>
      <p:sp>
        <p:nvSpPr>
          <p:cNvPr id="6" name="Text 4"/>
          <p:cNvSpPr/>
          <p:nvPr/>
        </p:nvSpPr>
        <p:spPr>
          <a:xfrm>
            <a:off x="804672" y="1975104"/>
            <a:ext cx="402336" cy="402336"/>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71600" y="1883664"/>
            <a:ext cx="2286000"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News headlines</a:t>
            </a:r>
            <a:endParaRPr lang="en-US" sz="1500" dirty="0"/>
          </a:p>
        </p:txBody>
      </p:sp>
      <p:sp>
        <p:nvSpPr>
          <p:cNvPr id="8" name="Text 6"/>
          <p:cNvSpPr/>
          <p:nvPr/>
        </p:nvSpPr>
        <p:spPr>
          <a:xfrm>
            <a:off x="1371600" y="2176272"/>
            <a:ext cx="2286000" cy="274320"/>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Finnhub</a:t>
            </a:r>
            <a:endParaRPr lang="en-US" sz="1150" dirty="0"/>
          </a:p>
        </p:txBody>
      </p:sp>
      <p:sp>
        <p:nvSpPr>
          <p:cNvPr id="9" name="Text 7"/>
          <p:cNvSpPr/>
          <p:nvPr/>
        </p:nvSpPr>
        <p:spPr>
          <a:xfrm>
            <a:off x="3767328" y="1901952"/>
            <a:ext cx="7580376" cy="566928"/>
          </a:xfrm>
          <a:prstGeom prst="rect">
            <a:avLst/>
          </a:prstGeom>
          <a:noFill/>
          <a:ln/>
        </p:spPr>
        <p:txBody>
          <a:bodyPr wrap="square" lIns="0" tIns="0" rIns="0" bIns="0" rtlCol="0" anchor="t"/>
          <a:lstStyle/>
          <a:p>
            <a:pPr indent="0" marL="0">
              <a:lnSpc>
                <a:spcPts val="1600"/>
              </a:lnSpc>
              <a:buNone/>
            </a:pPr>
            <a:r>
              <a:rPr lang="en-US" sz="1200" dirty="0">
                <a:solidFill>
                  <a:srgbClr val="5E6E7E"/>
                </a:solidFill>
                <a:latin typeface="Calibri" pitchFamily="34" charset="0"/>
                <a:ea typeface="Calibri" pitchFamily="34" charset="-122"/>
                <a:cs typeface="Calibri" pitchFamily="34" charset="-120"/>
              </a:rPr>
              <a:t>/company-news + /news?category=general. Free key, 60 req/min. Yahoo search() news is the zero-key fallback behind the same interface.</a:t>
            </a:r>
            <a:endParaRPr lang="en-US" sz="1200" dirty="0"/>
          </a:p>
        </p:txBody>
      </p:sp>
      <p:sp>
        <p:nvSpPr>
          <p:cNvPr id="10" name="Shape 8"/>
          <p:cNvSpPr/>
          <p:nvPr/>
        </p:nvSpPr>
        <p:spPr>
          <a:xfrm>
            <a:off x="566928" y="2642616"/>
            <a:ext cx="11055096" cy="786384"/>
          </a:xfrm>
          <a:prstGeom prst="roundRect">
            <a:avLst>
              <a:gd name="adj" fmla="val 6977"/>
            </a:avLst>
          </a:prstGeom>
          <a:solidFill>
            <a:srgbClr val="EEF4F7"/>
          </a:solidFill>
          <a:ln w="6350">
            <a:solidFill>
              <a:srgbClr val="EEF4F7"/>
            </a:solidFill>
            <a:prstDash val="solid"/>
          </a:ln>
        </p:spPr>
      </p:sp>
      <p:sp>
        <p:nvSpPr>
          <p:cNvPr id="11" name="Shape 9"/>
          <p:cNvSpPr/>
          <p:nvPr/>
        </p:nvSpPr>
        <p:spPr>
          <a:xfrm>
            <a:off x="804672" y="2834640"/>
            <a:ext cx="402336" cy="402336"/>
          </a:xfrm>
          <a:prstGeom prst="ellipse">
            <a:avLst/>
          </a:prstGeom>
          <a:solidFill>
            <a:srgbClr val="02C39A"/>
          </a:solidFill>
          <a:ln/>
        </p:spPr>
      </p:sp>
      <p:sp>
        <p:nvSpPr>
          <p:cNvPr id="12" name="Text 10"/>
          <p:cNvSpPr/>
          <p:nvPr/>
        </p:nvSpPr>
        <p:spPr>
          <a:xfrm>
            <a:off x="804672" y="2834640"/>
            <a:ext cx="402336" cy="402336"/>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371600" y="2743200"/>
            <a:ext cx="2286000"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Fundamentals</a:t>
            </a:r>
            <a:endParaRPr lang="en-US" sz="1500" dirty="0"/>
          </a:p>
        </p:txBody>
      </p:sp>
      <p:sp>
        <p:nvSpPr>
          <p:cNvPr id="14" name="Text 12"/>
          <p:cNvSpPr/>
          <p:nvPr/>
        </p:nvSpPr>
        <p:spPr>
          <a:xfrm>
            <a:off x="1371600" y="3035808"/>
            <a:ext cx="2286000" cy="274320"/>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yahoo-finance2</a:t>
            </a:r>
            <a:endParaRPr lang="en-US" sz="1150" dirty="0"/>
          </a:p>
        </p:txBody>
      </p:sp>
      <p:sp>
        <p:nvSpPr>
          <p:cNvPr id="15" name="Text 13"/>
          <p:cNvSpPr/>
          <p:nvPr/>
        </p:nvSpPr>
        <p:spPr>
          <a:xfrm>
            <a:off x="3767328" y="2761488"/>
            <a:ext cx="7580376" cy="566928"/>
          </a:xfrm>
          <a:prstGeom prst="rect">
            <a:avLst/>
          </a:prstGeom>
          <a:noFill/>
          <a:ln/>
        </p:spPr>
        <p:txBody>
          <a:bodyPr wrap="square" lIns="0" tIns="0" rIns="0" bIns="0" rtlCol="0" anchor="t"/>
          <a:lstStyle/>
          <a:p>
            <a:pPr indent="0" marL="0">
              <a:lnSpc>
                <a:spcPts val="1600"/>
              </a:lnSpc>
              <a:buNone/>
            </a:pPr>
            <a:r>
              <a:rPr lang="en-US" sz="1200" dirty="0">
                <a:solidFill>
                  <a:srgbClr val="5E6E7E"/>
                </a:solidFill>
                <a:latin typeface="Calibri" pitchFamily="34" charset="0"/>
                <a:ea typeface="Calibri" pitchFamily="34" charset="-122"/>
                <a:cs typeface="Calibri" pitchFamily="34" charset="-120"/>
              </a:rPr>
              <a:t>quoteSummary — P/E, margins, revenue growth, debt/equity, and calendarEvents.earnings for the risk engine's blackout rule. No key.</a:t>
            </a:r>
            <a:endParaRPr lang="en-US" sz="1200" dirty="0"/>
          </a:p>
        </p:txBody>
      </p:sp>
      <p:sp>
        <p:nvSpPr>
          <p:cNvPr id="16" name="Shape 14"/>
          <p:cNvSpPr/>
          <p:nvPr/>
        </p:nvSpPr>
        <p:spPr>
          <a:xfrm>
            <a:off x="566928" y="3502152"/>
            <a:ext cx="11055096" cy="786384"/>
          </a:xfrm>
          <a:prstGeom prst="roundRect">
            <a:avLst>
              <a:gd name="adj" fmla="val 6977"/>
            </a:avLst>
          </a:prstGeom>
          <a:solidFill>
            <a:srgbClr val="E3F2EE"/>
          </a:solidFill>
          <a:ln w="6350">
            <a:solidFill>
              <a:srgbClr val="E3F2EE"/>
            </a:solidFill>
            <a:prstDash val="solid"/>
          </a:ln>
        </p:spPr>
      </p:sp>
      <p:sp>
        <p:nvSpPr>
          <p:cNvPr id="17" name="Shape 15"/>
          <p:cNvSpPr/>
          <p:nvPr/>
        </p:nvSpPr>
        <p:spPr>
          <a:xfrm>
            <a:off x="804672" y="3694176"/>
            <a:ext cx="402336" cy="402336"/>
          </a:xfrm>
          <a:prstGeom prst="ellipse">
            <a:avLst/>
          </a:prstGeom>
          <a:solidFill>
            <a:srgbClr val="02C39A"/>
          </a:solidFill>
          <a:ln/>
        </p:spPr>
      </p:sp>
      <p:sp>
        <p:nvSpPr>
          <p:cNvPr id="18" name="Text 16"/>
          <p:cNvSpPr/>
          <p:nvPr/>
        </p:nvSpPr>
        <p:spPr>
          <a:xfrm>
            <a:off x="804672" y="3694176"/>
            <a:ext cx="402336" cy="402336"/>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371600" y="3602736"/>
            <a:ext cx="2286000"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Macro</a:t>
            </a:r>
            <a:endParaRPr lang="en-US" sz="1500" dirty="0"/>
          </a:p>
        </p:txBody>
      </p:sp>
      <p:sp>
        <p:nvSpPr>
          <p:cNvPr id="20" name="Text 18"/>
          <p:cNvSpPr/>
          <p:nvPr/>
        </p:nvSpPr>
        <p:spPr>
          <a:xfrm>
            <a:off x="1371600" y="3895344"/>
            <a:ext cx="2286000" cy="274320"/>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FRED</a:t>
            </a:r>
            <a:endParaRPr lang="en-US" sz="1150" dirty="0"/>
          </a:p>
        </p:txBody>
      </p:sp>
      <p:sp>
        <p:nvSpPr>
          <p:cNvPr id="21" name="Text 19"/>
          <p:cNvSpPr/>
          <p:nvPr/>
        </p:nvSpPr>
        <p:spPr>
          <a:xfrm>
            <a:off x="3767328" y="3621024"/>
            <a:ext cx="7580376" cy="566928"/>
          </a:xfrm>
          <a:prstGeom prst="rect">
            <a:avLst/>
          </a:prstGeom>
          <a:noFill/>
          <a:ln/>
        </p:spPr>
        <p:txBody>
          <a:bodyPr wrap="square" lIns="0" tIns="0" rIns="0" bIns="0" rtlCol="0" anchor="t"/>
          <a:lstStyle/>
          <a:p>
            <a:pPr indent="0" marL="0">
              <a:lnSpc>
                <a:spcPts val="1600"/>
              </a:lnSpc>
              <a:buNone/>
            </a:pPr>
            <a:r>
              <a:rPr lang="en-US" sz="1200" dirty="0">
                <a:solidFill>
                  <a:srgbClr val="5E6E7E"/>
                </a:solidFill>
                <a:latin typeface="Calibri" pitchFamily="34" charset="0"/>
                <a:ea typeface="Calibri" pitchFamily="34" charset="-122"/>
                <a:cs typeface="Calibri" pitchFamily="34" charset="-120"/>
              </a:rPr>
              <a:t>Curated series: DGS10, DGS2, T10Y2Y, CPIAUCSL, UNRATE, FEDFUNDS, VIXCLS, UMCSENT. Latest, prior, delta and release date.</a:t>
            </a:r>
            <a:endParaRPr lang="en-US" sz="1200" dirty="0"/>
          </a:p>
        </p:txBody>
      </p:sp>
      <p:sp>
        <p:nvSpPr>
          <p:cNvPr id="22" name="Shape 20"/>
          <p:cNvSpPr/>
          <p:nvPr/>
        </p:nvSpPr>
        <p:spPr>
          <a:xfrm>
            <a:off x="566928" y="4361688"/>
            <a:ext cx="11055096" cy="786384"/>
          </a:xfrm>
          <a:prstGeom prst="roundRect">
            <a:avLst>
              <a:gd name="adj" fmla="val 6977"/>
            </a:avLst>
          </a:prstGeom>
          <a:solidFill>
            <a:srgbClr val="EEF4F7"/>
          </a:solidFill>
          <a:ln w="6350">
            <a:solidFill>
              <a:srgbClr val="EEF4F7"/>
            </a:solidFill>
            <a:prstDash val="solid"/>
          </a:ln>
        </p:spPr>
      </p:sp>
      <p:sp>
        <p:nvSpPr>
          <p:cNvPr id="23" name="Shape 21"/>
          <p:cNvSpPr/>
          <p:nvPr/>
        </p:nvSpPr>
        <p:spPr>
          <a:xfrm>
            <a:off x="804672" y="4553712"/>
            <a:ext cx="402336" cy="402336"/>
          </a:xfrm>
          <a:prstGeom prst="ellipse">
            <a:avLst/>
          </a:prstGeom>
          <a:solidFill>
            <a:srgbClr val="02C39A"/>
          </a:solidFill>
          <a:ln/>
        </p:spPr>
      </p:sp>
      <p:sp>
        <p:nvSpPr>
          <p:cNvPr id="24" name="Text 22"/>
          <p:cNvSpPr/>
          <p:nvPr/>
        </p:nvSpPr>
        <p:spPr>
          <a:xfrm>
            <a:off x="804672" y="4553712"/>
            <a:ext cx="402336" cy="402336"/>
          </a:xfrm>
          <a:prstGeom prst="rect">
            <a:avLst/>
          </a:prstGeom>
          <a:noFill/>
          <a:ln/>
        </p:spPr>
        <p:txBody>
          <a:bodyPr wrap="square" lIns="0" tIns="0" rIns="0" bIns="0" rtlCol="0" anchor="ctr"/>
          <a:lstStyle/>
          <a:p>
            <a:pPr algn="ctr" indent="0" marL="0">
              <a:buNone/>
            </a:pPr>
            <a:r>
              <a:rPr lang="en-US" sz="1500" b="1" dirty="0">
                <a:solidFill>
                  <a:srgbClr val="0F1B2D"/>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1371600" y="4462272"/>
            <a:ext cx="2286000" cy="274320"/>
          </a:xfrm>
          <a:prstGeom prst="rect">
            <a:avLst/>
          </a:prstGeom>
          <a:noFill/>
          <a:ln/>
        </p:spPr>
        <p:txBody>
          <a:bodyPr wrap="square" lIns="0" tIns="0" rIns="0" bIns="0" rtlCol="0" anchor="ctr"/>
          <a:lstStyle/>
          <a:p>
            <a:pPr indent="0" marL="0">
              <a:buNone/>
            </a:pPr>
            <a:r>
              <a:rPr lang="en-US" sz="1500" b="1" dirty="0">
                <a:solidFill>
                  <a:srgbClr val="16222F"/>
                </a:solidFill>
                <a:latin typeface="Calibri" pitchFamily="34" charset="0"/>
                <a:ea typeface="Calibri" pitchFamily="34" charset="-122"/>
                <a:cs typeface="Calibri" pitchFamily="34" charset="-120"/>
              </a:rPr>
              <a:t>Options / derivatives</a:t>
            </a:r>
            <a:endParaRPr lang="en-US" sz="1500" dirty="0"/>
          </a:p>
        </p:txBody>
      </p:sp>
      <p:sp>
        <p:nvSpPr>
          <p:cNvPr id="26" name="Text 24"/>
          <p:cNvSpPr/>
          <p:nvPr/>
        </p:nvSpPr>
        <p:spPr>
          <a:xfrm>
            <a:off x="1371600" y="4754880"/>
            <a:ext cx="2286000" cy="274320"/>
          </a:xfrm>
          <a:prstGeom prst="rect">
            <a:avLst/>
          </a:prstGeom>
          <a:noFill/>
          <a:ln/>
        </p:spPr>
        <p:txBody>
          <a:bodyPr wrap="square" lIns="0" tIns="0" rIns="0" bIns="0" rtlCol="0" anchor="ctr"/>
          <a:lstStyle/>
          <a:p>
            <a:pPr indent="0" marL="0">
              <a:buNone/>
            </a:pPr>
            <a:r>
              <a:rPr lang="en-US" sz="1150" dirty="0">
                <a:solidFill>
                  <a:srgbClr val="028090"/>
                </a:solidFill>
                <a:latin typeface="Courier New" pitchFamily="34" charset="0"/>
                <a:ea typeface="Courier New" pitchFamily="34" charset="-122"/>
                <a:cs typeface="Courier New" pitchFamily="34" charset="-120"/>
              </a:rPr>
              <a:t>yahoo-finance2</a:t>
            </a:r>
            <a:endParaRPr lang="en-US" sz="1150" dirty="0"/>
          </a:p>
        </p:txBody>
      </p:sp>
      <p:sp>
        <p:nvSpPr>
          <p:cNvPr id="27" name="Text 25"/>
          <p:cNvSpPr/>
          <p:nvPr/>
        </p:nvSpPr>
        <p:spPr>
          <a:xfrm>
            <a:off x="3767328" y="4480560"/>
            <a:ext cx="7580376" cy="566928"/>
          </a:xfrm>
          <a:prstGeom prst="rect">
            <a:avLst/>
          </a:prstGeom>
          <a:noFill/>
          <a:ln/>
        </p:spPr>
        <p:txBody>
          <a:bodyPr wrap="square" lIns="0" tIns="0" rIns="0" bIns="0" rtlCol="0" anchor="t"/>
          <a:lstStyle/>
          <a:p>
            <a:pPr indent="0" marL="0">
              <a:lnSpc>
                <a:spcPts val="1600"/>
              </a:lnSpc>
              <a:buNone/>
            </a:pPr>
            <a:r>
              <a:rPr lang="en-US" sz="1200" dirty="0">
                <a:solidFill>
                  <a:srgbClr val="5E6E7E"/>
                </a:solidFill>
                <a:latin typeface="Calibri" pitchFamily="34" charset="0"/>
                <a:ea typeface="Calibri" pitchFamily="34" charset="-122"/>
                <a:cs typeface="Calibri" pitchFamily="34" charset="-120"/>
              </a:rPr>
              <a:t>Chain gives OI, volume, IV, strike. Metrics derived locally: put/call ratios, max pain, IV skew, days to monthly OpEx and triple-witching.</a:t>
            </a:r>
            <a:endParaRPr lang="en-US" sz="1200" dirty="0"/>
          </a:p>
        </p:txBody>
      </p:sp>
      <p:sp>
        <p:nvSpPr>
          <p:cNvPr id="28" name="Shape 26"/>
          <p:cNvSpPr/>
          <p:nvPr/>
        </p:nvSpPr>
        <p:spPr>
          <a:xfrm>
            <a:off x="566928" y="5285232"/>
            <a:ext cx="6126480" cy="1024128"/>
          </a:xfrm>
          <a:prstGeom prst="roundRect">
            <a:avLst>
              <a:gd name="adj" fmla="val 5357"/>
            </a:avLst>
          </a:prstGeom>
          <a:solidFill>
            <a:srgbClr val="0F1B2D"/>
          </a:solidFill>
          <a:ln w="6350">
            <a:solidFill>
              <a:srgbClr val="0F1B2D"/>
            </a:solidFill>
            <a:prstDash val="solid"/>
          </a:ln>
        </p:spPr>
      </p:sp>
      <p:sp>
        <p:nvSpPr>
          <p:cNvPr id="29" name="Text 27"/>
          <p:cNvSpPr/>
          <p:nvPr/>
        </p:nvSpPr>
        <p:spPr>
          <a:xfrm>
            <a:off x="822960" y="5431536"/>
            <a:ext cx="5577840" cy="256032"/>
          </a:xfrm>
          <a:prstGeom prst="rect">
            <a:avLst/>
          </a:prstGeom>
          <a:noFill/>
          <a:ln/>
        </p:spPr>
        <p:txBody>
          <a:bodyPr wrap="square" lIns="0" tIns="0" rIns="0" bIns="0" rtlCol="0" anchor="ctr"/>
          <a:lstStyle/>
          <a:p>
            <a:pPr indent="0" marL="0">
              <a:buNone/>
            </a:pPr>
            <a:r>
              <a:rPr lang="en-US" sz="1250" b="1" dirty="0">
                <a:solidFill>
                  <a:srgbClr val="02C39A"/>
                </a:solidFill>
                <a:latin typeface="Calibri" pitchFamily="34" charset="0"/>
                <a:ea typeface="Calibri" pitchFamily="34" charset="-122"/>
                <a:cs typeface="Calibri" pitchFamily="34" charset="-120"/>
              </a:rPr>
              <a:t>Price feed is infrastructure, not a fifth source</a:t>
            </a:r>
            <a:endParaRPr lang="en-US" sz="1250" dirty="0"/>
          </a:p>
        </p:txBody>
      </p:sp>
      <p:sp>
        <p:nvSpPr>
          <p:cNvPr id="30" name="Text 28"/>
          <p:cNvSpPr/>
          <p:nvPr/>
        </p:nvSpPr>
        <p:spPr>
          <a:xfrm>
            <a:off x="822960" y="5705856"/>
            <a:ext cx="5577840" cy="502920"/>
          </a:xfrm>
          <a:prstGeom prst="rect">
            <a:avLst/>
          </a:prstGeom>
          <a:noFill/>
          <a:ln/>
        </p:spPr>
        <p:txBody>
          <a:bodyPr wrap="square" lIns="0" tIns="0" rIns="0" bIns="0" rtlCol="0" anchor="t"/>
          <a:lstStyle/>
          <a:p>
            <a:pPr indent="0" marL="0">
              <a:lnSpc>
                <a:spcPts val="1400"/>
              </a:lnSpc>
              <a:buNone/>
            </a:pPr>
            <a:r>
              <a:rPr lang="en-US" sz="1100" dirty="0">
                <a:solidFill>
                  <a:srgbClr val="CADCFC"/>
                </a:solidFill>
                <a:latin typeface="Calibri" pitchFamily="34" charset="0"/>
                <a:ea typeface="Calibri" pitchFamily="34" charset="-122"/>
                <a:cs typeface="Calibri" pitchFamily="34" charset="-120"/>
              </a:rPr>
              <a:t>yahoo-finance2 chart()/quote(), cached into price_bars — backs fills, NAV and the SPY benchmark.</a:t>
            </a:r>
            <a:endParaRPr lang="en-US" sz="1100" dirty="0"/>
          </a:p>
        </p:txBody>
      </p:sp>
      <p:sp>
        <p:nvSpPr>
          <p:cNvPr id="31" name="Shape 29"/>
          <p:cNvSpPr/>
          <p:nvPr/>
        </p:nvSpPr>
        <p:spPr>
          <a:xfrm>
            <a:off x="6967728" y="5285232"/>
            <a:ext cx="4654296" cy="1024128"/>
          </a:xfrm>
          <a:prstGeom prst="roundRect">
            <a:avLst>
              <a:gd name="adj" fmla="val 5357"/>
            </a:avLst>
          </a:prstGeom>
          <a:solidFill>
            <a:srgbClr val="FBF0E2"/>
          </a:solidFill>
          <a:ln w="6350">
            <a:solidFill>
              <a:srgbClr val="FBF0E2"/>
            </a:solidFill>
            <a:prstDash val="solid"/>
          </a:ln>
        </p:spPr>
      </p:sp>
      <p:sp>
        <p:nvSpPr>
          <p:cNvPr id="32" name="Text 30"/>
          <p:cNvSpPr/>
          <p:nvPr/>
        </p:nvSpPr>
        <p:spPr>
          <a:xfrm>
            <a:off x="7223760" y="5431536"/>
            <a:ext cx="4572000" cy="256032"/>
          </a:xfrm>
          <a:prstGeom prst="rect">
            <a:avLst/>
          </a:prstGeom>
          <a:noFill/>
          <a:ln/>
        </p:spPr>
        <p:txBody>
          <a:bodyPr wrap="square" lIns="0" tIns="0" rIns="0" bIns="0" rtlCol="0" anchor="ctr"/>
          <a:lstStyle/>
          <a:p>
            <a:pPr indent="0" marL="0">
              <a:buNone/>
            </a:pPr>
            <a:r>
              <a:rPr lang="en-US" sz="1250" b="1" dirty="0">
                <a:solidFill>
                  <a:srgbClr val="9C6317"/>
                </a:solidFill>
                <a:latin typeface="Calibri" pitchFamily="34" charset="0"/>
                <a:ea typeface="Calibri" pitchFamily="34" charset="-122"/>
                <a:cs typeface="Calibri" pitchFamily="34" charset="-120"/>
              </a:rPr>
              <a:t>Risk to flag</a:t>
            </a:r>
            <a:endParaRPr lang="en-US" sz="1250" dirty="0"/>
          </a:p>
        </p:txBody>
      </p:sp>
      <p:sp>
        <p:nvSpPr>
          <p:cNvPr id="33" name="Text 31"/>
          <p:cNvSpPr/>
          <p:nvPr/>
        </p:nvSpPr>
        <p:spPr>
          <a:xfrm>
            <a:off x="7223760" y="5705856"/>
            <a:ext cx="4361688" cy="548640"/>
          </a:xfrm>
          <a:prstGeom prst="rect">
            <a:avLst/>
          </a:prstGeom>
          <a:noFill/>
          <a:ln/>
        </p:spPr>
        <p:txBody>
          <a:bodyPr wrap="square" lIns="0" tIns="0" rIns="0" bIns="0" rtlCol="0" anchor="t"/>
          <a:lstStyle/>
          <a:p>
            <a:pPr indent="0" marL="0">
              <a:lnSpc>
                <a:spcPts val="1400"/>
              </a:lnSpc>
              <a:buNone/>
            </a:pPr>
            <a:r>
              <a:rPr lang="en-US" sz="1100" dirty="0">
                <a:solidFill>
                  <a:srgbClr val="16222F"/>
                </a:solidFill>
                <a:latin typeface="Calibri" pitchFamily="34" charset="0"/>
                <a:ea typeface="Calibri" pitchFamily="34" charset="-122"/>
                <a:cs typeface="Calibri" pitchFamily="34" charset="-120"/>
              </a:rPr>
              <a:t>Unofficial, and has broken on Yahoo's cookie/crumb changes. The DataSource interface exists so Finnhub or FMP can replace it per category without touching agent code.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AGENT DESIGN</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Three stages: the model proposes, code disposes</a:t>
            </a:r>
            <a:endParaRPr lang="en-US" sz="3600" dirty="0"/>
          </a:p>
        </p:txBody>
      </p:sp>
      <p:sp>
        <p:nvSpPr>
          <p:cNvPr id="4" name="Shape 2"/>
          <p:cNvSpPr/>
          <p:nvPr/>
        </p:nvSpPr>
        <p:spPr>
          <a:xfrm>
            <a:off x="566928" y="1783080"/>
            <a:ext cx="3502152" cy="2788920"/>
          </a:xfrm>
          <a:prstGeom prst="roundRect">
            <a:avLst>
              <a:gd name="adj" fmla="val 1967"/>
            </a:avLst>
          </a:prstGeom>
          <a:solidFill>
            <a:srgbClr val="E3F2EE"/>
          </a:solidFill>
          <a:ln w="6350">
            <a:solidFill>
              <a:srgbClr val="E3F2EE"/>
            </a:solidFill>
            <a:prstDash val="solid"/>
          </a:ln>
        </p:spPr>
      </p:sp>
      <p:sp>
        <p:nvSpPr>
          <p:cNvPr id="5" name="Text 3"/>
          <p:cNvSpPr/>
          <p:nvPr/>
        </p:nvSpPr>
        <p:spPr>
          <a:xfrm>
            <a:off x="804672" y="1956816"/>
            <a:ext cx="457200" cy="41148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A</a:t>
            </a:r>
            <a:endParaRPr lang="en-US" sz="3000" dirty="0"/>
          </a:p>
        </p:txBody>
      </p:sp>
      <p:sp>
        <p:nvSpPr>
          <p:cNvPr id="6" name="Text 4"/>
          <p:cNvSpPr/>
          <p:nvPr/>
        </p:nvSpPr>
        <p:spPr>
          <a:xfrm>
            <a:off x="1316736" y="2011680"/>
            <a:ext cx="2496312" cy="292608"/>
          </a:xfrm>
          <a:prstGeom prst="rect">
            <a:avLst/>
          </a:prstGeom>
          <a:noFill/>
          <a:ln/>
        </p:spPr>
        <p:txBody>
          <a:bodyPr wrap="square" lIns="0" tIns="0" rIns="0" bIns="0" rtlCol="0" anchor="ctr"/>
          <a:lstStyle/>
          <a:p>
            <a:pPr indent="0" marL="0">
              <a:buNone/>
            </a:pPr>
            <a:r>
              <a:rPr lang="en-US" sz="1650" b="1" dirty="0">
                <a:solidFill>
                  <a:srgbClr val="16222F"/>
                </a:solidFill>
                <a:latin typeface="Calibri" pitchFamily="34" charset="0"/>
                <a:ea typeface="Calibri" pitchFamily="34" charset="-122"/>
                <a:cs typeface="Calibri" pitchFamily="34" charset="-120"/>
              </a:rPr>
              <a:t>Analyst</a:t>
            </a:r>
            <a:endParaRPr lang="en-US" sz="1650" dirty="0"/>
          </a:p>
        </p:txBody>
      </p:sp>
      <p:sp>
        <p:nvSpPr>
          <p:cNvPr id="7" name="Text 5"/>
          <p:cNvSpPr/>
          <p:nvPr/>
        </p:nvSpPr>
        <p:spPr>
          <a:xfrm>
            <a:off x="1316736" y="2313432"/>
            <a:ext cx="2496312" cy="237744"/>
          </a:xfrm>
          <a:prstGeom prst="rect">
            <a:avLst/>
          </a:prstGeom>
          <a:noFill/>
          <a:ln/>
        </p:spPr>
        <p:txBody>
          <a:bodyPr wrap="square" lIns="0" tIns="0" rIns="0" bIns="0" rtlCol="0" anchor="ctr"/>
          <a:lstStyle/>
          <a:p>
            <a:pPr indent="0" marL="0">
              <a:buNone/>
            </a:pPr>
            <a:r>
              <a:rPr lang="en-US" sz="1050" dirty="0">
                <a:solidFill>
                  <a:srgbClr val="5E6E7E"/>
                </a:solidFill>
                <a:latin typeface="Courier New" pitchFamily="34" charset="0"/>
                <a:ea typeface="Courier New" pitchFamily="34" charset="-122"/>
                <a:cs typeface="Courier New" pitchFamily="34" charset="-120"/>
              </a:rPr>
              <a:t>per symbol · LangGraph createReactAgent</a:t>
            </a:r>
            <a:endParaRPr lang="en-US" sz="1050" dirty="0"/>
          </a:p>
        </p:txBody>
      </p:sp>
      <p:sp>
        <p:nvSpPr>
          <p:cNvPr id="8" name="Text 6"/>
          <p:cNvSpPr/>
          <p:nvPr/>
        </p:nvSpPr>
        <p:spPr>
          <a:xfrm>
            <a:off x="804672" y="2724912"/>
            <a:ext cx="3026664" cy="1691640"/>
          </a:xfrm>
          <a:prstGeom prst="rect">
            <a:avLst/>
          </a:prstGeom>
          <a:noFill/>
          <a:ln/>
        </p:spPr>
        <p:txBody>
          <a:bodyPr wrap="square" lIns="0" tIns="0" rIns="0" bIns="0" rtlCol="0" anchor="t"/>
          <a:lstStyle/>
          <a:p>
            <a:pPr indent="0" marL="0">
              <a:lnSpc>
                <a:spcPts val="1600"/>
              </a:lnSpc>
              <a:buNone/>
            </a:pPr>
            <a:r>
              <a:rPr lang="en-US" sz="1200" dirty="0">
                <a:solidFill>
                  <a:srgbClr val="16222F"/>
                </a:solidFill>
                <a:latin typeface="Calibri" pitchFamily="34" charset="0"/>
                <a:ea typeface="Calibri" pitchFamily="34" charset="-122"/>
                <a:cs typeface="Calibri" pitchFamily="34" charset="-120"/>
              </a:rPr>
              <a:t>The model decides which sources a given name needs. Events stream through a collector; every tool call writes an agent_messages row and its result a research_artifacts row. Output is a SymbolAssessment via withStructuredOutput.</a:t>
            </a:r>
            <a:endParaRPr lang="en-US" sz="1200" dirty="0"/>
          </a:p>
        </p:txBody>
      </p:sp>
      <p:sp>
        <p:nvSpPr>
          <p:cNvPr id="9" name="Shape 7"/>
          <p:cNvSpPr/>
          <p:nvPr/>
        </p:nvSpPr>
        <p:spPr>
          <a:xfrm>
            <a:off x="4343400" y="1783080"/>
            <a:ext cx="3502152" cy="2788920"/>
          </a:xfrm>
          <a:prstGeom prst="roundRect">
            <a:avLst>
              <a:gd name="adj" fmla="val 1967"/>
            </a:avLst>
          </a:prstGeom>
          <a:solidFill>
            <a:srgbClr val="EEF4F7"/>
          </a:solidFill>
          <a:ln w="6350">
            <a:solidFill>
              <a:srgbClr val="EEF4F7"/>
            </a:solidFill>
            <a:prstDash val="solid"/>
          </a:ln>
        </p:spPr>
      </p:sp>
      <p:sp>
        <p:nvSpPr>
          <p:cNvPr id="10" name="Text 8"/>
          <p:cNvSpPr/>
          <p:nvPr/>
        </p:nvSpPr>
        <p:spPr>
          <a:xfrm>
            <a:off x="4581144" y="1956816"/>
            <a:ext cx="457200" cy="41148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B</a:t>
            </a:r>
            <a:endParaRPr lang="en-US" sz="3000" dirty="0"/>
          </a:p>
        </p:txBody>
      </p:sp>
      <p:sp>
        <p:nvSpPr>
          <p:cNvPr id="11" name="Text 9"/>
          <p:cNvSpPr/>
          <p:nvPr/>
        </p:nvSpPr>
        <p:spPr>
          <a:xfrm>
            <a:off x="5093208" y="2011680"/>
            <a:ext cx="2496312" cy="292608"/>
          </a:xfrm>
          <a:prstGeom prst="rect">
            <a:avLst/>
          </a:prstGeom>
          <a:noFill/>
          <a:ln/>
        </p:spPr>
        <p:txBody>
          <a:bodyPr wrap="square" lIns="0" tIns="0" rIns="0" bIns="0" rtlCol="0" anchor="ctr"/>
          <a:lstStyle/>
          <a:p>
            <a:pPr indent="0" marL="0">
              <a:buNone/>
            </a:pPr>
            <a:r>
              <a:rPr lang="en-US" sz="1650" b="1" dirty="0">
                <a:solidFill>
                  <a:srgbClr val="16222F"/>
                </a:solidFill>
                <a:latin typeface="Calibri" pitchFamily="34" charset="0"/>
                <a:ea typeface="Calibri" pitchFamily="34" charset="-122"/>
                <a:cs typeface="Calibri" pitchFamily="34" charset="-120"/>
              </a:rPr>
              <a:t>Portfolio Manager</a:t>
            </a:r>
            <a:endParaRPr lang="en-US" sz="1650" dirty="0"/>
          </a:p>
        </p:txBody>
      </p:sp>
      <p:sp>
        <p:nvSpPr>
          <p:cNvPr id="12" name="Text 10"/>
          <p:cNvSpPr/>
          <p:nvPr/>
        </p:nvSpPr>
        <p:spPr>
          <a:xfrm>
            <a:off x="5093208" y="2313432"/>
            <a:ext cx="2496312" cy="237744"/>
          </a:xfrm>
          <a:prstGeom prst="rect">
            <a:avLst/>
          </a:prstGeom>
          <a:noFill/>
          <a:ln/>
        </p:spPr>
        <p:txBody>
          <a:bodyPr wrap="square" lIns="0" tIns="0" rIns="0" bIns="0" rtlCol="0" anchor="ctr"/>
          <a:lstStyle/>
          <a:p>
            <a:pPr indent="0" marL="0">
              <a:buNone/>
            </a:pPr>
            <a:r>
              <a:rPr lang="en-US" sz="1050" dirty="0">
                <a:solidFill>
                  <a:srgbClr val="5E6E7E"/>
                </a:solidFill>
                <a:latin typeface="Courier New" pitchFamily="34" charset="0"/>
                <a:ea typeface="Courier New" pitchFamily="34" charset="-122"/>
                <a:cs typeface="Courier New" pitchFamily="34" charset="-120"/>
              </a:rPr>
              <a:t>one call · no tools</a:t>
            </a:r>
            <a:endParaRPr lang="en-US" sz="1050" dirty="0"/>
          </a:p>
        </p:txBody>
      </p:sp>
      <p:sp>
        <p:nvSpPr>
          <p:cNvPr id="13" name="Text 11"/>
          <p:cNvSpPr/>
          <p:nvPr/>
        </p:nvSpPr>
        <p:spPr>
          <a:xfrm>
            <a:off x="4581144" y="2724912"/>
            <a:ext cx="3026664" cy="1691640"/>
          </a:xfrm>
          <a:prstGeom prst="rect">
            <a:avLst/>
          </a:prstGeom>
          <a:noFill/>
          <a:ln/>
        </p:spPr>
        <p:txBody>
          <a:bodyPr wrap="square" lIns="0" tIns="0" rIns="0" bIns="0" rtlCol="0" anchor="t"/>
          <a:lstStyle/>
          <a:p>
            <a:pPr indent="0" marL="0">
              <a:lnSpc>
                <a:spcPts val="1600"/>
              </a:lnSpc>
              <a:buNone/>
            </a:pPr>
            <a:r>
              <a:rPr lang="en-US" sz="1200" dirty="0">
                <a:solidFill>
                  <a:srgbClr val="16222F"/>
                </a:solidFill>
                <a:latin typeface="Calibri" pitchFamily="34" charset="0"/>
                <a:ea typeface="Calibri" pitchFamily="34" charset="-122"/>
                <a:cs typeface="Calibri" pitchFamily="34" charset="-120"/>
              </a:rPr>
              <a:t>Takes all assessments plus current positions, cash and risk parameters. Returns a DecisionSet — target weights and a rationale per symbol. No tools, because this stage must return deterministic machine-readable output.</a:t>
            </a:r>
            <a:endParaRPr lang="en-US" sz="1200" dirty="0"/>
          </a:p>
        </p:txBody>
      </p:sp>
      <p:sp>
        <p:nvSpPr>
          <p:cNvPr id="14" name="Shape 12"/>
          <p:cNvSpPr/>
          <p:nvPr/>
        </p:nvSpPr>
        <p:spPr>
          <a:xfrm>
            <a:off x="8119872" y="1783080"/>
            <a:ext cx="3502152" cy="2788920"/>
          </a:xfrm>
          <a:prstGeom prst="roundRect">
            <a:avLst>
              <a:gd name="adj" fmla="val 1967"/>
            </a:avLst>
          </a:prstGeom>
          <a:solidFill>
            <a:srgbClr val="0F1B2D"/>
          </a:solidFill>
          <a:ln w="6350">
            <a:solidFill>
              <a:srgbClr val="0F1B2D"/>
            </a:solidFill>
            <a:prstDash val="solid"/>
          </a:ln>
        </p:spPr>
      </p:sp>
      <p:sp>
        <p:nvSpPr>
          <p:cNvPr id="15" name="Text 13"/>
          <p:cNvSpPr/>
          <p:nvPr/>
        </p:nvSpPr>
        <p:spPr>
          <a:xfrm>
            <a:off x="8357616" y="1956816"/>
            <a:ext cx="457200" cy="411480"/>
          </a:xfrm>
          <a:prstGeom prst="rect">
            <a:avLst/>
          </a:prstGeom>
          <a:noFill/>
          <a:ln/>
        </p:spPr>
        <p:txBody>
          <a:bodyPr wrap="square" lIns="0" tIns="0" rIns="0" bIns="0" rtlCol="0" anchor="ctr"/>
          <a:lstStyle/>
          <a:p>
            <a:pPr indent="0" marL="0">
              <a:buNone/>
            </a:pPr>
            <a:r>
              <a:rPr lang="en-US" sz="3000" b="1" dirty="0">
                <a:solidFill>
                  <a:srgbClr val="02C39A"/>
                </a:solidFill>
                <a:latin typeface="Cambria" pitchFamily="34" charset="0"/>
                <a:ea typeface="Cambria" pitchFamily="34" charset="-122"/>
                <a:cs typeface="Cambria" pitchFamily="34" charset="-120"/>
              </a:rPr>
              <a:t>C</a:t>
            </a:r>
            <a:endParaRPr lang="en-US" sz="3000" dirty="0"/>
          </a:p>
        </p:txBody>
      </p:sp>
      <p:sp>
        <p:nvSpPr>
          <p:cNvPr id="16" name="Text 14"/>
          <p:cNvSpPr/>
          <p:nvPr/>
        </p:nvSpPr>
        <p:spPr>
          <a:xfrm>
            <a:off x="8869680" y="2011680"/>
            <a:ext cx="2496312" cy="292608"/>
          </a:xfrm>
          <a:prstGeom prst="rect">
            <a:avLst/>
          </a:prstGeom>
          <a:noFill/>
          <a:ln/>
        </p:spPr>
        <p:txBody>
          <a:bodyPr wrap="square" lIns="0" tIns="0" rIns="0" bIns="0" rtlCol="0" anchor="ctr"/>
          <a:lstStyle/>
          <a:p>
            <a:pPr indent="0" marL="0">
              <a:buNone/>
            </a:pPr>
            <a:r>
              <a:rPr lang="en-US" sz="1650" b="1" dirty="0">
                <a:solidFill>
                  <a:srgbClr val="FFFFFF"/>
                </a:solidFill>
                <a:latin typeface="Calibri" pitchFamily="34" charset="0"/>
                <a:ea typeface="Calibri" pitchFamily="34" charset="-122"/>
                <a:cs typeface="Calibri" pitchFamily="34" charset="-120"/>
              </a:rPr>
              <a:t>Risk &amp; sizing</a:t>
            </a:r>
            <a:endParaRPr lang="en-US" sz="1650" dirty="0"/>
          </a:p>
        </p:txBody>
      </p:sp>
      <p:sp>
        <p:nvSpPr>
          <p:cNvPr id="17" name="Text 15"/>
          <p:cNvSpPr/>
          <p:nvPr/>
        </p:nvSpPr>
        <p:spPr>
          <a:xfrm>
            <a:off x="8869680" y="2313432"/>
            <a:ext cx="2496312" cy="237744"/>
          </a:xfrm>
          <a:prstGeom prst="rect">
            <a:avLst/>
          </a:prstGeom>
          <a:noFill/>
          <a:ln/>
        </p:spPr>
        <p:txBody>
          <a:bodyPr wrap="square" lIns="0" tIns="0" rIns="0" bIns="0" rtlCol="0" anchor="ctr"/>
          <a:lstStyle/>
          <a:p>
            <a:pPr indent="0" marL="0">
              <a:buNone/>
            </a:pPr>
            <a:r>
              <a:rPr lang="en-US" sz="1050" dirty="0">
                <a:solidFill>
                  <a:srgbClr val="9FB3C8"/>
                </a:solidFill>
                <a:latin typeface="Courier New" pitchFamily="34" charset="0"/>
                <a:ea typeface="Courier New" pitchFamily="34" charset="-122"/>
                <a:cs typeface="Courier New" pitchFamily="34" charset="-120"/>
              </a:rPr>
              <a:t>pure TypeScript · no LLM</a:t>
            </a:r>
            <a:endParaRPr lang="en-US" sz="1050" dirty="0"/>
          </a:p>
        </p:txBody>
      </p:sp>
      <p:sp>
        <p:nvSpPr>
          <p:cNvPr id="18" name="Text 16"/>
          <p:cNvSpPr/>
          <p:nvPr/>
        </p:nvSpPr>
        <p:spPr>
          <a:xfrm>
            <a:off x="8357616" y="2724912"/>
            <a:ext cx="3026664" cy="1691640"/>
          </a:xfrm>
          <a:prstGeom prst="rect">
            <a:avLst/>
          </a:prstGeom>
          <a:noFill/>
          <a:ln/>
        </p:spPr>
        <p:txBody>
          <a:bodyPr wrap="square" lIns="0" tIns="0" rIns="0" bIns="0" rtlCol="0" anchor="t"/>
          <a:lstStyle/>
          <a:p>
            <a:pPr indent="0" marL="0">
              <a:lnSpc>
                <a:spcPts val="1600"/>
              </a:lnSpc>
              <a:buNone/>
            </a:pPr>
            <a:r>
              <a:rPr lang="en-US" sz="1200" dirty="0">
                <a:solidFill>
                  <a:srgbClr val="CADCFC"/>
                </a:solidFill>
                <a:latin typeface="Calibri" pitchFamily="34" charset="0"/>
                <a:ea typeface="Calibri" pitchFamily="34" charset="-122"/>
                <a:cs typeface="Calibri" pitchFamily="34" charset="-120"/>
              </a:rPr>
              <a:t>Converts target weights into share quantities and OrderRequests. Enforces max position weight, max new positions, cash reserve, max notional, daily turnover, min confidence, blocklist, earnings blackout, no shorting. Every rejection is recorded with a reason.</a:t>
            </a:r>
            <a:endParaRPr lang="en-US" sz="1200" dirty="0"/>
          </a:p>
        </p:txBody>
      </p:sp>
      <p:sp>
        <p:nvSpPr>
          <p:cNvPr id="19" name="Text 17"/>
          <p:cNvSpPr/>
          <p:nvPr/>
        </p:nvSpPr>
        <p:spPr>
          <a:xfrm>
            <a:off x="566928" y="4773168"/>
            <a:ext cx="7315200" cy="274320"/>
          </a:xfrm>
          <a:prstGeom prst="rect">
            <a:avLst/>
          </a:prstGeom>
          <a:noFill/>
          <a:ln/>
        </p:spPr>
        <p:txBody>
          <a:bodyPr wrap="square" lIns="0" tIns="0" rIns="0" bIns="0" rtlCol="0" anchor="ctr"/>
          <a:lstStyle/>
          <a:p>
            <a:pPr indent="0" marL="0">
              <a:buNone/>
            </a:pPr>
            <a:r>
              <a:rPr lang="en-US" sz="1450" b="1" dirty="0">
                <a:solidFill>
                  <a:srgbClr val="16222F"/>
                </a:solidFill>
                <a:latin typeface="Calibri" pitchFamily="34" charset="0"/>
                <a:ea typeface="Calibri" pitchFamily="34" charset="-122"/>
                <a:cs typeface="Calibri" pitchFamily="34" charset="-120"/>
              </a:rPr>
              <a:t>The analyst's seven tools — all read-only</a:t>
            </a:r>
            <a:endParaRPr lang="en-US" sz="1450" dirty="0"/>
          </a:p>
        </p:txBody>
      </p:sp>
      <p:sp>
        <p:nvSpPr>
          <p:cNvPr id="20" name="Shape 18"/>
          <p:cNvSpPr/>
          <p:nvPr/>
        </p:nvSpPr>
        <p:spPr>
          <a:xfrm>
            <a:off x="566928" y="5138928"/>
            <a:ext cx="2089404" cy="420624"/>
          </a:xfrm>
          <a:prstGeom prst="roundRect">
            <a:avLst>
              <a:gd name="adj" fmla="val 50000"/>
            </a:avLst>
          </a:prstGeom>
          <a:solidFill>
            <a:srgbClr val="EEF4F7"/>
          </a:solidFill>
          <a:ln w="12700">
            <a:solidFill>
              <a:srgbClr val="C9DAE2"/>
            </a:solidFill>
            <a:prstDash val="solid"/>
          </a:ln>
        </p:spPr>
      </p:sp>
      <p:sp>
        <p:nvSpPr>
          <p:cNvPr id="21" name="Text 19"/>
          <p:cNvSpPr/>
          <p:nvPr/>
        </p:nvSpPr>
        <p:spPr>
          <a:xfrm>
            <a:off x="566928" y="5138928"/>
            <a:ext cx="2089404"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get_price_history</a:t>
            </a:r>
            <a:endParaRPr lang="en-US" sz="1150" dirty="0"/>
          </a:p>
        </p:txBody>
      </p:sp>
      <p:sp>
        <p:nvSpPr>
          <p:cNvPr id="22" name="Shape 20"/>
          <p:cNvSpPr/>
          <p:nvPr/>
        </p:nvSpPr>
        <p:spPr>
          <a:xfrm>
            <a:off x="2802636" y="5138928"/>
            <a:ext cx="1993392" cy="420624"/>
          </a:xfrm>
          <a:prstGeom prst="roundRect">
            <a:avLst>
              <a:gd name="adj" fmla="val 50000"/>
            </a:avLst>
          </a:prstGeom>
          <a:solidFill>
            <a:srgbClr val="EEF4F7"/>
          </a:solidFill>
          <a:ln w="12700">
            <a:solidFill>
              <a:srgbClr val="C9DAE2"/>
            </a:solidFill>
            <a:prstDash val="solid"/>
          </a:ln>
        </p:spPr>
      </p:sp>
      <p:sp>
        <p:nvSpPr>
          <p:cNvPr id="23" name="Text 21"/>
          <p:cNvSpPr/>
          <p:nvPr/>
        </p:nvSpPr>
        <p:spPr>
          <a:xfrm>
            <a:off x="2802636" y="5138928"/>
            <a:ext cx="1993392"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get_fundamentals</a:t>
            </a:r>
            <a:endParaRPr lang="en-US" sz="1150" dirty="0"/>
          </a:p>
        </p:txBody>
      </p:sp>
      <p:sp>
        <p:nvSpPr>
          <p:cNvPr id="24" name="Shape 22"/>
          <p:cNvSpPr/>
          <p:nvPr/>
        </p:nvSpPr>
        <p:spPr>
          <a:xfrm>
            <a:off x="4942332" y="5138928"/>
            <a:ext cx="1225296" cy="420624"/>
          </a:xfrm>
          <a:prstGeom prst="roundRect">
            <a:avLst>
              <a:gd name="adj" fmla="val 50000"/>
            </a:avLst>
          </a:prstGeom>
          <a:solidFill>
            <a:srgbClr val="EEF4F7"/>
          </a:solidFill>
          <a:ln w="12700">
            <a:solidFill>
              <a:srgbClr val="C9DAE2"/>
            </a:solidFill>
            <a:prstDash val="solid"/>
          </a:ln>
        </p:spPr>
      </p:sp>
      <p:sp>
        <p:nvSpPr>
          <p:cNvPr id="25" name="Text 23"/>
          <p:cNvSpPr/>
          <p:nvPr/>
        </p:nvSpPr>
        <p:spPr>
          <a:xfrm>
            <a:off x="4942332" y="5138928"/>
            <a:ext cx="1225296"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get_news</a:t>
            </a:r>
            <a:endParaRPr lang="en-US" sz="1150" dirty="0"/>
          </a:p>
        </p:txBody>
      </p:sp>
      <p:sp>
        <p:nvSpPr>
          <p:cNvPr id="26" name="Shape 24"/>
          <p:cNvSpPr/>
          <p:nvPr/>
        </p:nvSpPr>
        <p:spPr>
          <a:xfrm>
            <a:off x="6313932" y="5138928"/>
            <a:ext cx="1321308" cy="420624"/>
          </a:xfrm>
          <a:prstGeom prst="roundRect">
            <a:avLst>
              <a:gd name="adj" fmla="val 50000"/>
            </a:avLst>
          </a:prstGeom>
          <a:solidFill>
            <a:srgbClr val="EEF4F7"/>
          </a:solidFill>
          <a:ln w="12700">
            <a:solidFill>
              <a:srgbClr val="C9DAE2"/>
            </a:solidFill>
            <a:prstDash val="solid"/>
          </a:ln>
        </p:spPr>
      </p:sp>
      <p:sp>
        <p:nvSpPr>
          <p:cNvPr id="27" name="Text 25"/>
          <p:cNvSpPr/>
          <p:nvPr/>
        </p:nvSpPr>
        <p:spPr>
          <a:xfrm>
            <a:off x="6313932" y="5138928"/>
            <a:ext cx="1321308"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get_macro</a:t>
            </a:r>
            <a:endParaRPr lang="en-US" sz="1150" dirty="0"/>
          </a:p>
        </p:txBody>
      </p:sp>
      <p:sp>
        <p:nvSpPr>
          <p:cNvPr id="28" name="Shape 26"/>
          <p:cNvSpPr/>
          <p:nvPr/>
        </p:nvSpPr>
        <p:spPr>
          <a:xfrm>
            <a:off x="7781544" y="5138928"/>
            <a:ext cx="2377440" cy="420624"/>
          </a:xfrm>
          <a:prstGeom prst="roundRect">
            <a:avLst>
              <a:gd name="adj" fmla="val 50000"/>
            </a:avLst>
          </a:prstGeom>
          <a:solidFill>
            <a:srgbClr val="EEF4F7"/>
          </a:solidFill>
          <a:ln w="12700">
            <a:solidFill>
              <a:srgbClr val="C9DAE2"/>
            </a:solidFill>
            <a:prstDash val="solid"/>
          </a:ln>
        </p:spPr>
      </p:sp>
      <p:sp>
        <p:nvSpPr>
          <p:cNvPr id="29" name="Text 27"/>
          <p:cNvSpPr/>
          <p:nvPr/>
        </p:nvSpPr>
        <p:spPr>
          <a:xfrm>
            <a:off x="7781544" y="5138928"/>
            <a:ext cx="2377440"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get_options_snapshot</a:t>
            </a:r>
            <a:endParaRPr lang="en-US" sz="1150" dirty="0"/>
          </a:p>
        </p:txBody>
      </p:sp>
      <p:sp>
        <p:nvSpPr>
          <p:cNvPr id="30" name="Shape 28"/>
          <p:cNvSpPr/>
          <p:nvPr/>
        </p:nvSpPr>
        <p:spPr>
          <a:xfrm>
            <a:off x="566928" y="5650992"/>
            <a:ext cx="1705356" cy="420624"/>
          </a:xfrm>
          <a:prstGeom prst="roundRect">
            <a:avLst>
              <a:gd name="adj" fmla="val 50000"/>
            </a:avLst>
          </a:prstGeom>
          <a:solidFill>
            <a:srgbClr val="EEF4F7"/>
          </a:solidFill>
          <a:ln w="12700">
            <a:solidFill>
              <a:srgbClr val="C9DAE2"/>
            </a:solidFill>
            <a:prstDash val="solid"/>
          </a:ln>
        </p:spPr>
      </p:sp>
      <p:sp>
        <p:nvSpPr>
          <p:cNvPr id="31" name="Text 29"/>
          <p:cNvSpPr/>
          <p:nvPr/>
        </p:nvSpPr>
        <p:spPr>
          <a:xfrm>
            <a:off x="566928" y="5650992"/>
            <a:ext cx="1705356"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get_portfolio</a:t>
            </a:r>
            <a:endParaRPr lang="en-US" sz="1150" dirty="0"/>
          </a:p>
        </p:txBody>
      </p:sp>
      <p:sp>
        <p:nvSpPr>
          <p:cNvPr id="32" name="Shape 30"/>
          <p:cNvSpPr/>
          <p:nvPr/>
        </p:nvSpPr>
        <p:spPr>
          <a:xfrm>
            <a:off x="2418588" y="5650992"/>
            <a:ext cx="2281428" cy="420624"/>
          </a:xfrm>
          <a:prstGeom prst="roundRect">
            <a:avLst>
              <a:gd name="adj" fmla="val 50000"/>
            </a:avLst>
          </a:prstGeom>
          <a:solidFill>
            <a:srgbClr val="EEF4F7"/>
          </a:solidFill>
          <a:ln w="12700">
            <a:solidFill>
              <a:srgbClr val="C9DAE2"/>
            </a:solidFill>
            <a:prstDash val="solid"/>
          </a:ln>
        </p:spPr>
      </p:sp>
      <p:sp>
        <p:nvSpPr>
          <p:cNvPr id="33" name="Text 31"/>
          <p:cNvSpPr/>
          <p:nvPr/>
        </p:nvSpPr>
        <p:spPr>
          <a:xfrm>
            <a:off x="2418588" y="5650992"/>
            <a:ext cx="2281428" cy="420624"/>
          </a:xfrm>
          <a:prstGeom prst="rect">
            <a:avLst/>
          </a:prstGeom>
          <a:noFill/>
          <a:ln/>
        </p:spPr>
        <p:txBody>
          <a:bodyPr wrap="square" lIns="0" tIns="0" rIns="0" bIns="0" rtlCol="0" anchor="ctr"/>
          <a:lstStyle/>
          <a:p>
            <a:pPr algn="ctr" indent="0" marL="0">
              <a:buNone/>
            </a:pPr>
            <a:r>
              <a:rPr lang="en-US" sz="1150" dirty="0">
                <a:solidFill>
                  <a:srgbClr val="16222F"/>
                </a:solidFill>
                <a:latin typeface="Courier New" pitchFamily="34" charset="0"/>
                <a:ea typeface="Courier New" pitchFamily="34" charset="-122"/>
                <a:cs typeface="Courier New" pitchFamily="34" charset="-120"/>
              </a:rPr>
              <a:t>get_prior_decisions</a:t>
            </a:r>
            <a:endParaRPr lang="en-US" sz="1150" dirty="0"/>
          </a:p>
        </p:txBody>
      </p:sp>
      <p:sp>
        <p:nvSpPr>
          <p:cNvPr id="34" name="Text 32"/>
          <p:cNvSpPr/>
          <p:nvPr/>
        </p:nvSpPr>
        <p:spPr>
          <a:xfrm>
            <a:off x="566928" y="6126480"/>
            <a:ext cx="11055096" cy="274320"/>
          </a:xfrm>
          <a:prstGeom prst="rect">
            <a:avLst/>
          </a:prstGeom>
          <a:noFill/>
          <a:ln/>
        </p:spPr>
        <p:txBody>
          <a:bodyPr wrap="square" lIns="0" tIns="0" rIns="0" bIns="0" rtlCol="0" anchor="ctr"/>
          <a:lstStyle/>
          <a:p>
            <a:pPr indent="0" marL="0">
              <a:buNone/>
            </a:pPr>
            <a:r>
              <a:rPr lang="en-US" sz="1200" i="1" dirty="0">
                <a:solidFill>
                  <a:srgbClr val="5E6E7E"/>
                </a:solidFill>
                <a:latin typeface="Calibri" pitchFamily="34" charset="0"/>
                <a:ea typeface="Calibri" pitchFamily="34" charset="-122"/>
                <a:cs typeface="Calibri" pitchFamily="34" charset="-120"/>
              </a:rPr>
              <a:t>get_portfolio and get_prior_decisions are what stop the agent thrashing — it sees existing exposure and what it concluded last cycle.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9509760" y="-1737360"/>
            <a:ext cx="4937760" cy="4937760"/>
          </a:xfrm>
          <a:prstGeom prst="ellipse">
            <a:avLst/>
          </a:prstGeom>
          <a:solidFill>
            <a:srgbClr val="1B2C45"/>
          </a:solidFill>
          <a:ln/>
        </p:spPr>
      </p:sp>
      <p:sp>
        <p:nvSpPr>
          <p:cNvPr id="3" name="Text 1"/>
          <p:cNvSpPr/>
          <p:nvPr/>
        </p:nvSpPr>
        <p:spPr>
          <a:xfrm>
            <a:off x="566928" y="685800"/>
            <a:ext cx="7315200" cy="256032"/>
          </a:xfrm>
          <a:prstGeom prst="rect">
            <a:avLst/>
          </a:prstGeom>
          <a:noFill/>
          <a:ln/>
        </p:spPr>
        <p:txBody>
          <a:bodyPr wrap="square" lIns="0" tIns="0" rIns="0" bIns="0" rtlCol="0" anchor="ctr"/>
          <a:lstStyle/>
          <a:p>
            <a:pPr indent="0" marL="0">
              <a:buNone/>
            </a:pPr>
            <a:r>
              <a:rPr lang="en-US" sz="1150" b="1" spc="250" kern="0" dirty="0">
                <a:solidFill>
                  <a:srgbClr val="02C39A"/>
                </a:solidFill>
                <a:latin typeface="Calibri" pitchFamily="34" charset="0"/>
                <a:ea typeface="Calibri" pitchFamily="34" charset="-122"/>
                <a:cs typeface="Calibri" pitchFamily="34" charset="-120"/>
              </a:rPr>
              <a:t>THE CORE SAFETY PROPERTY</a:t>
            </a:r>
            <a:endParaRPr lang="en-US" sz="1150" dirty="0"/>
          </a:p>
        </p:txBody>
      </p:sp>
      <p:sp>
        <p:nvSpPr>
          <p:cNvPr id="4" name="Text 2"/>
          <p:cNvSpPr/>
          <p:nvPr/>
        </p:nvSpPr>
        <p:spPr>
          <a:xfrm>
            <a:off x="566928" y="1024128"/>
            <a:ext cx="10515600" cy="6858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There is deliberately no submit_order tool.</a:t>
            </a:r>
            <a:endParaRPr lang="en-US" sz="3800" dirty="0"/>
          </a:p>
        </p:txBody>
      </p:sp>
      <p:sp>
        <p:nvSpPr>
          <p:cNvPr id="5" name="Text 3"/>
          <p:cNvSpPr/>
          <p:nvPr/>
        </p:nvSpPr>
        <p:spPr>
          <a:xfrm>
            <a:off x="566928" y="1810512"/>
            <a:ext cx="9692640" cy="548640"/>
          </a:xfrm>
          <a:prstGeom prst="rect">
            <a:avLst/>
          </a:prstGeom>
          <a:noFill/>
          <a:ln/>
        </p:spPr>
        <p:txBody>
          <a:bodyPr wrap="square" lIns="0" tIns="0" rIns="0" bIns="0" rtlCol="0" anchor="ctr"/>
          <a:lstStyle/>
          <a:p>
            <a:pPr indent="0" marL="0">
              <a:lnSpc>
                <a:spcPts val="2100"/>
              </a:lnSpc>
              <a:buNone/>
            </a:pPr>
            <a:r>
              <a:rPr lang="en-US" sz="1500" dirty="0">
                <a:solidFill>
                  <a:srgbClr val="CADCFC"/>
                </a:solidFill>
                <a:latin typeface="Calibri" pitchFamily="34" charset="0"/>
                <a:ea typeface="Calibri" pitchFamily="34" charset="-122"/>
                <a:cs typeface="Calibri" pitchFamily="34" charset="-120"/>
              </a:rPr>
              <a:t>The model cannot place an order. Orders exist only as the output of Stage C — deterministic TypeScript with no LLM in the path.</a:t>
            </a:r>
            <a:endParaRPr lang="en-US" sz="1500" dirty="0"/>
          </a:p>
        </p:txBody>
      </p:sp>
      <p:sp>
        <p:nvSpPr>
          <p:cNvPr id="6" name="Shape 4"/>
          <p:cNvSpPr/>
          <p:nvPr/>
        </p:nvSpPr>
        <p:spPr>
          <a:xfrm>
            <a:off x="566928" y="2724912"/>
            <a:ext cx="3502152" cy="1572768"/>
          </a:xfrm>
          <a:prstGeom prst="roundRect">
            <a:avLst>
              <a:gd name="adj" fmla="val 3488"/>
            </a:avLst>
          </a:prstGeom>
          <a:solidFill>
            <a:srgbClr val="1B2C45"/>
          </a:solidFill>
          <a:ln w="12700">
            <a:solidFill>
              <a:srgbClr val="2E4664"/>
            </a:solidFill>
            <a:prstDash val="solid"/>
          </a:ln>
        </p:spPr>
      </p:sp>
      <p:sp>
        <p:nvSpPr>
          <p:cNvPr id="7" name="Text 5"/>
          <p:cNvSpPr/>
          <p:nvPr/>
        </p:nvSpPr>
        <p:spPr>
          <a:xfrm>
            <a:off x="804672" y="2926080"/>
            <a:ext cx="3026664" cy="457200"/>
          </a:xfrm>
          <a:prstGeom prst="rect">
            <a:avLst/>
          </a:prstGeom>
          <a:noFill/>
          <a:ln/>
        </p:spPr>
        <p:txBody>
          <a:bodyPr wrap="square" lIns="0" tIns="0" rIns="0" bIns="0" rtlCol="0" anchor="ctr"/>
          <a:lstStyle/>
          <a:p>
            <a:pPr indent="0" marL="0">
              <a:lnSpc>
                <a:spcPts val="1800"/>
              </a:lnSpc>
              <a:buNone/>
            </a:pPr>
            <a:r>
              <a:rPr lang="en-US" sz="1400" b="1" dirty="0">
                <a:solidFill>
                  <a:srgbClr val="02C39A"/>
                </a:solidFill>
                <a:latin typeface="Calibri" pitchFamily="34" charset="0"/>
                <a:ea typeface="Calibri" pitchFamily="34" charset="-122"/>
                <a:cs typeface="Calibri" pitchFamily="34" charset="-120"/>
              </a:rPr>
              <a:t>Single-run lock</a:t>
            </a:r>
            <a:endParaRPr lang="en-US" sz="1400" dirty="0"/>
          </a:p>
        </p:txBody>
      </p:sp>
      <p:sp>
        <p:nvSpPr>
          <p:cNvPr id="8" name="Text 6"/>
          <p:cNvSpPr/>
          <p:nvPr/>
        </p:nvSpPr>
        <p:spPr>
          <a:xfrm>
            <a:off x="804672" y="3383280"/>
            <a:ext cx="3026664"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Refuses to start if any run is still running; stale runs past the timeout are marked failed.</a:t>
            </a:r>
            <a:endParaRPr lang="en-US" sz="1150" dirty="0"/>
          </a:p>
        </p:txBody>
      </p:sp>
      <p:sp>
        <p:nvSpPr>
          <p:cNvPr id="9" name="Shape 7"/>
          <p:cNvSpPr/>
          <p:nvPr/>
        </p:nvSpPr>
        <p:spPr>
          <a:xfrm>
            <a:off x="4343400" y="2724912"/>
            <a:ext cx="3502152" cy="1572768"/>
          </a:xfrm>
          <a:prstGeom prst="roundRect">
            <a:avLst>
              <a:gd name="adj" fmla="val 3488"/>
            </a:avLst>
          </a:prstGeom>
          <a:solidFill>
            <a:srgbClr val="1B2C45"/>
          </a:solidFill>
          <a:ln w="12700">
            <a:solidFill>
              <a:srgbClr val="2E4664"/>
            </a:solidFill>
            <a:prstDash val="solid"/>
          </a:ln>
        </p:spPr>
      </p:sp>
      <p:sp>
        <p:nvSpPr>
          <p:cNvPr id="10" name="Text 8"/>
          <p:cNvSpPr/>
          <p:nvPr/>
        </p:nvSpPr>
        <p:spPr>
          <a:xfrm>
            <a:off x="4581144" y="2926080"/>
            <a:ext cx="3026664" cy="457200"/>
          </a:xfrm>
          <a:prstGeom prst="rect">
            <a:avLst/>
          </a:prstGeom>
          <a:noFill/>
          <a:ln/>
        </p:spPr>
        <p:txBody>
          <a:bodyPr wrap="square" lIns="0" tIns="0" rIns="0" bIns="0" rtlCol="0" anchor="ctr"/>
          <a:lstStyle/>
          <a:p>
            <a:pPr indent="0" marL="0">
              <a:lnSpc>
                <a:spcPts val="1800"/>
              </a:lnSpc>
              <a:buNone/>
            </a:pPr>
            <a:r>
              <a:rPr lang="en-US" sz="1400" b="1" dirty="0">
                <a:solidFill>
                  <a:srgbClr val="02C39A"/>
                </a:solidFill>
                <a:latin typeface="Calibri" pitchFamily="34" charset="0"/>
                <a:ea typeface="Calibri" pitchFamily="34" charset="-122"/>
                <a:cs typeface="Calibri" pitchFamily="34" charset="-120"/>
              </a:rPr>
              <a:t>Cadence floor, enforced in config</a:t>
            </a:r>
            <a:endParaRPr lang="en-US" sz="1400" dirty="0"/>
          </a:p>
        </p:txBody>
      </p:sp>
      <p:sp>
        <p:nvSpPr>
          <p:cNvPr id="11" name="Text 9"/>
          <p:cNvSpPr/>
          <p:nvPr/>
        </p:nvSpPr>
        <p:spPr>
          <a:xfrm>
            <a:off x="4581144" y="3383280"/>
            <a:ext cx="3026664"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Settings validation rejects any cron that would fire more often than minIntervalHours — checked in the zod refinement, not left to convention.</a:t>
            </a:r>
            <a:endParaRPr lang="en-US" sz="1150" dirty="0"/>
          </a:p>
        </p:txBody>
      </p:sp>
      <p:sp>
        <p:nvSpPr>
          <p:cNvPr id="12" name="Shape 10"/>
          <p:cNvSpPr/>
          <p:nvPr/>
        </p:nvSpPr>
        <p:spPr>
          <a:xfrm>
            <a:off x="8119872" y="2724912"/>
            <a:ext cx="3502152" cy="1572768"/>
          </a:xfrm>
          <a:prstGeom prst="roundRect">
            <a:avLst>
              <a:gd name="adj" fmla="val 3488"/>
            </a:avLst>
          </a:prstGeom>
          <a:solidFill>
            <a:srgbClr val="1B2C45"/>
          </a:solidFill>
          <a:ln w="12700">
            <a:solidFill>
              <a:srgbClr val="2E4664"/>
            </a:solidFill>
            <a:prstDash val="solid"/>
          </a:ln>
        </p:spPr>
      </p:sp>
      <p:sp>
        <p:nvSpPr>
          <p:cNvPr id="13" name="Text 11"/>
          <p:cNvSpPr/>
          <p:nvPr/>
        </p:nvSpPr>
        <p:spPr>
          <a:xfrm>
            <a:off x="8357616" y="2926080"/>
            <a:ext cx="3026664" cy="457200"/>
          </a:xfrm>
          <a:prstGeom prst="rect">
            <a:avLst/>
          </a:prstGeom>
          <a:noFill/>
          <a:ln/>
        </p:spPr>
        <p:txBody>
          <a:bodyPr wrap="square" lIns="0" tIns="0" rIns="0" bIns="0" rtlCol="0" anchor="ctr"/>
          <a:lstStyle/>
          <a:p>
            <a:pPr indent="0" marL="0">
              <a:lnSpc>
                <a:spcPts val="1800"/>
              </a:lnSpc>
              <a:buNone/>
            </a:pPr>
            <a:r>
              <a:rPr lang="en-US" sz="1400" b="1" dirty="0">
                <a:solidFill>
                  <a:srgbClr val="02C39A"/>
                </a:solidFill>
                <a:latin typeface="Calibri" pitchFamily="34" charset="0"/>
                <a:ea typeface="Calibri" pitchFamily="34" charset="-122"/>
                <a:cs typeface="Calibri" pitchFamily="34" charset="-120"/>
              </a:rPr>
              <a:t>Holiday and early-close calendar</a:t>
            </a:r>
            <a:endParaRPr lang="en-US" sz="1400" dirty="0"/>
          </a:p>
        </p:txBody>
      </p:sp>
      <p:sp>
        <p:nvSpPr>
          <p:cNvPr id="14" name="Text 12"/>
          <p:cNvSpPr/>
          <p:nvPr/>
        </p:nvSpPr>
        <p:spPr>
          <a:xfrm>
            <a:off x="8357616" y="3383280"/>
            <a:ext cx="3026664"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A hardcoded NYSE table through 2030. The job skips and records a skip_reason rather than trading a closed market.</a:t>
            </a:r>
            <a:endParaRPr lang="en-US" sz="1150" dirty="0"/>
          </a:p>
        </p:txBody>
      </p:sp>
      <p:sp>
        <p:nvSpPr>
          <p:cNvPr id="15" name="Shape 13"/>
          <p:cNvSpPr/>
          <p:nvPr/>
        </p:nvSpPr>
        <p:spPr>
          <a:xfrm>
            <a:off x="566928" y="4572000"/>
            <a:ext cx="3502152" cy="1572768"/>
          </a:xfrm>
          <a:prstGeom prst="roundRect">
            <a:avLst>
              <a:gd name="adj" fmla="val 3488"/>
            </a:avLst>
          </a:prstGeom>
          <a:solidFill>
            <a:srgbClr val="1B2C45"/>
          </a:solidFill>
          <a:ln w="12700">
            <a:solidFill>
              <a:srgbClr val="2E4664"/>
            </a:solidFill>
            <a:prstDash val="solid"/>
          </a:ln>
        </p:spPr>
      </p:sp>
      <p:sp>
        <p:nvSpPr>
          <p:cNvPr id="16" name="Text 14"/>
          <p:cNvSpPr/>
          <p:nvPr/>
        </p:nvSpPr>
        <p:spPr>
          <a:xfrm>
            <a:off x="804672" y="4773168"/>
            <a:ext cx="3026664" cy="457200"/>
          </a:xfrm>
          <a:prstGeom prst="rect">
            <a:avLst/>
          </a:prstGeom>
          <a:noFill/>
          <a:ln/>
        </p:spPr>
        <p:txBody>
          <a:bodyPr wrap="square" lIns="0" tIns="0" rIns="0" bIns="0" rtlCol="0" anchor="ctr"/>
          <a:lstStyle/>
          <a:p>
            <a:pPr indent="0" marL="0">
              <a:lnSpc>
                <a:spcPts val="1800"/>
              </a:lnSpc>
              <a:buNone/>
            </a:pPr>
            <a:r>
              <a:rPr lang="en-US" sz="1400" b="1" dirty="0">
                <a:solidFill>
                  <a:srgbClr val="02C39A"/>
                </a:solidFill>
                <a:latin typeface="Calibri" pitchFamily="34" charset="0"/>
                <a:ea typeface="Calibri" pitchFamily="34" charset="-122"/>
                <a:cs typeface="Calibri" pitchFamily="34" charset="-120"/>
              </a:rPr>
              <a:t>Kill switch and paper-only mode</a:t>
            </a:r>
            <a:endParaRPr lang="en-US" sz="1400" dirty="0"/>
          </a:p>
        </p:txBody>
      </p:sp>
      <p:sp>
        <p:nvSpPr>
          <p:cNvPr id="17" name="Text 15"/>
          <p:cNvSpPr/>
          <p:nvPr/>
        </p:nvSpPr>
        <p:spPr>
          <a:xfrm>
            <a:off x="804672" y="5230368"/>
            <a:ext cx="3026664"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trading.enabled gates every cycle; the live-mode toggle exists in the UI but is disabled.</a:t>
            </a:r>
            <a:endParaRPr lang="en-US" sz="1150" dirty="0"/>
          </a:p>
        </p:txBody>
      </p:sp>
      <p:sp>
        <p:nvSpPr>
          <p:cNvPr id="18" name="Shape 16"/>
          <p:cNvSpPr/>
          <p:nvPr/>
        </p:nvSpPr>
        <p:spPr>
          <a:xfrm>
            <a:off x="4343400" y="4572000"/>
            <a:ext cx="3502152" cy="1572768"/>
          </a:xfrm>
          <a:prstGeom prst="roundRect">
            <a:avLst>
              <a:gd name="adj" fmla="val 3488"/>
            </a:avLst>
          </a:prstGeom>
          <a:solidFill>
            <a:srgbClr val="1B2C45"/>
          </a:solidFill>
          <a:ln w="12700">
            <a:solidFill>
              <a:srgbClr val="2E4664"/>
            </a:solidFill>
            <a:prstDash val="solid"/>
          </a:ln>
        </p:spPr>
      </p:sp>
      <p:sp>
        <p:nvSpPr>
          <p:cNvPr id="19" name="Text 17"/>
          <p:cNvSpPr/>
          <p:nvPr/>
        </p:nvSpPr>
        <p:spPr>
          <a:xfrm>
            <a:off x="4581144" y="4773168"/>
            <a:ext cx="3026664" cy="457200"/>
          </a:xfrm>
          <a:prstGeom prst="rect">
            <a:avLst/>
          </a:prstGeom>
          <a:noFill/>
          <a:ln/>
        </p:spPr>
        <p:txBody>
          <a:bodyPr wrap="square" lIns="0" tIns="0" rIns="0" bIns="0" rtlCol="0" anchor="ctr"/>
          <a:lstStyle/>
          <a:p>
            <a:pPr indent="0" marL="0">
              <a:lnSpc>
                <a:spcPts val="1800"/>
              </a:lnSpc>
              <a:buNone/>
            </a:pPr>
            <a:r>
              <a:rPr lang="en-US" sz="1400" b="1" dirty="0">
                <a:solidFill>
                  <a:srgbClr val="02C39A"/>
                </a:solidFill>
                <a:latin typeface="Calibri" pitchFamily="34" charset="0"/>
                <a:ea typeface="Calibri" pitchFamily="34" charset="-122"/>
                <a:cs typeface="Calibri" pitchFamily="34" charset="-120"/>
              </a:rPr>
              <a:t>Settings snapshot per run</a:t>
            </a:r>
            <a:endParaRPr lang="en-US" sz="1400" dirty="0"/>
          </a:p>
        </p:txBody>
      </p:sp>
      <p:sp>
        <p:nvSpPr>
          <p:cNvPr id="20" name="Text 18"/>
          <p:cNvSpPr/>
          <p:nvPr/>
        </p:nvSpPr>
        <p:spPr>
          <a:xfrm>
            <a:off x="4581144" y="5230368"/>
            <a:ext cx="3026664"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A run uses the config it started with; cron jobs re-register only between runs.</a:t>
            </a:r>
            <a:endParaRPr lang="en-US" sz="1150" dirty="0"/>
          </a:p>
        </p:txBody>
      </p:sp>
      <p:sp>
        <p:nvSpPr>
          <p:cNvPr id="21" name="Shape 19"/>
          <p:cNvSpPr/>
          <p:nvPr/>
        </p:nvSpPr>
        <p:spPr>
          <a:xfrm>
            <a:off x="8119872" y="4572000"/>
            <a:ext cx="3502152" cy="1572768"/>
          </a:xfrm>
          <a:prstGeom prst="roundRect">
            <a:avLst>
              <a:gd name="adj" fmla="val 3488"/>
            </a:avLst>
          </a:prstGeom>
          <a:solidFill>
            <a:srgbClr val="1B2C45"/>
          </a:solidFill>
          <a:ln w="12700">
            <a:solidFill>
              <a:srgbClr val="2E4664"/>
            </a:solidFill>
            <a:prstDash val="solid"/>
          </a:ln>
        </p:spPr>
      </p:sp>
      <p:sp>
        <p:nvSpPr>
          <p:cNvPr id="22" name="Text 20"/>
          <p:cNvSpPr/>
          <p:nvPr/>
        </p:nvSpPr>
        <p:spPr>
          <a:xfrm>
            <a:off x="8357616" y="4773168"/>
            <a:ext cx="3026664" cy="457200"/>
          </a:xfrm>
          <a:prstGeom prst="rect">
            <a:avLst/>
          </a:prstGeom>
          <a:noFill/>
          <a:ln/>
        </p:spPr>
        <p:txBody>
          <a:bodyPr wrap="square" lIns="0" tIns="0" rIns="0" bIns="0" rtlCol="0" anchor="ctr"/>
          <a:lstStyle/>
          <a:p>
            <a:pPr indent="0" marL="0">
              <a:lnSpc>
                <a:spcPts val="1800"/>
              </a:lnSpc>
              <a:buNone/>
            </a:pPr>
            <a:r>
              <a:rPr lang="en-US" sz="1400" b="1" dirty="0">
                <a:solidFill>
                  <a:srgbClr val="02C39A"/>
                </a:solidFill>
                <a:latin typeface="Calibri" pitchFamily="34" charset="0"/>
                <a:ea typeface="Calibri" pitchFamily="34" charset="-122"/>
                <a:cs typeface="Calibri" pitchFamily="34" charset="-120"/>
              </a:rPr>
              <a:t>Every rejection is recorded</a:t>
            </a:r>
            <a:endParaRPr lang="en-US" sz="1400" dirty="0"/>
          </a:p>
        </p:txBody>
      </p:sp>
      <p:sp>
        <p:nvSpPr>
          <p:cNvPr id="23" name="Text 21"/>
          <p:cNvSpPr/>
          <p:nvPr/>
        </p:nvSpPr>
        <p:spPr>
          <a:xfrm>
            <a:off x="8357616" y="5230368"/>
            <a:ext cx="3026664" cy="822960"/>
          </a:xfrm>
          <a:prstGeom prst="rect">
            <a:avLst/>
          </a:prstGeom>
          <a:noFill/>
          <a:ln/>
        </p:spPr>
        <p:txBody>
          <a:bodyPr wrap="square" lIns="0" tIns="0" rIns="0" bIns="0" rtlCol="0" anchor="t"/>
          <a:lstStyle/>
          <a:p>
            <a:pPr indent="0" marL="0">
              <a:lnSpc>
                <a:spcPts val="1500"/>
              </a:lnSpc>
              <a:buNone/>
            </a:pPr>
            <a:r>
              <a:rPr lang="en-US" sz="1150" dirty="0">
                <a:solidFill>
                  <a:srgbClr val="CADCFC"/>
                </a:solidFill>
                <a:latin typeface="Calibri" pitchFamily="34" charset="0"/>
                <a:ea typeface="Calibri" pitchFamily="34" charset="-122"/>
                <a:cs typeface="Calibri" pitchFamily="34" charset="-120"/>
              </a:rPr>
              <a:t>Risk-engine refusals are persisted with a reason, so a quiet run is explainable.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UI &amp; DEPLOYMENT</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Phase 1 surface, and how it ships</a:t>
            </a:r>
            <a:endParaRPr lang="en-US" sz="3600" dirty="0"/>
          </a:p>
        </p:txBody>
      </p:sp>
      <p:sp>
        <p:nvSpPr>
          <p:cNvPr id="4" name="Shape 2"/>
          <p:cNvSpPr/>
          <p:nvPr/>
        </p:nvSpPr>
        <p:spPr>
          <a:xfrm>
            <a:off x="566928" y="1783080"/>
            <a:ext cx="5989320" cy="4069080"/>
          </a:xfrm>
          <a:prstGeom prst="roundRect">
            <a:avLst>
              <a:gd name="adj" fmla="val 1348"/>
            </a:avLst>
          </a:prstGeom>
          <a:solidFill>
            <a:srgbClr val="E3F2EE"/>
          </a:solidFill>
          <a:ln w="6350">
            <a:solidFill>
              <a:srgbClr val="E3F2EE"/>
            </a:solidFill>
            <a:prstDash val="solid"/>
          </a:ln>
        </p:spPr>
      </p:sp>
      <p:sp>
        <p:nvSpPr>
          <p:cNvPr id="5" name="Text 3"/>
          <p:cNvSpPr/>
          <p:nvPr/>
        </p:nvSpPr>
        <p:spPr>
          <a:xfrm>
            <a:off x="841248" y="1975104"/>
            <a:ext cx="5440680" cy="502920"/>
          </a:xfrm>
          <a:prstGeom prst="rect">
            <a:avLst/>
          </a:prstGeom>
          <a:noFill/>
          <a:ln/>
        </p:spPr>
        <p:txBody>
          <a:bodyPr wrap="square" lIns="0" tIns="0" rIns="0" bIns="0" rtlCol="0" anchor="ctr"/>
          <a:lstStyle/>
          <a:p>
            <a:pPr indent="0" marL="0">
              <a:lnSpc>
                <a:spcPts val="1800"/>
              </a:lnSpc>
              <a:buNone/>
            </a:pPr>
            <a:r>
              <a:rPr lang="en-US" sz="1350" b="1" dirty="0">
                <a:solidFill>
                  <a:srgbClr val="028090"/>
                </a:solidFill>
                <a:latin typeface="Calibri" pitchFamily="34" charset="0"/>
                <a:ea typeface="Calibri" pitchFamily="34" charset="-122"/>
                <a:cs typeface="Calibri" pitchFamily="34" charset="-120"/>
              </a:rPr>
              <a:t>Eight screens — Phase 1 is done when these render, persist and round-trip</a:t>
            </a:r>
            <a:endParaRPr lang="en-US" sz="1350" dirty="0"/>
          </a:p>
        </p:txBody>
      </p:sp>
      <p:sp>
        <p:nvSpPr>
          <p:cNvPr id="6" name="Text 4"/>
          <p:cNvSpPr/>
          <p:nvPr/>
        </p:nvSpPr>
        <p:spPr>
          <a:xfrm>
            <a:off x="841248" y="2578608"/>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Dashboard</a:t>
            </a:r>
            <a:endParaRPr lang="en-US" sz="1250" dirty="0"/>
          </a:p>
        </p:txBody>
      </p:sp>
      <p:sp>
        <p:nvSpPr>
          <p:cNvPr id="7" name="Text 5"/>
          <p:cNvSpPr/>
          <p:nvPr/>
        </p:nvSpPr>
        <p:spPr>
          <a:xfrm>
            <a:off x="2779776" y="2578608"/>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kill switch, mode badge, next scheduled run, health tiles</a:t>
            </a:r>
            <a:endParaRPr lang="en-US" sz="1150" dirty="0"/>
          </a:p>
        </p:txBody>
      </p:sp>
      <p:sp>
        <p:nvSpPr>
          <p:cNvPr id="8" name="Text 6"/>
          <p:cNvSpPr/>
          <p:nvPr/>
        </p:nvSpPr>
        <p:spPr>
          <a:xfrm>
            <a:off x="841248" y="2962656"/>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General &amp; Trading</a:t>
            </a:r>
            <a:endParaRPr lang="en-US" sz="1250" dirty="0"/>
          </a:p>
        </p:txBody>
      </p:sp>
      <p:sp>
        <p:nvSpPr>
          <p:cNvPr id="9" name="Text 7"/>
          <p:cNvSpPr/>
          <p:nvPr/>
        </p:nvSpPr>
        <p:spPr>
          <a:xfrm>
            <a:off x="2779776" y="2962656"/>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mode, starting cash, reset paper account</a:t>
            </a:r>
            <a:endParaRPr lang="en-US" sz="1150" dirty="0"/>
          </a:p>
        </p:txBody>
      </p:sp>
      <p:sp>
        <p:nvSpPr>
          <p:cNvPr id="10" name="Text 8"/>
          <p:cNvSpPr/>
          <p:nvPr/>
        </p:nvSpPr>
        <p:spPr>
          <a:xfrm>
            <a:off x="841248" y="3346704"/>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Watchlist</a:t>
            </a:r>
            <a:endParaRPr lang="en-US" sz="1250" dirty="0"/>
          </a:p>
        </p:txBody>
      </p:sp>
      <p:sp>
        <p:nvSpPr>
          <p:cNvPr id="11" name="Text 9"/>
          <p:cNvSpPr/>
          <p:nvPr/>
        </p:nvSpPr>
        <p:spPr>
          <a:xfrm>
            <a:off x="2779776" y="3346704"/>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add validates against a live quote — the vertical slice</a:t>
            </a:r>
            <a:endParaRPr lang="en-US" sz="1150" dirty="0"/>
          </a:p>
        </p:txBody>
      </p:sp>
      <p:sp>
        <p:nvSpPr>
          <p:cNvPr id="12" name="Text 10"/>
          <p:cNvSpPr/>
          <p:nvPr/>
        </p:nvSpPr>
        <p:spPr>
          <a:xfrm>
            <a:off x="841248" y="3730752"/>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Data Sources</a:t>
            </a:r>
            <a:endParaRPr lang="en-US" sz="1250" dirty="0"/>
          </a:p>
        </p:txBody>
      </p:sp>
      <p:sp>
        <p:nvSpPr>
          <p:cNvPr id="13" name="Text 11"/>
          <p:cNvSpPr/>
          <p:nvPr/>
        </p:nvSpPr>
        <p:spPr>
          <a:xfrm>
            <a:off x="2779776" y="3730752"/>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provider select, write-only key field, Test connection</a:t>
            </a:r>
            <a:endParaRPr lang="en-US" sz="1150" dirty="0"/>
          </a:p>
        </p:txBody>
      </p:sp>
      <p:sp>
        <p:nvSpPr>
          <p:cNvPr id="14" name="Text 12"/>
          <p:cNvSpPr/>
          <p:nvPr/>
        </p:nvSpPr>
        <p:spPr>
          <a:xfrm>
            <a:off x="841248" y="4114800"/>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LLM provider</a:t>
            </a:r>
            <a:endParaRPr lang="en-US" sz="1250" dirty="0"/>
          </a:p>
        </p:txBody>
      </p:sp>
      <p:sp>
        <p:nvSpPr>
          <p:cNvPr id="15" name="Text 13"/>
          <p:cNvSpPr/>
          <p:nvPr/>
        </p:nvSpPr>
        <p:spPr>
          <a:xfrm>
            <a:off x="2779776" y="4114800"/>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base URL, model, credentials, one-token Test</a:t>
            </a:r>
            <a:endParaRPr lang="en-US" sz="1150" dirty="0"/>
          </a:p>
        </p:txBody>
      </p:sp>
      <p:sp>
        <p:nvSpPr>
          <p:cNvPr id="16" name="Text 14"/>
          <p:cNvSpPr/>
          <p:nvPr/>
        </p:nvSpPr>
        <p:spPr>
          <a:xfrm>
            <a:off x="841248" y="4498848"/>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Schedule</a:t>
            </a:r>
            <a:endParaRPr lang="en-US" sz="1250" dirty="0"/>
          </a:p>
        </p:txBody>
      </p:sp>
      <p:sp>
        <p:nvSpPr>
          <p:cNvPr id="17" name="Text 15"/>
          <p:cNvSpPr/>
          <p:nvPr/>
        </p:nvSpPr>
        <p:spPr>
          <a:xfrm>
            <a:off x="2779776" y="4498848"/>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timezone, friendly builder, next 5 runs preview</a:t>
            </a:r>
            <a:endParaRPr lang="en-US" sz="1150" dirty="0"/>
          </a:p>
        </p:txBody>
      </p:sp>
      <p:sp>
        <p:nvSpPr>
          <p:cNvPr id="18" name="Text 16"/>
          <p:cNvSpPr/>
          <p:nvPr/>
        </p:nvSpPr>
        <p:spPr>
          <a:xfrm>
            <a:off x="841248" y="4882896"/>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Risk &amp; Sizing</a:t>
            </a:r>
            <a:endParaRPr lang="en-US" sz="1250" dirty="0"/>
          </a:p>
        </p:txBody>
      </p:sp>
      <p:sp>
        <p:nvSpPr>
          <p:cNvPr id="19" name="Text 17"/>
          <p:cNvSpPr/>
          <p:nvPr/>
        </p:nvSpPr>
        <p:spPr>
          <a:xfrm>
            <a:off x="2779776" y="4882896"/>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all guardrail parameters — set now, consumed in Phase 2</a:t>
            </a:r>
            <a:endParaRPr lang="en-US" sz="1150" dirty="0"/>
          </a:p>
        </p:txBody>
      </p:sp>
      <p:sp>
        <p:nvSpPr>
          <p:cNvPr id="20" name="Text 18"/>
          <p:cNvSpPr/>
          <p:nvPr/>
        </p:nvSpPr>
        <p:spPr>
          <a:xfrm>
            <a:off x="841248" y="5266944"/>
            <a:ext cx="1920240" cy="256032"/>
          </a:xfrm>
          <a:prstGeom prst="rect">
            <a:avLst/>
          </a:prstGeom>
          <a:noFill/>
          <a:ln/>
        </p:spPr>
        <p:txBody>
          <a:bodyPr wrap="square" lIns="0" tIns="0" rIns="0" bIns="0" rtlCol="0" anchor="ctr"/>
          <a:lstStyle/>
          <a:p>
            <a:pPr indent="0" marL="0">
              <a:buNone/>
            </a:pPr>
            <a:r>
              <a:rPr lang="en-US" sz="1250" b="1" dirty="0">
                <a:solidFill>
                  <a:srgbClr val="16222F"/>
                </a:solidFill>
                <a:latin typeface="Calibri" pitchFamily="34" charset="0"/>
                <a:ea typeface="Calibri" pitchFamily="34" charset="-122"/>
                <a:cs typeface="Calibri" pitchFamily="34" charset="-120"/>
              </a:rPr>
              <a:t>About / Health</a:t>
            </a:r>
            <a:endParaRPr lang="en-US" sz="1250" dirty="0"/>
          </a:p>
        </p:txBody>
      </p:sp>
      <p:sp>
        <p:nvSpPr>
          <p:cNvPr id="21" name="Text 19"/>
          <p:cNvSpPr/>
          <p:nvPr/>
        </p:nvSpPr>
        <p:spPr>
          <a:xfrm>
            <a:off x="2779776" y="5266944"/>
            <a:ext cx="3520440" cy="256032"/>
          </a:xfrm>
          <a:prstGeom prst="rect">
            <a:avLst/>
          </a:prstGeom>
          <a:noFill/>
          <a:ln/>
        </p:spPr>
        <p:txBody>
          <a:bodyPr wrap="square" lIns="0" tIns="0" rIns="0" bIns="0" rtlCol="0" anchor="ctr"/>
          <a:lstStyle/>
          <a:p>
            <a:pPr indent="0" marL="0">
              <a:buNone/>
            </a:pPr>
            <a:r>
              <a:rPr lang="en-US" sz="1150" dirty="0">
                <a:solidFill>
                  <a:srgbClr val="5E6E7E"/>
                </a:solidFill>
                <a:latin typeface="Calibri" pitchFamily="34" charset="0"/>
                <a:ea typeface="Calibri" pitchFamily="34" charset="-122"/>
                <a:cs typeface="Calibri" pitchFamily="34" charset="-120"/>
              </a:rPr>
              <a:t>version, DB path and size, enc-key present, migration</a:t>
            </a:r>
            <a:endParaRPr lang="en-US" sz="1150" dirty="0"/>
          </a:p>
        </p:txBody>
      </p:sp>
      <p:sp>
        <p:nvSpPr>
          <p:cNvPr id="22" name="Shape 20"/>
          <p:cNvSpPr/>
          <p:nvPr/>
        </p:nvSpPr>
        <p:spPr>
          <a:xfrm>
            <a:off x="6830568" y="1783080"/>
            <a:ext cx="4791456" cy="2331720"/>
          </a:xfrm>
          <a:prstGeom prst="roundRect">
            <a:avLst>
              <a:gd name="adj" fmla="val 2353"/>
            </a:avLst>
          </a:prstGeom>
          <a:solidFill>
            <a:srgbClr val="0F1B2D"/>
          </a:solidFill>
          <a:ln w="6350">
            <a:solidFill>
              <a:srgbClr val="0F1B2D"/>
            </a:solidFill>
            <a:prstDash val="solid"/>
          </a:ln>
        </p:spPr>
      </p:sp>
      <p:sp>
        <p:nvSpPr>
          <p:cNvPr id="23" name="Text 21"/>
          <p:cNvSpPr/>
          <p:nvPr/>
        </p:nvSpPr>
        <p:spPr>
          <a:xfrm>
            <a:off x="7104888" y="1975104"/>
            <a:ext cx="4242816" cy="292608"/>
          </a:xfrm>
          <a:prstGeom prst="rect">
            <a:avLst/>
          </a:prstGeom>
          <a:noFill/>
          <a:ln/>
        </p:spPr>
        <p:txBody>
          <a:bodyPr wrap="square" lIns="0" tIns="0" rIns="0" bIns="0" rtlCol="0" anchor="ctr"/>
          <a:lstStyle/>
          <a:p>
            <a:pPr indent="0" marL="0">
              <a:buNone/>
            </a:pPr>
            <a:r>
              <a:rPr lang="en-US" sz="1500" b="1" dirty="0">
                <a:solidFill>
                  <a:srgbClr val="02C39A"/>
                </a:solidFill>
                <a:latin typeface="Calibri" pitchFamily="34" charset="0"/>
                <a:ea typeface="Calibri" pitchFamily="34" charset="-122"/>
                <a:cs typeface="Calibri" pitchFamily="34" charset="-120"/>
              </a:rPr>
              <a:t>Single container</a:t>
            </a:r>
            <a:endParaRPr lang="en-US" sz="1500" dirty="0"/>
          </a:p>
        </p:txBody>
      </p:sp>
      <p:sp>
        <p:nvSpPr>
          <p:cNvPr id="24" name="Text 22"/>
          <p:cNvSpPr/>
          <p:nvPr/>
        </p:nvSpPr>
        <p:spPr>
          <a:xfrm>
            <a:off x="7104888" y="2340864"/>
            <a:ext cx="4242816" cy="1691640"/>
          </a:xfrm>
          <a:prstGeom prst="rect">
            <a:avLst/>
          </a:prstGeom>
          <a:noFill/>
          <a:ln/>
        </p:spPr>
        <p:txBody>
          <a:bodyPr wrap="square" lIns="0" tIns="0" rIns="0" bIns="0" rtlCol="0" anchor="t"/>
          <a:lstStyle/>
          <a:p>
            <a:pPr marL="342900" indent="-342900">
              <a:lnSpc>
                <a:spcPts val="155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Multi-stage node:22-bookworm → -slim. Not Alpine — better-sqlite3 is native and musl builds are a recurring source of pain.</a:t>
            </a:r>
            <a:endParaRPr lang="en-US" sz="1150" dirty="0"/>
          </a:p>
          <a:p>
            <a:pPr marL="342900" indent="-342900">
              <a:lnSpc>
                <a:spcPts val="155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No supervisor: Express and the croner scheduler share one Node process. The cycle is I/O-bound, so it won't block the loop. tini is PID 1.</a:t>
            </a:r>
            <a:endParaRPr lang="en-US" sz="1150" dirty="0"/>
          </a:p>
          <a:p>
            <a:pPr marL="342900" indent="-342900">
              <a:lnSpc>
                <a:spcPts val="1550"/>
              </a:lnSpc>
              <a:spcAft>
                <a:spcPts val="600"/>
              </a:spcAft>
              <a:buSzPct val="100000"/>
              <a:buChar char="•"/>
            </a:pPr>
            <a:r>
              <a:rPr lang="en-US" sz="1150" dirty="0">
                <a:solidFill>
                  <a:srgbClr val="CADCFC"/>
                </a:solidFill>
                <a:latin typeface="Calibri" pitchFamily="34" charset="0"/>
                <a:ea typeface="Calibri" pitchFamily="34" charset="-122"/>
                <a:cs typeface="Calibri" pitchFamily="34" charset="-120"/>
              </a:rPr>
              <a:t>Volume /data holds atn.db + WAL. Migrations run before listen. HEALTHCHECK hits /api/health.</a:t>
            </a:r>
            <a:endParaRPr lang="en-US" sz="1150" dirty="0"/>
          </a:p>
        </p:txBody>
      </p:sp>
      <p:sp>
        <p:nvSpPr>
          <p:cNvPr id="25" name="Shape 23"/>
          <p:cNvSpPr/>
          <p:nvPr/>
        </p:nvSpPr>
        <p:spPr>
          <a:xfrm>
            <a:off x="6830568" y="4370832"/>
            <a:ext cx="4791456" cy="1481328"/>
          </a:xfrm>
          <a:prstGeom prst="roundRect">
            <a:avLst>
              <a:gd name="adj" fmla="val 3704"/>
            </a:avLst>
          </a:prstGeom>
          <a:solidFill>
            <a:srgbClr val="EEF4F7"/>
          </a:solidFill>
          <a:ln w="6350">
            <a:solidFill>
              <a:srgbClr val="EEF4F7"/>
            </a:solidFill>
            <a:prstDash val="solid"/>
          </a:ln>
        </p:spPr>
      </p:sp>
      <p:sp>
        <p:nvSpPr>
          <p:cNvPr id="26" name="Text 24"/>
          <p:cNvSpPr/>
          <p:nvPr/>
        </p:nvSpPr>
        <p:spPr>
          <a:xfrm>
            <a:off x="7104888" y="4553712"/>
            <a:ext cx="4242816" cy="274320"/>
          </a:xfrm>
          <a:prstGeom prst="rect">
            <a:avLst/>
          </a:prstGeom>
          <a:noFill/>
          <a:ln/>
        </p:spPr>
        <p:txBody>
          <a:bodyPr wrap="square" lIns="0" tIns="0" rIns="0" bIns="0"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What would force a split</a:t>
            </a:r>
            <a:endParaRPr lang="en-US" sz="1400" dirty="0"/>
          </a:p>
        </p:txBody>
      </p:sp>
      <p:sp>
        <p:nvSpPr>
          <p:cNvPr id="27" name="Text 25"/>
          <p:cNvSpPr/>
          <p:nvPr/>
        </p:nvSpPr>
        <p:spPr>
          <a:xfrm>
            <a:off x="7104888" y="4864608"/>
            <a:ext cx="4242816" cy="868680"/>
          </a:xfrm>
          <a:prstGeom prst="rect">
            <a:avLst/>
          </a:prstGeom>
          <a:noFill/>
          <a:ln/>
        </p:spPr>
        <p:txBody>
          <a:bodyPr wrap="square" lIns="0" tIns="0" rIns="0" bIns="0" rtlCol="0" anchor="ctr"/>
          <a:lstStyle/>
          <a:p>
            <a:pPr indent="0" marL="0">
              <a:lnSpc>
                <a:spcPts val="1550"/>
              </a:lnSpc>
              <a:buNone/>
            </a:pPr>
            <a:r>
              <a:rPr lang="en-US" sz="1150" dirty="0">
                <a:solidFill>
                  <a:srgbClr val="16222F"/>
                </a:solidFill>
                <a:latin typeface="Calibri" pitchFamily="34" charset="0"/>
                <a:ea typeface="Calibri" pitchFamily="34" charset="-122"/>
                <a:cs typeface="Calibri" pitchFamily="34" charset="-120"/>
              </a:rPr>
              <a:t>A CPU-bound cycle, or a worker that must restart independently of the UI. The path is already open — ATN_ROLE=web and ATN_ROLE=worker run the same image twice. The real constraint then is SQLite: WAL works across processes on one host, not across hosts. That is the point to move to Postgres, and not before.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IMPLEMENTATION PLAN</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35 steps, phase- and role-tagged</a:t>
            </a:r>
            <a:endParaRPr lang="en-US" sz="3600" dirty="0"/>
          </a:p>
        </p:txBody>
      </p:sp>
      <p:sp>
        <p:nvSpPr>
          <p:cNvPr id="4" name="Shape 2"/>
          <p:cNvSpPr/>
          <p:nvPr/>
        </p:nvSpPr>
        <p:spPr>
          <a:xfrm>
            <a:off x="566928" y="1783080"/>
            <a:ext cx="5394960" cy="3611880"/>
          </a:xfrm>
          <a:prstGeom prst="roundRect">
            <a:avLst>
              <a:gd name="adj" fmla="val 1519"/>
            </a:avLst>
          </a:prstGeom>
          <a:solidFill>
            <a:srgbClr val="E3F2EE"/>
          </a:solidFill>
          <a:ln w="6350">
            <a:solidFill>
              <a:srgbClr val="E3F2EE"/>
            </a:solidFill>
            <a:prstDash val="solid"/>
          </a:ln>
        </p:spPr>
      </p:sp>
      <p:sp>
        <p:nvSpPr>
          <p:cNvPr id="5" name="Text 3"/>
          <p:cNvSpPr/>
          <p:nvPr/>
        </p:nvSpPr>
        <p:spPr>
          <a:xfrm>
            <a:off x="841248" y="1975104"/>
            <a:ext cx="4846320"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PHASE 1 — STEPS 1–18</a:t>
            </a:r>
            <a:endParaRPr lang="en-US" sz="1150" dirty="0"/>
          </a:p>
        </p:txBody>
      </p:sp>
      <p:sp>
        <p:nvSpPr>
          <p:cNvPr id="6" name="Text 4"/>
          <p:cNvSpPr/>
          <p:nvPr/>
        </p:nvSpPr>
        <p:spPr>
          <a:xfrm>
            <a:off x="841248" y="2395728"/>
            <a:ext cx="658368" cy="27432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1–2</a:t>
            </a:r>
            <a:endParaRPr lang="en-US" sz="1200" dirty="0"/>
          </a:p>
        </p:txBody>
      </p:sp>
      <p:sp>
        <p:nvSpPr>
          <p:cNvPr id="7" name="Text 5"/>
          <p:cNvSpPr/>
          <p:nvPr/>
        </p:nvSpPr>
        <p:spPr>
          <a:xfrm>
            <a:off x="1527048" y="237744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Repo, workspaces, tsconfig, Vite and server scaffolds</a:t>
            </a:r>
            <a:endParaRPr lang="en-US" sz="1150" dirty="0"/>
          </a:p>
        </p:txBody>
      </p:sp>
      <p:sp>
        <p:nvSpPr>
          <p:cNvPr id="8" name="Text 6"/>
          <p:cNvSpPr/>
          <p:nvPr/>
        </p:nvSpPr>
        <p:spPr>
          <a:xfrm>
            <a:off x="5047488" y="2414016"/>
            <a:ext cx="685800" cy="237744"/>
          </a:xfrm>
          <a:prstGeom prst="rect">
            <a:avLst/>
          </a:prstGeom>
          <a:noFill/>
          <a:ln/>
        </p:spPr>
        <p:txBody>
          <a:bodyPr wrap="square" lIns="0" tIns="0" rIns="0" bIns="0" rtlCol="0" anchor="ctr"/>
          <a:lstStyle/>
          <a:p>
            <a:pPr algn="r" indent="0" marL="0">
              <a:buNone/>
            </a:pPr>
            <a:r>
              <a:rPr lang="en-US" sz="1000" i="1" dirty="0">
                <a:solidFill>
                  <a:srgbClr val="5E6E7E"/>
                </a:solidFill>
                <a:latin typeface="Calibri" pitchFamily="34" charset="0"/>
                <a:ea typeface="Calibri" pitchFamily="34" charset="-122"/>
                <a:cs typeface="Calibri" pitchFamily="34" charset="-120"/>
              </a:rPr>
              <a:t>junior</a:t>
            </a:r>
            <a:endParaRPr lang="en-US" sz="1000" dirty="0"/>
          </a:p>
        </p:txBody>
      </p:sp>
      <p:sp>
        <p:nvSpPr>
          <p:cNvPr id="9" name="Text 7"/>
          <p:cNvSpPr/>
          <p:nvPr/>
        </p:nvSpPr>
        <p:spPr>
          <a:xfrm>
            <a:off x="841248" y="2898648"/>
            <a:ext cx="658368" cy="27432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3–5</a:t>
            </a:r>
            <a:endParaRPr lang="en-US" sz="1200" dirty="0"/>
          </a:p>
        </p:txBody>
      </p:sp>
      <p:sp>
        <p:nvSpPr>
          <p:cNvPr id="10" name="Text 8"/>
          <p:cNvSpPr/>
          <p:nvPr/>
        </p:nvSpPr>
        <p:spPr>
          <a:xfrm>
            <a:off x="1527048" y="288036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Shared zod settings schema, DB + migration runner, secretBox and money helpers</a:t>
            </a:r>
            <a:endParaRPr lang="en-US" sz="1150" dirty="0"/>
          </a:p>
        </p:txBody>
      </p:sp>
      <p:sp>
        <p:nvSpPr>
          <p:cNvPr id="11" name="Text 9"/>
          <p:cNvSpPr/>
          <p:nvPr/>
        </p:nvSpPr>
        <p:spPr>
          <a:xfrm>
            <a:off x="5047488" y="2916936"/>
            <a:ext cx="685800" cy="237744"/>
          </a:xfrm>
          <a:prstGeom prst="rect">
            <a:avLst/>
          </a:prstGeom>
          <a:noFill/>
          <a:ln/>
        </p:spPr>
        <p:txBody>
          <a:bodyPr wrap="square" lIns="0" tIns="0" rIns="0" bIns="0" rtlCol="0" anchor="ctr"/>
          <a:lstStyle/>
          <a:p>
            <a:pPr algn="r" indent="0" marL="0">
              <a:buNone/>
            </a:pPr>
            <a:r>
              <a:rPr lang="en-US" sz="1000" i="1" dirty="0">
                <a:solidFill>
                  <a:srgbClr val="5E6E7E"/>
                </a:solidFill>
                <a:latin typeface="Calibri" pitchFamily="34" charset="0"/>
                <a:ea typeface="Calibri" pitchFamily="34" charset="-122"/>
                <a:cs typeface="Calibri" pitchFamily="34" charset="-120"/>
              </a:rPr>
              <a:t>senior</a:t>
            </a:r>
            <a:endParaRPr lang="en-US" sz="1000" dirty="0"/>
          </a:p>
        </p:txBody>
      </p:sp>
      <p:sp>
        <p:nvSpPr>
          <p:cNvPr id="12" name="Text 10"/>
          <p:cNvSpPr/>
          <p:nvPr/>
        </p:nvSpPr>
        <p:spPr>
          <a:xfrm>
            <a:off x="841248" y="3401568"/>
            <a:ext cx="658368" cy="27432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6–7</a:t>
            </a:r>
            <a:endParaRPr lang="en-US" sz="1200" dirty="0"/>
          </a:p>
        </p:txBody>
      </p:sp>
      <p:sp>
        <p:nvSpPr>
          <p:cNvPr id="13" name="Text 11"/>
          <p:cNvSpPr/>
          <p:nvPr/>
        </p:nvSpPr>
        <p:spPr>
          <a:xfrm>
            <a:off x="1527048" y="338328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Settings service, repositories, Express factory and composition root</a:t>
            </a:r>
            <a:endParaRPr lang="en-US" sz="1150" dirty="0"/>
          </a:p>
        </p:txBody>
      </p:sp>
      <p:sp>
        <p:nvSpPr>
          <p:cNvPr id="14" name="Text 12"/>
          <p:cNvSpPr/>
          <p:nvPr/>
        </p:nvSpPr>
        <p:spPr>
          <a:xfrm>
            <a:off x="5047488" y="3419856"/>
            <a:ext cx="685800" cy="237744"/>
          </a:xfrm>
          <a:prstGeom prst="rect">
            <a:avLst/>
          </a:prstGeom>
          <a:noFill/>
          <a:ln/>
        </p:spPr>
        <p:txBody>
          <a:bodyPr wrap="square" lIns="0" tIns="0" rIns="0" bIns="0" rtlCol="0" anchor="ctr"/>
          <a:lstStyle/>
          <a:p>
            <a:pPr algn="r" indent="0" marL="0">
              <a:buNone/>
            </a:pPr>
            <a:r>
              <a:rPr lang="en-US" sz="1000" i="1" dirty="0">
                <a:solidFill>
                  <a:srgbClr val="5E6E7E"/>
                </a:solidFill>
                <a:latin typeface="Calibri" pitchFamily="34" charset="0"/>
                <a:ea typeface="Calibri" pitchFamily="34" charset="-122"/>
                <a:cs typeface="Calibri" pitchFamily="34" charset="-120"/>
              </a:rPr>
              <a:t>senior</a:t>
            </a:r>
            <a:endParaRPr lang="en-US" sz="1000" dirty="0"/>
          </a:p>
        </p:txBody>
      </p:sp>
      <p:sp>
        <p:nvSpPr>
          <p:cNvPr id="15" name="Text 13"/>
          <p:cNvSpPr/>
          <p:nvPr/>
        </p:nvSpPr>
        <p:spPr>
          <a:xfrm>
            <a:off x="841248" y="3904488"/>
            <a:ext cx="658368" cy="27432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8–9</a:t>
            </a:r>
            <a:endParaRPr lang="en-US" sz="1200" dirty="0"/>
          </a:p>
        </p:txBody>
      </p:sp>
      <p:sp>
        <p:nvSpPr>
          <p:cNvPr id="16" name="Text 14"/>
          <p:cNvSpPr/>
          <p:nvPr/>
        </p:nvSpPr>
        <p:spPr>
          <a:xfrm>
            <a:off x="1527048" y="388620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Health, settings and secrets routes</a:t>
            </a:r>
            <a:endParaRPr lang="en-US" sz="1150" dirty="0"/>
          </a:p>
        </p:txBody>
      </p:sp>
      <p:sp>
        <p:nvSpPr>
          <p:cNvPr id="17" name="Text 15"/>
          <p:cNvSpPr/>
          <p:nvPr/>
        </p:nvSpPr>
        <p:spPr>
          <a:xfrm>
            <a:off x="5047488" y="3922776"/>
            <a:ext cx="685800" cy="237744"/>
          </a:xfrm>
          <a:prstGeom prst="rect">
            <a:avLst/>
          </a:prstGeom>
          <a:noFill/>
          <a:ln/>
        </p:spPr>
        <p:txBody>
          <a:bodyPr wrap="square" lIns="0" tIns="0" rIns="0" bIns="0" rtlCol="0" anchor="ctr"/>
          <a:lstStyle/>
          <a:p>
            <a:pPr algn="r" indent="0" marL="0">
              <a:buNone/>
            </a:pPr>
            <a:r>
              <a:rPr lang="en-US" sz="1000" i="1" dirty="0">
                <a:solidFill>
                  <a:srgbClr val="5E6E7E"/>
                </a:solidFill>
                <a:latin typeface="Calibri" pitchFamily="34" charset="0"/>
                <a:ea typeface="Calibri" pitchFamily="34" charset="-122"/>
                <a:cs typeface="Calibri" pitchFamily="34" charset="-120"/>
              </a:rPr>
              <a:t>junior</a:t>
            </a:r>
            <a:endParaRPr lang="en-US" sz="1000" dirty="0"/>
          </a:p>
        </p:txBody>
      </p:sp>
      <p:sp>
        <p:nvSpPr>
          <p:cNvPr id="18" name="Text 16"/>
          <p:cNvSpPr/>
          <p:nvPr/>
        </p:nvSpPr>
        <p:spPr>
          <a:xfrm>
            <a:off x="841248" y="4407408"/>
            <a:ext cx="658368" cy="27432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10–13</a:t>
            </a:r>
            <a:endParaRPr lang="en-US" sz="1200" dirty="0"/>
          </a:p>
        </p:txBody>
      </p:sp>
      <p:sp>
        <p:nvSpPr>
          <p:cNvPr id="19" name="Text 17"/>
          <p:cNvSpPr/>
          <p:nvPr/>
        </p:nvSpPr>
        <p:spPr>
          <a:xfrm>
            <a:off x="1527048" y="438912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Price data source, symbol validation, LLM client, four connectors, market calendar</a:t>
            </a:r>
            <a:endParaRPr lang="en-US" sz="1150" dirty="0"/>
          </a:p>
        </p:txBody>
      </p:sp>
      <p:sp>
        <p:nvSpPr>
          <p:cNvPr id="20" name="Text 18"/>
          <p:cNvSpPr/>
          <p:nvPr/>
        </p:nvSpPr>
        <p:spPr>
          <a:xfrm>
            <a:off x="5047488" y="4425696"/>
            <a:ext cx="685800" cy="237744"/>
          </a:xfrm>
          <a:prstGeom prst="rect">
            <a:avLst/>
          </a:prstGeom>
          <a:noFill/>
          <a:ln/>
        </p:spPr>
        <p:txBody>
          <a:bodyPr wrap="square" lIns="0" tIns="0" rIns="0" bIns="0" rtlCol="0" anchor="ctr"/>
          <a:lstStyle/>
          <a:p>
            <a:pPr algn="r" indent="0" marL="0">
              <a:buNone/>
            </a:pPr>
            <a:r>
              <a:rPr lang="en-US" sz="1000" i="1" dirty="0">
                <a:solidFill>
                  <a:srgbClr val="5E6E7E"/>
                </a:solidFill>
                <a:latin typeface="Calibri" pitchFamily="34" charset="0"/>
                <a:ea typeface="Calibri" pitchFamily="34" charset="-122"/>
                <a:cs typeface="Calibri" pitchFamily="34" charset="-120"/>
              </a:rPr>
              <a:t>senior</a:t>
            </a:r>
            <a:endParaRPr lang="en-US" sz="1000" dirty="0"/>
          </a:p>
        </p:txBody>
      </p:sp>
      <p:sp>
        <p:nvSpPr>
          <p:cNvPr id="21" name="Text 19"/>
          <p:cNvSpPr/>
          <p:nvPr/>
        </p:nvSpPr>
        <p:spPr>
          <a:xfrm>
            <a:off x="841248" y="4910328"/>
            <a:ext cx="658368" cy="274320"/>
          </a:xfrm>
          <a:prstGeom prst="rect">
            <a:avLst/>
          </a:prstGeom>
          <a:noFill/>
          <a:ln/>
        </p:spPr>
        <p:txBody>
          <a:bodyPr wrap="square" lIns="0" tIns="0" rIns="0" bIns="0" rtlCol="0" anchor="ctr"/>
          <a:lstStyle/>
          <a:p>
            <a:pPr indent="0" marL="0">
              <a:buNone/>
            </a:pPr>
            <a:r>
              <a:rPr lang="en-US" sz="1200" b="1" dirty="0">
                <a:solidFill>
                  <a:srgbClr val="028090"/>
                </a:solidFill>
                <a:latin typeface="Courier New" pitchFamily="34" charset="0"/>
                <a:ea typeface="Courier New" pitchFamily="34" charset="-122"/>
                <a:cs typeface="Courier New" pitchFamily="34" charset="-120"/>
              </a:rPr>
              <a:t>14–18</a:t>
            </a:r>
            <a:endParaRPr lang="en-US" sz="1200" dirty="0"/>
          </a:p>
        </p:txBody>
      </p:sp>
      <p:sp>
        <p:nvSpPr>
          <p:cNvPr id="22" name="Text 20"/>
          <p:cNvSpPr/>
          <p:nvPr/>
        </p:nvSpPr>
        <p:spPr>
          <a:xfrm>
            <a:off x="1527048" y="489204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16222F"/>
                </a:solidFill>
                <a:latin typeface="Calibri" pitchFamily="34" charset="0"/>
                <a:ea typeface="Calibri" pitchFamily="34" charset="-122"/>
                <a:cs typeface="Calibri" pitchFamily="34" charset="-120"/>
              </a:rPr>
              <a:t>Web shell and pages, Dockerfile, architecture and coding-guideline docs</a:t>
            </a:r>
            <a:endParaRPr lang="en-US" sz="1150" dirty="0"/>
          </a:p>
        </p:txBody>
      </p:sp>
      <p:sp>
        <p:nvSpPr>
          <p:cNvPr id="23" name="Text 21"/>
          <p:cNvSpPr/>
          <p:nvPr/>
        </p:nvSpPr>
        <p:spPr>
          <a:xfrm>
            <a:off x="5047488" y="4928616"/>
            <a:ext cx="685800" cy="237744"/>
          </a:xfrm>
          <a:prstGeom prst="rect">
            <a:avLst/>
          </a:prstGeom>
          <a:noFill/>
          <a:ln/>
        </p:spPr>
        <p:txBody>
          <a:bodyPr wrap="square" lIns="0" tIns="0" rIns="0" bIns="0" rtlCol="0" anchor="ctr"/>
          <a:lstStyle/>
          <a:p>
            <a:pPr algn="r" indent="0" marL="0">
              <a:buNone/>
            </a:pPr>
            <a:r>
              <a:rPr lang="en-US" sz="1000" i="1" dirty="0">
                <a:solidFill>
                  <a:srgbClr val="5E6E7E"/>
                </a:solidFill>
                <a:latin typeface="Calibri" pitchFamily="34" charset="0"/>
                <a:ea typeface="Calibri" pitchFamily="34" charset="-122"/>
                <a:cs typeface="Calibri" pitchFamily="34" charset="-120"/>
              </a:rPr>
              <a:t>mixed</a:t>
            </a:r>
            <a:endParaRPr lang="en-US" sz="1000" dirty="0"/>
          </a:p>
        </p:txBody>
      </p:sp>
      <p:sp>
        <p:nvSpPr>
          <p:cNvPr id="24" name="Shape 22"/>
          <p:cNvSpPr/>
          <p:nvPr/>
        </p:nvSpPr>
        <p:spPr>
          <a:xfrm>
            <a:off x="6227064" y="1783080"/>
            <a:ext cx="5394960" cy="3611880"/>
          </a:xfrm>
          <a:prstGeom prst="roundRect">
            <a:avLst>
              <a:gd name="adj" fmla="val 1519"/>
            </a:avLst>
          </a:prstGeom>
          <a:solidFill>
            <a:srgbClr val="0F1B2D"/>
          </a:solidFill>
          <a:ln w="6350">
            <a:solidFill>
              <a:srgbClr val="0F1B2D"/>
            </a:solidFill>
            <a:prstDash val="solid"/>
          </a:ln>
        </p:spPr>
      </p:sp>
      <p:sp>
        <p:nvSpPr>
          <p:cNvPr id="25" name="Text 23"/>
          <p:cNvSpPr/>
          <p:nvPr/>
        </p:nvSpPr>
        <p:spPr>
          <a:xfrm>
            <a:off x="6501384" y="1975104"/>
            <a:ext cx="4846320" cy="256032"/>
          </a:xfrm>
          <a:prstGeom prst="rect">
            <a:avLst/>
          </a:prstGeom>
          <a:noFill/>
          <a:ln/>
        </p:spPr>
        <p:txBody>
          <a:bodyPr wrap="square" lIns="0" tIns="0" rIns="0" bIns="0"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PHASE 2 — STEPS 19–35</a:t>
            </a:r>
            <a:endParaRPr lang="en-US" sz="1150" dirty="0"/>
          </a:p>
        </p:txBody>
      </p:sp>
      <p:sp>
        <p:nvSpPr>
          <p:cNvPr id="26" name="Text 24"/>
          <p:cNvSpPr/>
          <p:nvPr/>
        </p:nvSpPr>
        <p:spPr>
          <a:xfrm>
            <a:off x="6501384" y="2395728"/>
            <a:ext cx="658368"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19–20</a:t>
            </a:r>
            <a:endParaRPr lang="en-US" sz="1200" dirty="0"/>
          </a:p>
        </p:txBody>
      </p:sp>
      <p:sp>
        <p:nvSpPr>
          <p:cNvPr id="27" name="Text 25"/>
          <p:cNvSpPr/>
          <p:nvPr/>
        </p:nvSpPr>
        <p:spPr>
          <a:xfrm>
            <a:off x="7187184" y="237744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Trading migration and its repositories</a:t>
            </a:r>
            <a:endParaRPr lang="en-US" sz="1150" dirty="0"/>
          </a:p>
        </p:txBody>
      </p:sp>
      <p:sp>
        <p:nvSpPr>
          <p:cNvPr id="28" name="Text 26"/>
          <p:cNvSpPr/>
          <p:nvPr/>
        </p:nvSpPr>
        <p:spPr>
          <a:xfrm>
            <a:off x="10707624" y="2414016"/>
            <a:ext cx="685800" cy="237744"/>
          </a:xfrm>
          <a:prstGeom prst="rect">
            <a:avLst/>
          </a:prstGeom>
          <a:noFill/>
          <a:ln/>
        </p:spPr>
        <p:txBody>
          <a:bodyPr wrap="square" lIns="0" tIns="0" rIns="0" bIns="0" rtlCol="0" anchor="ctr"/>
          <a:lstStyle/>
          <a:p>
            <a:pPr algn="r" indent="0" marL="0">
              <a:buNone/>
            </a:pPr>
            <a:r>
              <a:rPr lang="en-US" sz="1000" i="1" dirty="0">
                <a:solidFill>
                  <a:srgbClr val="9FB3C8"/>
                </a:solidFill>
                <a:latin typeface="Calibri" pitchFamily="34" charset="0"/>
                <a:ea typeface="Calibri" pitchFamily="34" charset="-122"/>
                <a:cs typeface="Calibri" pitchFamily="34" charset="-120"/>
              </a:rPr>
              <a:t>mixed</a:t>
            </a:r>
            <a:endParaRPr lang="en-US" sz="1000" dirty="0"/>
          </a:p>
        </p:txBody>
      </p:sp>
      <p:sp>
        <p:nvSpPr>
          <p:cNvPr id="29" name="Text 27"/>
          <p:cNvSpPr/>
          <p:nvPr/>
        </p:nvSpPr>
        <p:spPr>
          <a:xfrm>
            <a:off x="6501384" y="2898648"/>
            <a:ext cx="658368"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21–24</a:t>
            </a:r>
            <a:endParaRPr lang="en-US" sz="1200" dirty="0"/>
          </a:p>
        </p:txBody>
      </p:sp>
      <p:sp>
        <p:nvSpPr>
          <p:cNvPr id="30" name="Text 28"/>
          <p:cNvSpPr/>
          <p:nvPr/>
        </p:nvSpPr>
        <p:spPr>
          <a:xfrm>
            <a:off x="7187184" y="288036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Price service, PaperBroker, portfolio service, daily snapshot job</a:t>
            </a:r>
            <a:endParaRPr lang="en-US" sz="1150" dirty="0"/>
          </a:p>
        </p:txBody>
      </p:sp>
      <p:sp>
        <p:nvSpPr>
          <p:cNvPr id="31" name="Text 29"/>
          <p:cNvSpPr/>
          <p:nvPr/>
        </p:nvSpPr>
        <p:spPr>
          <a:xfrm>
            <a:off x="10707624" y="2916936"/>
            <a:ext cx="685800" cy="237744"/>
          </a:xfrm>
          <a:prstGeom prst="rect">
            <a:avLst/>
          </a:prstGeom>
          <a:noFill/>
          <a:ln/>
        </p:spPr>
        <p:txBody>
          <a:bodyPr wrap="square" lIns="0" tIns="0" rIns="0" bIns="0" rtlCol="0" anchor="ctr"/>
          <a:lstStyle/>
          <a:p>
            <a:pPr algn="r" indent="0" marL="0">
              <a:buNone/>
            </a:pPr>
            <a:r>
              <a:rPr lang="en-US" sz="1000" i="1" dirty="0">
                <a:solidFill>
                  <a:srgbClr val="9FB3C8"/>
                </a:solidFill>
                <a:latin typeface="Calibri" pitchFamily="34" charset="0"/>
                <a:ea typeface="Calibri" pitchFamily="34" charset="-122"/>
                <a:cs typeface="Calibri" pitchFamily="34" charset="-120"/>
              </a:rPr>
              <a:t>senior</a:t>
            </a:r>
            <a:endParaRPr lang="en-US" sz="1000" dirty="0"/>
          </a:p>
        </p:txBody>
      </p:sp>
      <p:sp>
        <p:nvSpPr>
          <p:cNvPr id="32" name="Text 30"/>
          <p:cNvSpPr/>
          <p:nvPr/>
        </p:nvSpPr>
        <p:spPr>
          <a:xfrm>
            <a:off x="6501384" y="3401568"/>
            <a:ext cx="658368"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25–28</a:t>
            </a:r>
            <a:endParaRPr lang="en-US" sz="1200" dirty="0"/>
          </a:p>
        </p:txBody>
      </p:sp>
      <p:sp>
        <p:nvSpPr>
          <p:cNvPr id="33" name="Text 31"/>
          <p:cNvSpPr/>
          <p:nvPr/>
        </p:nvSpPr>
        <p:spPr>
          <a:xfrm>
            <a:off x="7187184" y="338328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Run collector, seven tools, analyst agent, portfolio manager</a:t>
            </a:r>
            <a:endParaRPr lang="en-US" sz="1150" dirty="0"/>
          </a:p>
        </p:txBody>
      </p:sp>
      <p:sp>
        <p:nvSpPr>
          <p:cNvPr id="34" name="Text 32"/>
          <p:cNvSpPr/>
          <p:nvPr/>
        </p:nvSpPr>
        <p:spPr>
          <a:xfrm>
            <a:off x="10707624" y="3419856"/>
            <a:ext cx="685800" cy="237744"/>
          </a:xfrm>
          <a:prstGeom prst="rect">
            <a:avLst/>
          </a:prstGeom>
          <a:noFill/>
          <a:ln/>
        </p:spPr>
        <p:txBody>
          <a:bodyPr wrap="square" lIns="0" tIns="0" rIns="0" bIns="0" rtlCol="0" anchor="ctr"/>
          <a:lstStyle/>
          <a:p>
            <a:pPr algn="r" indent="0" marL="0">
              <a:buNone/>
            </a:pPr>
            <a:r>
              <a:rPr lang="en-US" sz="1000" i="1" dirty="0">
                <a:solidFill>
                  <a:srgbClr val="9FB3C8"/>
                </a:solidFill>
                <a:latin typeface="Calibri" pitchFamily="34" charset="0"/>
                <a:ea typeface="Calibri" pitchFamily="34" charset="-122"/>
                <a:cs typeface="Calibri" pitchFamily="34" charset="-120"/>
              </a:rPr>
              <a:t>senior</a:t>
            </a:r>
            <a:endParaRPr lang="en-US" sz="1000" dirty="0"/>
          </a:p>
        </p:txBody>
      </p:sp>
      <p:sp>
        <p:nvSpPr>
          <p:cNvPr id="35" name="Text 33"/>
          <p:cNvSpPr/>
          <p:nvPr/>
        </p:nvSpPr>
        <p:spPr>
          <a:xfrm>
            <a:off x="6501384" y="3904488"/>
            <a:ext cx="658368"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29–31</a:t>
            </a:r>
            <a:endParaRPr lang="en-US" sz="1200" dirty="0"/>
          </a:p>
        </p:txBody>
      </p:sp>
      <p:sp>
        <p:nvSpPr>
          <p:cNvPr id="36" name="Text 34"/>
          <p:cNvSpPr/>
          <p:nvPr/>
        </p:nvSpPr>
        <p:spPr>
          <a:xfrm>
            <a:off x="7187184" y="388620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Risk service, trading-cycle orchestrator, scheduled job and guards</a:t>
            </a:r>
            <a:endParaRPr lang="en-US" sz="1150" dirty="0"/>
          </a:p>
        </p:txBody>
      </p:sp>
      <p:sp>
        <p:nvSpPr>
          <p:cNvPr id="37" name="Text 35"/>
          <p:cNvSpPr/>
          <p:nvPr/>
        </p:nvSpPr>
        <p:spPr>
          <a:xfrm>
            <a:off x="10707624" y="3922776"/>
            <a:ext cx="685800" cy="237744"/>
          </a:xfrm>
          <a:prstGeom prst="rect">
            <a:avLst/>
          </a:prstGeom>
          <a:noFill/>
          <a:ln/>
        </p:spPr>
        <p:txBody>
          <a:bodyPr wrap="square" lIns="0" tIns="0" rIns="0" bIns="0" rtlCol="0" anchor="ctr"/>
          <a:lstStyle/>
          <a:p>
            <a:pPr algn="r" indent="0" marL="0">
              <a:buNone/>
            </a:pPr>
            <a:r>
              <a:rPr lang="en-US" sz="1000" i="1" dirty="0">
                <a:solidFill>
                  <a:srgbClr val="9FB3C8"/>
                </a:solidFill>
                <a:latin typeface="Calibri" pitchFamily="34" charset="0"/>
                <a:ea typeface="Calibri" pitchFamily="34" charset="-122"/>
                <a:cs typeface="Calibri" pitchFamily="34" charset="-120"/>
              </a:rPr>
              <a:t>mixed</a:t>
            </a:r>
            <a:endParaRPr lang="en-US" sz="1000" dirty="0"/>
          </a:p>
        </p:txBody>
      </p:sp>
      <p:sp>
        <p:nvSpPr>
          <p:cNvPr id="38" name="Text 36"/>
          <p:cNvSpPr/>
          <p:nvPr/>
        </p:nvSpPr>
        <p:spPr>
          <a:xfrm>
            <a:off x="6501384" y="4407408"/>
            <a:ext cx="658368"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32–33</a:t>
            </a:r>
            <a:endParaRPr lang="en-US" sz="1200" dirty="0"/>
          </a:p>
        </p:txBody>
      </p:sp>
      <p:sp>
        <p:nvSpPr>
          <p:cNvPr id="39" name="Text 37"/>
          <p:cNvSpPr/>
          <p:nvPr/>
        </p:nvSpPr>
        <p:spPr>
          <a:xfrm>
            <a:off x="7187184" y="438912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Runs / portfolio / trades routes and pages; enable "Run now"</a:t>
            </a:r>
            <a:endParaRPr lang="en-US" sz="1150" dirty="0"/>
          </a:p>
        </p:txBody>
      </p:sp>
      <p:sp>
        <p:nvSpPr>
          <p:cNvPr id="40" name="Text 38"/>
          <p:cNvSpPr/>
          <p:nvPr/>
        </p:nvSpPr>
        <p:spPr>
          <a:xfrm>
            <a:off x="10707624" y="4425696"/>
            <a:ext cx="685800" cy="237744"/>
          </a:xfrm>
          <a:prstGeom prst="rect">
            <a:avLst/>
          </a:prstGeom>
          <a:noFill/>
          <a:ln/>
        </p:spPr>
        <p:txBody>
          <a:bodyPr wrap="square" lIns="0" tIns="0" rIns="0" bIns="0" rtlCol="0" anchor="ctr"/>
          <a:lstStyle/>
          <a:p>
            <a:pPr algn="r" indent="0" marL="0">
              <a:buNone/>
            </a:pPr>
            <a:r>
              <a:rPr lang="en-US" sz="1000" i="1" dirty="0">
                <a:solidFill>
                  <a:srgbClr val="9FB3C8"/>
                </a:solidFill>
                <a:latin typeface="Calibri" pitchFamily="34" charset="0"/>
                <a:ea typeface="Calibri" pitchFamily="34" charset="-122"/>
                <a:cs typeface="Calibri" pitchFamily="34" charset="-120"/>
              </a:rPr>
              <a:t>mixed</a:t>
            </a:r>
            <a:endParaRPr lang="en-US" sz="1000" dirty="0"/>
          </a:p>
        </p:txBody>
      </p:sp>
      <p:sp>
        <p:nvSpPr>
          <p:cNvPr id="41" name="Text 39"/>
          <p:cNvSpPr/>
          <p:nvPr/>
        </p:nvSpPr>
        <p:spPr>
          <a:xfrm>
            <a:off x="6501384" y="4910328"/>
            <a:ext cx="658368" cy="274320"/>
          </a:xfrm>
          <a:prstGeom prst="rect">
            <a:avLst/>
          </a:prstGeom>
          <a:noFill/>
          <a:ln/>
        </p:spPr>
        <p:txBody>
          <a:bodyPr wrap="square" lIns="0" tIns="0" rIns="0" bIns="0" rtlCol="0" anchor="ctr"/>
          <a:lstStyle/>
          <a:p>
            <a:pPr indent="0" marL="0">
              <a:buNone/>
            </a:pPr>
            <a:r>
              <a:rPr lang="en-US" sz="1200" b="1" dirty="0">
                <a:solidFill>
                  <a:srgbClr val="02C39A"/>
                </a:solidFill>
                <a:latin typeface="Courier New" pitchFamily="34" charset="0"/>
                <a:ea typeface="Courier New" pitchFamily="34" charset="-122"/>
                <a:cs typeface="Courier New" pitchFamily="34" charset="-120"/>
              </a:rPr>
              <a:t>34–35</a:t>
            </a:r>
            <a:endParaRPr lang="en-US" sz="1200" dirty="0"/>
          </a:p>
        </p:txBody>
      </p:sp>
      <p:sp>
        <p:nvSpPr>
          <p:cNvPr id="42" name="Text 40"/>
          <p:cNvSpPr/>
          <p:nvPr/>
        </p:nvSpPr>
        <p:spPr>
          <a:xfrm>
            <a:off x="7187184" y="4892040"/>
            <a:ext cx="3474720" cy="475488"/>
          </a:xfrm>
          <a:prstGeom prst="rect">
            <a:avLst/>
          </a:prstGeom>
          <a:noFill/>
          <a:ln/>
        </p:spPr>
        <p:txBody>
          <a:bodyPr wrap="square" lIns="0" tIns="0" rIns="0" bIns="0" rtlCol="0" anchor="t"/>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Stretch: performance vs SPY, and the next_open fill model</a:t>
            </a:r>
            <a:endParaRPr lang="en-US" sz="1150" dirty="0"/>
          </a:p>
        </p:txBody>
      </p:sp>
      <p:sp>
        <p:nvSpPr>
          <p:cNvPr id="43" name="Text 41"/>
          <p:cNvSpPr/>
          <p:nvPr/>
        </p:nvSpPr>
        <p:spPr>
          <a:xfrm>
            <a:off x="10707624" y="4928616"/>
            <a:ext cx="685800" cy="237744"/>
          </a:xfrm>
          <a:prstGeom prst="rect">
            <a:avLst/>
          </a:prstGeom>
          <a:noFill/>
          <a:ln/>
        </p:spPr>
        <p:txBody>
          <a:bodyPr wrap="square" lIns="0" tIns="0" rIns="0" bIns="0" rtlCol="0" anchor="ctr"/>
          <a:lstStyle/>
          <a:p>
            <a:pPr algn="r" indent="0" marL="0">
              <a:buNone/>
            </a:pPr>
            <a:r>
              <a:rPr lang="en-US" sz="1000" i="1" dirty="0">
                <a:solidFill>
                  <a:srgbClr val="9FB3C8"/>
                </a:solidFill>
                <a:latin typeface="Calibri" pitchFamily="34" charset="0"/>
                <a:ea typeface="Calibri" pitchFamily="34" charset="-122"/>
                <a:cs typeface="Calibri" pitchFamily="34" charset="-120"/>
              </a:rPr>
              <a:t>senior</a:t>
            </a:r>
            <a:endParaRPr lang="en-US" sz="1000" dirty="0"/>
          </a:p>
        </p:txBody>
      </p:sp>
      <p:sp>
        <p:nvSpPr>
          <p:cNvPr id="44" name="Shape 42"/>
          <p:cNvSpPr/>
          <p:nvPr/>
        </p:nvSpPr>
        <p:spPr>
          <a:xfrm>
            <a:off x="566928" y="5532120"/>
            <a:ext cx="11055096" cy="804672"/>
          </a:xfrm>
          <a:prstGeom prst="roundRect">
            <a:avLst>
              <a:gd name="adj" fmla="val 6818"/>
            </a:avLst>
          </a:prstGeom>
          <a:solidFill>
            <a:srgbClr val="02C39A"/>
          </a:solidFill>
          <a:ln w="6350">
            <a:solidFill>
              <a:srgbClr val="02C39A"/>
            </a:solidFill>
            <a:prstDash val="solid"/>
          </a:ln>
        </p:spPr>
      </p:sp>
      <p:sp>
        <p:nvSpPr>
          <p:cNvPr id="45" name="Text 43"/>
          <p:cNvSpPr/>
          <p:nvPr/>
        </p:nvSpPr>
        <p:spPr>
          <a:xfrm>
            <a:off x="859536" y="5532120"/>
            <a:ext cx="10469880" cy="804672"/>
          </a:xfrm>
          <a:prstGeom prst="rect">
            <a:avLst/>
          </a:prstGeom>
          <a:noFill/>
          <a:ln/>
        </p:spPr>
        <p:txBody>
          <a:bodyPr wrap="square" lIns="0" tIns="0" rIns="0" bIns="0" rtlCol="0" anchor="ctr"/>
          <a:lstStyle/>
          <a:p>
            <a:pPr indent="0" marL="0">
              <a:lnSpc>
                <a:spcPts val="1700"/>
              </a:lnSpc>
              <a:buNone/>
            </a:pPr>
            <a:r>
              <a:rPr lang="en-US" sz="1250" b="1" dirty="0">
                <a:solidFill>
                  <a:srgbClr val="0F1B2D"/>
                </a:solidFill>
                <a:latin typeface="Calibri" pitchFamily="34" charset="0"/>
                <a:ea typeface="Calibri" pitchFamily="34" charset="-122"/>
                <a:cs typeface="Calibri" pitchFamily="34" charset="-120"/>
              </a:rPr>
              <a:t>Phase 1 is done when:  </a:t>
            </a:r>
            <a:pPr indent="0" marL="0">
              <a:lnSpc>
                <a:spcPts val="1700"/>
              </a:lnSpc>
              <a:buNone/>
            </a:pPr>
            <a:r>
              <a:rPr lang="en-US" sz="1250" dirty="0">
                <a:solidFill>
                  <a:srgbClr val="0F1B2D"/>
                </a:solidFill>
                <a:latin typeface="Calibri" pitchFamily="34" charset="0"/>
                <a:ea typeface="Calibri" pitchFamily="34" charset="-122"/>
                <a:cs typeface="Calibri" pitchFamily="34" charset="-120"/>
              </a:rPr>
              <a:t>you build and run the container, add a symbol and watch it validate against a live quote, enter the LLM credentials and get a green Test, toggle and test each data source, set a schedule and see the next five runs — then restart the container and find all of it still there.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EDGE CASES &amp; SCOPE</a:t>
            </a:r>
            <a:endParaRPr lang="en-US" sz="1150" dirty="0"/>
          </a:p>
        </p:txBody>
      </p:sp>
      <p:sp>
        <p:nvSpPr>
          <p:cNvPr id="3" name="Text 1"/>
          <p:cNvSpPr/>
          <p:nvPr/>
        </p:nvSpPr>
        <p:spPr>
          <a:xfrm>
            <a:off x="566928" y="658368"/>
            <a:ext cx="11055096" cy="658368"/>
          </a:xfrm>
          <a:prstGeom prst="rect">
            <a:avLst/>
          </a:prstGeom>
          <a:noFill/>
          <a:ln/>
        </p:spPr>
        <p:txBody>
          <a:bodyPr wrap="square" lIns="0" tIns="0" rIns="0" bIns="0" rtlCol="0" anchor="ctr"/>
          <a:lstStyle/>
          <a:p>
            <a:pPr indent="0" marL="0">
              <a:buNone/>
            </a:pPr>
            <a:r>
              <a:rPr lang="en-US" sz="3600" b="1" dirty="0">
                <a:solidFill>
                  <a:srgbClr val="16222F"/>
                </a:solidFill>
                <a:latin typeface="Cambria" pitchFamily="34" charset="0"/>
                <a:ea typeface="Cambria" pitchFamily="34" charset="-122"/>
                <a:cs typeface="Cambria" pitchFamily="34" charset="-120"/>
              </a:rPr>
              <a:t>What degrades, what's excluded, what to watch</a:t>
            </a:r>
            <a:endParaRPr lang="en-US" sz="3600" dirty="0"/>
          </a:p>
        </p:txBody>
      </p:sp>
      <p:sp>
        <p:nvSpPr>
          <p:cNvPr id="4" name="Shape 2"/>
          <p:cNvSpPr/>
          <p:nvPr/>
        </p:nvSpPr>
        <p:spPr>
          <a:xfrm>
            <a:off x="566928" y="1783080"/>
            <a:ext cx="3502152" cy="4069080"/>
          </a:xfrm>
          <a:prstGeom prst="roundRect">
            <a:avLst>
              <a:gd name="adj" fmla="val 1567"/>
            </a:avLst>
          </a:prstGeom>
          <a:solidFill>
            <a:srgbClr val="E3F2EE"/>
          </a:solidFill>
          <a:ln w="6350">
            <a:solidFill>
              <a:srgbClr val="E3F2EE"/>
            </a:solidFill>
            <a:prstDash val="solid"/>
          </a:ln>
        </p:spPr>
      </p:sp>
      <p:sp>
        <p:nvSpPr>
          <p:cNvPr id="5" name="Text 3"/>
          <p:cNvSpPr/>
          <p:nvPr/>
        </p:nvSpPr>
        <p:spPr>
          <a:xfrm>
            <a:off x="822960" y="1975104"/>
            <a:ext cx="2990088"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HANDLED BY DESIGN</a:t>
            </a:r>
            <a:endParaRPr lang="en-US" sz="1150" dirty="0"/>
          </a:p>
        </p:txBody>
      </p:sp>
      <p:sp>
        <p:nvSpPr>
          <p:cNvPr id="6" name="Text 4"/>
          <p:cNvSpPr/>
          <p:nvPr/>
        </p:nvSpPr>
        <p:spPr>
          <a:xfrm>
            <a:off x="822960" y="2359152"/>
            <a:ext cx="2990088" cy="333756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Invalid structured output — validate, retry once with the error, then fail that symbol only</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Partial source failure — connectors return { ok: false }; the prompt is told what's missing</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DST and holidays — always pass America/New_York to croner; container TZ=UTC</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Delisted symbols — disable the watchlist entry with a note rather than failing the run</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Rate limits — token bucket in http.ts; back off on 429 rather than retrying tightly</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Missing ATN_ENC_KEY — boot so the UI can explain it, 503 every secret write, never plaintext</a:t>
            </a:r>
            <a:endParaRPr lang="en-US" sz="1150" dirty="0"/>
          </a:p>
        </p:txBody>
      </p:sp>
      <p:sp>
        <p:nvSpPr>
          <p:cNvPr id="7" name="Shape 5"/>
          <p:cNvSpPr/>
          <p:nvPr/>
        </p:nvSpPr>
        <p:spPr>
          <a:xfrm>
            <a:off x="4343400" y="1783080"/>
            <a:ext cx="3502152" cy="4069080"/>
          </a:xfrm>
          <a:prstGeom prst="roundRect">
            <a:avLst>
              <a:gd name="adj" fmla="val 1567"/>
            </a:avLst>
          </a:prstGeom>
          <a:solidFill>
            <a:srgbClr val="EEF4F7"/>
          </a:solidFill>
          <a:ln w="6350">
            <a:solidFill>
              <a:srgbClr val="EEF4F7"/>
            </a:solidFill>
            <a:prstDash val="solid"/>
          </a:ln>
        </p:spPr>
      </p:sp>
      <p:sp>
        <p:nvSpPr>
          <p:cNvPr id="8" name="Text 6"/>
          <p:cNvSpPr/>
          <p:nvPr/>
        </p:nvSpPr>
        <p:spPr>
          <a:xfrm>
            <a:off x="4599432" y="1975104"/>
            <a:ext cx="2990088" cy="256032"/>
          </a:xfrm>
          <a:prstGeom prst="rect">
            <a:avLst/>
          </a:prstGeom>
          <a:noFill/>
          <a:ln/>
        </p:spPr>
        <p:txBody>
          <a:bodyPr wrap="square" lIns="0" tIns="0" rIns="0" bIns="0" rtlCol="0" anchor="ctr"/>
          <a:lstStyle/>
          <a:p>
            <a:pPr indent="0" marL="0">
              <a:buNone/>
            </a:pPr>
            <a:r>
              <a:rPr lang="en-US" sz="1150" b="1" spc="200" kern="0" dirty="0">
                <a:solidFill>
                  <a:srgbClr val="028090"/>
                </a:solidFill>
                <a:latin typeface="Calibri" pitchFamily="34" charset="0"/>
                <a:ea typeface="Calibri" pitchFamily="34" charset="-122"/>
                <a:cs typeface="Calibri" pitchFamily="34" charset="-120"/>
              </a:rPr>
              <a:t>OUT OF SCOPE FOR V1</a:t>
            </a:r>
            <a:endParaRPr lang="en-US" sz="1150" dirty="0"/>
          </a:p>
        </p:txBody>
      </p:sp>
      <p:sp>
        <p:nvSpPr>
          <p:cNvPr id="9" name="Text 7"/>
          <p:cNvSpPr/>
          <p:nvPr/>
        </p:nvSpPr>
        <p:spPr>
          <a:xfrm>
            <a:off x="4599432" y="2359152"/>
            <a:ext cx="2990088" cy="333756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Real broker execution and any live-mode order placement</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Shorting, options trading, and margin</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Intraday, minute or second cadence</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Social sentiment, SEC filings, deep options flow</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Multi-user auth, RBAC, multi-tenancy</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docker-compose, k8s, any multi-container topology</a:t>
            </a:r>
            <a:endParaRPr lang="en-US" sz="1150" dirty="0"/>
          </a:p>
          <a:p>
            <a:pPr marL="342900" indent="-342900">
              <a:lnSpc>
                <a:spcPts val="1550"/>
              </a:lnSpc>
              <a:spcAft>
                <a:spcPts val="800"/>
              </a:spcAft>
              <a:buSzPct val="100000"/>
              <a:buChar char="•"/>
            </a:pPr>
            <a:r>
              <a:rPr lang="en-US" sz="1150" dirty="0">
                <a:solidFill>
                  <a:srgbClr val="16222F"/>
                </a:solidFill>
                <a:latin typeface="Calibri" pitchFamily="34" charset="0"/>
                <a:ea typeface="Calibri" pitchFamily="34" charset="-122"/>
                <a:cs typeface="Calibri" pitchFamily="34" charset="-120"/>
              </a:rPr>
              <a:t>Backtesting and Postgres</a:t>
            </a:r>
            <a:endParaRPr lang="en-US" sz="1150" dirty="0"/>
          </a:p>
        </p:txBody>
      </p:sp>
      <p:sp>
        <p:nvSpPr>
          <p:cNvPr id="10" name="Shape 8"/>
          <p:cNvSpPr/>
          <p:nvPr/>
        </p:nvSpPr>
        <p:spPr>
          <a:xfrm>
            <a:off x="8119872" y="1783080"/>
            <a:ext cx="3502152" cy="4069080"/>
          </a:xfrm>
          <a:prstGeom prst="roundRect">
            <a:avLst>
              <a:gd name="adj" fmla="val 1567"/>
            </a:avLst>
          </a:prstGeom>
          <a:solidFill>
            <a:srgbClr val="0F1B2D"/>
          </a:solidFill>
          <a:ln w="6350">
            <a:solidFill>
              <a:srgbClr val="0F1B2D"/>
            </a:solidFill>
            <a:prstDash val="solid"/>
          </a:ln>
        </p:spPr>
      </p:sp>
      <p:sp>
        <p:nvSpPr>
          <p:cNvPr id="11" name="Text 9"/>
          <p:cNvSpPr/>
          <p:nvPr/>
        </p:nvSpPr>
        <p:spPr>
          <a:xfrm>
            <a:off x="8375904" y="1975104"/>
            <a:ext cx="2990088" cy="256032"/>
          </a:xfrm>
          <a:prstGeom prst="rect">
            <a:avLst/>
          </a:prstGeom>
          <a:noFill/>
          <a:ln/>
        </p:spPr>
        <p:txBody>
          <a:bodyPr wrap="square" lIns="0" tIns="0" rIns="0" bIns="0" rtlCol="0" anchor="ctr"/>
          <a:lstStyle/>
          <a:p>
            <a:pPr indent="0" marL="0">
              <a:buNone/>
            </a:pPr>
            <a:r>
              <a:rPr lang="en-US" sz="1150" b="1" spc="200" kern="0" dirty="0">
                <a:solidFill>
                  <a:srgbClr val="02C39A"/>
                </a:solidFill>
                <a:latin typeface="Calibri" pitchFamily="34" charset="0"/>
                <a:ea typeface="Calibri" pitchFamily="34" charset="-122"/>
                <a:cs typeface="Calibri" pitchFamily="34" charset="-120"/>
              </a:rPr>
              <a:t>KNOWN RISKS TO WATCH</a:t>
            </a:r>
            <a:endParaRPr lang="en-US" sz="1150" dirty="0"/>
          </a:p>
        </p:txBody>
      </p:sp>
      <p:sp>
        <p:nvSpPr>
          <p:cNvPr id="12" name="Text 10"/>
          <p:cNvSpPr/>
          <p:nvPr/>
        </p:nvSpPr>
        <p:spPr>
          <a:xfrm>
            <a:off x="8375904" y="2359152"/>
            <a:ext cx="2990088" cy="3337560"/>
          </a:xfrm>
          <a:prstGeom prst="rect">
            <a:avLst/>
          </a:prstGeom>
          <a:noFill/>
          <a:ln/>
        </p:spPr>
        <p:txBody>
          <a:bodyPr wrap="square" lIns="0" tIns="0" rIns="0" bIns="0" rtlCol="0" anchor="t"/>
          <a:lstStyle/>
          <a:p>
            <a:pPr marL="342900" indent="-342900">
              <a:lnSpc>
                <a:spcPts val="155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yahoo-finance2 is unofficial and has broken before on Yahoo's cookie/crumb changes</a:t>
            </a:r>
            <a:endParaRPr lang="en-US" sz="1150" dirty="0"/>
          </a:p>
          <a:p>
            <a:pPr marL="342900" indent="-342900">
              <a:lnSpc>
                <a:spcPts val="155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last_close fills carry lookahead bias — next_open is the honest model, deferred to stretch</a:t>
            </a:r>
            <a:endParaRPr lang="en-US" sz="1150" dirty="0"/>
          </a:p>
          <a:p>
            <a:pPr marL="342900" indent="-342900">
              <a:lnSpc>
                <a:spcPts val="155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No corporate-action adjustment in v1: raw close for fills, adj_close for the benchmark</a:t>
            </a:r>
            <a:endParaRPr lang="en-US" sz="1150" dirty="0"/>
          </a:p>
          <a:p>
            <a:pPr marL="342900" indent="-342900">
              <a:lnSpc>
                <a:spcPts val="155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Float drift — all money arithmetic must go through lib/money.ts, no exceptions in review</a:t>
            </a:r>
            <a:endParaRPr lang="en-US" sz="1150" dirty="0"/>
          </a:p>
          <a:p>
            <a:pPr marL="342900" indent="-342900">
              <a:lnSpc>
                <a:spcPts val="155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The spec is unimplemented: nothing exists outside docs/ yet</a:t>
            </a:r>
            <a:endParaRPr lang="en-US" sz="1150" dirty="0"/>
          </a:p>
        </p:txBody>
      </p:sp>
      <p:sp>
        <p:nvSpPr>
          <p:cNvPr id="13" name="Text 11"/>
          <p:cNvSpPr/>
          <p:nvPr/>
        </p:nvSpPr>
        <p:spPr>
          <a:xfrm>
            <a:off x="566928" y="6053328"/>
            <a:ext cx="11055096" cy="365760"/>
          </a:xfrm>
          <a:prstGeom prst="rect">
            <a:avLst/>
          </a:prstGeom>
          <a:noFill/>
          <a:ln/>
        </p:spPr>
        <p:txBody>
          <a:bodyPr wrap="square" lIns="0" tIns="0" rIns="0" bIns="0" rtlCol="0" anchor="ctr"/>
          <a:lstStyle/>
          <a:p>
            <a:pPr indent="0" marL="0">
              <a:lnSpc>
                <a:spcPts val="1500"/>
              </a:lnSpc>
              <a:buNone/>
            </a:pPr>
            <a:r>
              <a:rPr lang="en-US" sz="1150" i="1" dirty="0">
                <a:solidFill>
                  <a:srgbClr val="5E6E7E"/>
                </a:solidFill>
                <a:latin typeface="Calibri" pitchFamily="34" charset="0"/>
                <a:ea typeface="Calibri" pitchFamily="34" charset="-122"/>
                <a:cs typeface="Calibri" pitchFamily="34" charset="-120"/>
              </a:rPr>
              <a:t>Confirmed decisions not to re-litigate: two phases in order · daily cadence · paper-only broker behind a real interface · one LLM backend, no fallback chain · exactly four sources · one container.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2026-08-08T23:03:31Z</dcterms:created>
  <dcterms:modified xsi:type="dcterms:W3CDTF">2026-08-08T23:03:31Z</dcterms:modified>
</cp:coreProperties>
</file>