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Raw composite</c:v>
                </c:pt>
              </c:strCache>
            </c:strRef>
          </c:tx>
          <c:spPr>
            <a:solidFill>
              <a:srgbClr val="C9DAE2"/>
            </a:solidFill>
            <a:ln w="38100" cap="flat">
              <a:solidFill>
                <a:srgbClr val="C9DAE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9DAE2"/>
              </a:solidFill>
              <a:ln w="9525" cap="flat">
                <a:solidFill>
                  <a:srgbClr val="C9DAE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d1</c:v>
                  </c:pt>
                  <c:pt idx="1">
                    <c:v>d2</c:v>
                  </c:pt>
                  <c:pt idx="2">
                    <c:v>d3</c:v>
                  </c:pt>
                  <c:pt idx="3">
                    <c:v>d4</c:v>
                  </c:pt>
                  <c:pt idx="4">
                    <c:v>d5</c:v>
                  </c:pt>
                  <c:pt idx="5">
                    <c:v>d6</c:v>
                  </c:pt>
                  <c:pt idx="6">
                    <c:v>d7</c:v>
                  </c:pt>
                  <c:pt idx="7">
                    <c:v>d8</c:v>
                  </c:pt>
                  <c:pt idx="8">
                    <c:v>d9</c:v>
                  </c:pt>
                  <c:pt idx="9">
                    <c:v>d10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0.72</c:v>
                </c:pt>
                <c:pt idx="1">
                  <c:v>0.71</c:v>
                </c:pt>
                <c:pt idx="2">
                  <c:v>0.73</c:v>
                </c:pt>
                <c:pt idx="3">
                  <c:v>0.72</c:v>
                </c:pt>
                <c:pt idx="4">
                  <c:v>0.45</c:v>
                </c:pt>
                <c:pt idx="5">
                  <c:v>0.73</c:v>
                </c:pt>
                <c:pt idx="6">
                  <c:v>0.7</c:v>
                </c:pt>
                <c:pt idx="7">
                  <c:v>0.72</c:v>
                </c:pt>
                <c:pt idx="8">
                  <c:v>0.71</c:v>
                </c:pt>
                <c:pt idx="9">
                  <c:v>0.74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EWMA (α = 0.10)</c:v>
                </c:pt>
              </c:strCache>
            </c:strRef>
          </c:tx>
          <c:spPr>
            <a:solidFill>
              <a:srgbClr val="C9DAE2"/>
            </a:solidFill>
            <a:ln w="38100" cap="flat">
              <a:solidFill>
                <a:srgbClr val="C9DAE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2C39A"/>
              </a:solidFill>
              <a:ln w="9525" cap="flat">
                <a:solidFill>
                  <a:srgbClr val="C9DAE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d1</c:v>
                  </c:pt>
                  <c:pt idx="1">
                    <c:v>d2</c:v>
                  </c:pt>
                  <c:pt idx="2">
                    <c:v>d3</c:v>
                  </c:pt>
                  <c:pt idx="3">
                    <c:v>d4</c:v>
                  </c:pt>
                  <c:pt idx="4">
                    <c:v>d5</c:v>
                  </c:pt>
                  <c:pt idx="5">
                    <c:v>d6</c:v>
                  </c:pt>
                  <c:pt idx="6">
                    <c:v>d7</c:v>
                  </c:pt>
                  <c:pt idx="7">
                    <c:v>d8</c:v>
                  </c:pt>
                  <c:pt idx="8">
                    <c:v>d9</c:v>
                  </c:pt>
                  <c:pt idx="9">
                    <c:v>d10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0.715</c:v>
                </c:pt>
                <c:pt idx="1">
                  <c:v>0.715</c:v>
                </c:pt>
                <c:pt idx="2">
                  <c:v>0.716</c:v>
                </c:pt>
                <c:pt idx="3">
                  <c:v>0.716</c:v>
                </c:pt>
                <c:pt idx="4">
                  <c:v>0.689</c:v>
                </c:pt>
                <c:pt idx="5">
                  <c:v>0.693</c:v>
                </c:pt>
                <c:pt idx="6">
                  <c:v>0.694</c:v>
                </c:pt>
                <c:pt idx="7">
                  <c:v>0.697</c:v>
                </c:pt>
                <c:pt idx="8">
                  <c:v>0.698</c:v>
                </c:pt>
                <c:pt idx="9">
                  <c:v>0.702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E6E7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  <c:min val="0.35"/>
        </c:scaling>
        <c:delete val="0"/>
        <c:axPos val="l"/>
        <c:majorGridlines>
          <c:spPr>
            <a:ln w="12700" cap="flat">
              <a:solidFill>
                <a:srgbClr val="E7EC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E6E7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E6E7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Yield on cost (%)</c:v>
                </c:pt>
              </c:strCache>
            </c:strRef>
          </c:tx>
          <c:spPr>
            <a:solidFill>
              <a:srgbClr val="02C39A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E6E7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now</c:v>
                  </c:pt>
                  <c:pt idx="1">
                    <c:v>+1y</c:v>
                  </c:pt>
                  <c:pt idx="2">
                    <c:v>+2y</c:v>
                  </c:pt>
                  <c:pt idx="3">
                    <c:v>+3y</c:v>
                  </c:pt>
                  <c:pt idx="4">
                    <c:v>+4y</c:v>
                  </c:pt>
                  <c:pt idx="5">
                    <c:v>+5y</c:v>
                  </c:pt>
                  <c:pt idx="6">
                    <c:v>+6y</c:v>
                  </c:pt>
                  <c:pt idx="7">
                    <c:v>+7y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</c:v>
                </c:pt>
                <c:pt idx="1">
                  <c:v>3.3</c:v>
                </c:pt>
                <c:pt idx="2">
                  <c:v>3.63</c:v>
                </c:pt>
                <c:pt idx="3">
                  <c:v>3.99</c:v>
                </c:pt>
                <c:pt idx="4">
                  <c:v>4.39</c:v>
                </c:pt>
                <c:pt idx="5">
                  <c:v>4.83</c:v>
                </c:pt>
                <c:pt idx="6">
                  <c:v>5.31</c:v>
                </c:pt>
                <c:pt idx="7">
                  <c:v>5.85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5E6E7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E6E7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supersedes the reactive daily-cycle architecture. The core claim: forcing a decision every day is noise trading. Most days the correct answer is no action.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old cycle is not deleted on day one — it keeps running through the migration. What changes is where the decision authority lives.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Success criterion: the system can go weeks without trading and that is correct behavior. The audit trail must always answer 'why did or didn't we trade today'.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Watchlist churn is a risk in itself — a screener that runs daily quietly turns the whole system reactive again through the back door.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Weekly plan review is the deliberate seam: it is where a human can inspect and override before anything reaches the daily executor.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layer makes no decisions by design. Its only output is rows in signal_snapshots — which is also what makes backtesting possible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Smoothing on the signal side and a confirmation delay on the regime side are the same defense against whipsaw, applied at two different layers.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Regime detection is deliberately crude and transparent. A model here would be harder to trust and impossible to explain after the fact.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Worth challenging in review: a yield-based classifier will reclassify a name after a big price move. Whether category is sticky once a plan exists, or re-evaluated each quarter, is an open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Only one active plan per symbol per direction. Conflicting plans are blocked at creation rather than reconciled at execution.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dividend and return targets are aspirational rather than executable — the schema still requires a share or budget target so the tranche executor always has something concrete to size against.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gates are ordered cheapest-check-first. Regime is a single lookup; budget requires pricing the tranche.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multiplier of zero means skip this tranche, not cancel the plan — the plan resumes on its own when the regime lifts. This is why pause and cancel had to stay separate states.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Hysteresis and conviction scaling both come from the same observation: a threshold is a cliff, and portfolios should not be run off cliffs.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Chunky stocks and partial fills are the two most likely to bite first, because both show up the moment real orders are placed.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Concepts only here — the full DDL lives in doc 08. The point on the slide is that each table answers one question and none of them overlap.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4 is the only irreversible-feeling step. Everything before it can be built, observed and abandoned at no cost to the running 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first criterion is the one to keep repeating: a quiet system is the design working, not the design failing.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371600"/>
            <a:ext cx="5120640" cy="5120640"/>
          </a:xfrm>
          <a:prstGeom prst="ellipse">
            <a:avLst/>
          </a:prstGeom>
          <a:solidFill>
            <a:srgbClr val="1B2C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424160" y="4206240"/>
            <a:ext cx="3108960" cy="3108960"/>
          </a:xfrm>
          <a:prstGeom prst="ellipse">
            <a:avLst/>
          </a:prstGeom>
          <a:solidFill>
            <a:srgbClr val="1524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66928" y="8686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REVISION  ·  DOC 08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1887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atn-trd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08483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Strategic Plan-Based Trading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670048"/>
            <a:ext cx="7040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no longer decides every day. It classifies its own watchlist, collects signals continuously, reads the market regime, and executes a tranche only when conviction and conditions align.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3730752"/>
            <a:ext cx="7040880" cy="786384"/>
          </a:xfrm>
          <a:prstGeom prst="roundRect">
            <a:avLst>
              <a:gd name="adj" fmla="val 6977"/>
            </a:avLst>
          </a:prstGeom>
          <a:solidFill>
            <a:srgbClr val="1B2C45"/>
          </a:solidFill>
          <a:ln w="12700">
            <a:solidFill>
              <a:srgbClr val="2E466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3730752"/>
            <a:ext cx="6537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“Investment is waiting. Hurry to pick immature fruit makes my stomach sick.”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66928" y="4828032"/>
            <a:ext cx="1316736" cy="749808"/>
          </a:xfrm>
          <a:prstGeom prst="roundRect">
            <a:avLst>
              <a:gd name="adj" fmla="val 7317"/>
            </a:avLst>
          </a:prstGeom>
          <a:solidFill>
            <a:srgbClr val="152439"/>
          </a:solidFill>
          <a:ln w="12700">
            <a:solidFill>
              <a:srgbClr val="2E466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66928" y="4882896"/>
            <a:ext cx="1316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5239512"/>
            <a:ext cx="1316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rhythms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1993392" y="4828032"/>
            <a:ext cx="1316736" cy="749808"/>
          </a:xfrm>
          <a:prstGeom prst="roundRect">
            <a:avLst>
              <a:gd name="adj" fmla="val 7317"/>
            </a:avLst>
          </a:prstGeom>
          <a:solidFill>
            <a:srgbClr val="152439"/>
          </a:solidFill>
          <a:ln w="12700">
            <a:solidFill>
              <a:srgbClr val="2E466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993392" y="4882896"/>
            <a:ext cx="1316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1993392" y="5239512"/>
            <a:ext cx="1316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regime states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419856" y="4828032"/>
            <a:ext cx="1316736" cy="749808"/>
          </a:xfrm>
          <a:prstGeom prst="roundRect">
            <a:avLst>
              <a:gd name="adj" fmla="val 7317"/>
            </a:avLst>
          </a:prstGeom>
          <a:solidFill>
            <a:srgbClr val="152439"/>
          </a:solidFill>
          <a:ln w="12700">
            <a:solidFill>
              <a:srgbClr val="2E466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419856" y="4882896"/>
            <a:ext cx="1316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100" dirty="0"/>
          </a:p>
        </p:txBody>
      </p:sp>
      <p:sp>
        <p:nvSpPr>
          <p:cNvPr id="18" name="Text 16"/>
          <p:cNvSpPr txBox="1"/>
          <p:nvPr/>
        </p:nvSpPr>
        <p:spPr>
          <a:xfrm>
            <a:off x="3419856" y="5239512"/>
            <a:ext cx="1316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categories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846320" y="4828032"/>
            <a:ext cx="1316736" cy="749808"/>
          </a:xfrm>
          <a:prstGeom prst="roundRect">
            <a:avLst>
              <a:gd name="adj" fmla="val 7317"/>
            </a:avLst>
          </a:prstGeom>
          <a:solidFill>
            <a:srgbClr val="152439"/>
          </a:solidFill>
          <a:ln w="12700">
            <a:solidFill>
              <a:srgbClr val="2E466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46320" y="4882896"/>
            <a:ext cx="1316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100" dirty="0"/>
          </a:p>
        </p:txBody>
      </p:sp>
      <p:sp>
        <p:nvSpPr>
          <p:cNvPr id="21" name="Text 19"/>
          <p:cNvSpPr txBox="1"/>
          <p:nvPr/>
        </p:nvSpPr>
        <p:spPr>
          <a:xfrm>
            <a:off x="4846320" y="5239512"/>
            <a:ext cx="1316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tables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272784" y="4828032"/>
            <a:ext cx="1316736" cy="749808"/>
          </a:xfrm>
          <a:prstGeom prst="roundRect">
            <a:avLst>
              <a:gd name="adj" fmla="val 7317"/>
            </a:avLst>
          </a:prstGeom>
          <a:solidFill>
            <a:srgbClr val="152439"/>
          </a:solidFill>
          <a:ln w="12700">
            <a:solidFill>
              <a:srgbClr val="2E466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72784" y="4882896"/>
            <a:ext cx="1316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100" dirty="0"/>
          </a:p>
        </p:txBody>
      </p:sp>
      <p:sp>
        <p:nvSpPr>
          <p:cNvPr id="24" name="Text 22"/>
          <p:cNvSpPr txBox="1"/>
          <p:nvPr/>
        </p:nvSpPr>
        <p:spPr>
          <a:xfrm>
            <a:off x="6272784" y="5239512"/>
            <a:ext cx="1316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566928" y="6053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 #131 — Strategic Plan-Based Trading System   ·   Engineering design review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SHIFT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2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changes, and why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5349240" cy="2880360"/>
          </a:xfrm>
          <a:prstGeom prst="roundRect">
            <a:avLst>
              <a:gd name="adj" fmla="val 1905"/>
            </a:avLst>
          </a:prstGeom>
          <a:solidFill>
            <a:srgbClr val="F4F5F6"/>
          </a:solidFill>
          <a:ln w="12700">
            <a:solidFill>
              <a:srgbClr val="DDE1E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77824" y="1719072"/>
            <a:ext cx="4727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5E6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 — REACTIVE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877824" y="2084832"/>
            <a:ext cx="4727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2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Every day → Analyze → Decide → Trade → Repeat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77824" y="2706624"/>
            <a:ext cx="47274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9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5E6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decision is forced whether or not there is anything to decide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5E6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Single-day noise moves real money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5E6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memory of conviction building or fading over weeks</a:t>
            </a:r>
            <a:endParaRPr lang="en-US" sz="1300" dirty="0"/>
          </a:p>
          <a:p>
            <a:pPr marL="342900" indent="-342900">
              <a:lnSpc>
                <a:spcPts val="1900"/>
              </a:lnSpc>
              <a:buSzPct val="100000"/>
              <a:buChar char="•"/>
            </a:pPr>
            <a:r>
              <a:rPr lang="en-US" sz="1300" dirty="0">
                <a:solidFill>
                  <a:srgbClr val="5E6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holding is treated as the same kind of holding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00216" y="1481328"/>
            <a:ext cx="5349240" cy="2880360"/>
          </a:xfrm>
          <a:prstGeom prst="roundRect">
            <a:avLst>
              <a:gd name="adj" fmla="val 1905"/>
            </a:avLst>
          </a:prstGeom>
          <a:solidFill>
            <a:srgbClr val="E3F2EE"/>
          </a:solidFill>
          <a:ln w="12700">
            <a:solidFill>
              <a:srgbClr val="B9DED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11112" y="1719072"/>
            <a:ext cx="4727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— STRATEGIC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6611112" y="2084832"/>
            <a:ext cx="4727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22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Collect → Wait → Threshold + Regime → Execute tranche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6611112" y="2706624"/>
            <a:ext cx="47274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9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622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Signals accumulate daily; decisions are event-driven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622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Positions are built in tranches, spaced over weeks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622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Conviction is a smoothed score, not a single reading</a:t>
            </a:r>
            <a:endParaRPr lang="en-US" sz="1300" dirty="0"/>
          </a:p>
          <a:p>
            <a:pPr marL="342900" indent="-342900">
              <a:lnSpc>
                <a:spcPts val="1900"/>
              </a:lnSpc>
              <a:buSzPct val="100000"/>
              <a:buChar char="•"/>
            </a:pPr>
            <a:r>
              <a:rPr lang="en-US" sz="1300" dirty="0">
                <a:solidFill>
                  <a:srgbClr val="1622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name has a category, and the regime treats them differently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66928" y="4709160"/>
            <a:ext cx="11055096" cy="1417320"/>
          </a:xfrm>
          <a:prstGeom prst="roundRect">
            <a:avLst>
              <a:gd name="adj" fmla="val 3871"/>
            </a:avLst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50976" y="4901184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questions, asked continuously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950976" y="5257800"/>
            <a:ext cx="3200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signals am I seeing across the watchlist?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407408" y="5257800"/>
            <a:ext cx="3200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the market regime favorable for action?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863840" y="5257800"/>
            <a:ext cx="3200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Has conviction reached the tranche threshold?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PHILOSOPHY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2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Most days, the answer is no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577840" cy="2286000"/>
          </a:xfrm>
          <a:prstGeom prst="roundRect">
            <a:avLst>
              <a:gd name="adj" fmla="val 2400"/>
            </a:avLst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24128" y="1847088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ACTION</a:t>
            </a:r>
            <a:endParaRPr lang="en-US" sz="5200" dirty="0"/>
          </a:p>
        </p:txBody>
      </p:sp>
      <p:sp>
        <p:nvSpPr>
          <p:cNvPr id="6" name="Text 4"/>
          <p:cNvSpPr txBox="1"/>
          <p:nvPr/>
        </p:nvSpPr>
        <p:spPr>
          <a:xfrm>
            <a:off x="1024128" y="272491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— waiting —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1024128" y="312724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a correct, logged, explainable outcome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528816" y="1554480"/>
            <a:ext cx="310896" cy="31089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28816" y="1554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004304" y="151790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Signals are cheap, trades are not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004304" y="1801368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E6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 runs every day and costs nothing. Execution is rationed.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528816" y="2359152"/>
            <a:ext cx="310896" cy="31089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28816" y="23591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004304" y="232257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Conviction is built, not found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004304" y="2606040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E6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score that clears threshold once is noise; one that holds is a thesis.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528816" y="3163824"/>
            <a:ext cx="310896" cy="31089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28816" y="3163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7004304" y="312724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Patience is a design constraint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004304" y="3410712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E6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spacing between tranches is enforced in code, not left to judgment.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160520"/>
            <a:ext cx="11055096" cy="1965960"/>
          </a:xfrm>
          <a:prstGeom prst="roundRect">
            <a:avLst>
              <a:gd name="adj" fmla="val 2791"/>
            </a:avLst>
          </a:prstGeom>
          <a:solidFill>
            <a:srgbClr val="EEF4F7"/>
          </a:solidFill>
          <a:ln w="12700">
            <a:solidFill>
              <a:srgbClr val="C9DAE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50976" y="4370832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2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psychologically hard — so the system narrates its silence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950976" y="4663440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will feel broken when it doesn't trade. Notifications make the waiting legible.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50976" y="5010912"/>
            <a:ext cx="1028700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C9DAE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133856" y="5074920"/>
            <a:ext cx="99669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622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[WAITING]  Regime RISK_ON, AAPL score 0.62 &lt; 0.70. Next check: 5 days.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622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[WAITING]  GOOGL tranche 2/4 ready in 3 days.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622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[PAUSED]   MSFT plan paused: RISK_OFF streak day 2.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CADENCE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2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distinct rhythms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3429000" cy="2743200"/>
          </a:xfrm>
          <a:prstGeom prst="roundRect">
            <a:avLst>
              <a:gd name="adj" fmla="val 2000"/>
            </a:avLst>
          </a:prstGeom>
          <a:solidFill>
            <a:srgbClr val="EEF4F7"/>
          </a:solidFill>
          <a:ln w="12700">
            <a:solidFill>
              <a:srgbClr val="C9DAE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77824" y="1773936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7824" y="2331720"/>
            <a:ext cx="2807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COLLECTION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77824" y="2615184"/>
            <a:ext cx="28072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2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Daily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77824" y="3200400"/>
            <a:ext cx="28072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E6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 news, prices, macro and sentiment. Compute rolling metrics. Make no decisions at all.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270248" y="1481328"/>
            <a:ext cx="3429000" cy="2743200"/>
          </a:xfrm>
          <a:prstGeom prst="roundRect">
            <a:avLst>
              <a:gd name="adj" fmla="val 2000"/>
            </a:avLst>
          </a:prstGeom>
          <a:solidFill>
            <a:srgbClr val="EEF4F7"/>
          </a:solidFill>
          <a:ln w="12700">
            <a:solidFill>
              <a:srgbClr val="C9DAE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81144" y="1773936"/>
            <a:ext cx="384048" cy="38404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81144" y="2331720"/>
            <a:ext cx="2807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WATCHLIST CURATION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81144" y="2615184"/>
            <a:ext cx="28072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2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Quarterly + event-driven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581144" y="3200400"/>
            <a:ext cx="28072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E6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screener picks the symbols and classifies each one itself. Manual overrides only for IPOs and crises.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973568" y="1481328"/>
            <a:ext cx="3429000" cy="2743200"/>
          </a:xfrm>
          <a:prstGeom prst="roundRect">
            <a:avLst>
              <a:gd name="adj" fmla="val 2000"/>
            </a:avLst>
          </a:prstGeom>
          <a:solidFill>
            <a:srgbClr val="EEF4F7"/>
          </a:solidFill>
          <a:ln w="12700">
            <a:solidFill>
              <a:srgbClr val="C9DAE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84464" y="1773936"/>
            <a:ext cx="384048" cy="384048"/>
          </a:xfrm>
          <a:prstGeom prst="ellipse">
            <a:avLst/>
          </a:prstGeom>
          <a:solidFill>
            <a:srgbClr val="0F1B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84464" y="2331720"/>
            <a:ext cx="2807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1622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284464" y="2615184"/>
            <a:ext cx="28072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2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Signal-triggered only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284464" y="3200400"/>
            <a:ext cx="28072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E6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Could be weeks of nothing, then a tranche. Never scheduled, always conditional.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66928" y="4498848"/>
            <a:ext cx="11055096" cy="1627632"/>
          </a:xfrm>
          <a:prstGeom prst="roundRect">
            <a:avLst>
              <a:gd name="adj" fmla="val 3371"/>
            </a:avLst>
          </a:prstGeom>
          <a:solidFill>
            <a:srgbClr val="E3F2EE"/>
          </a:solidFill>
          <a:ln w="12700">
            <a:solidFill>
              <a:srgbClr val="B9DED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50976" y="47000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separate them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950976" y="5029200"/>
            <a:ext cx="10287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622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Collapsing all three into one daily job is exactly what produced noise trading. Collection must be cheap and unconditional; curation must be rare, deliberate and self-describing; execution must be gated. Each rhythm has its own failure mode, so each gets its own job, its own log, and its own settings section.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LOOP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2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 week actually runs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11055096" cy="987552"/>
          </a:xfrm>
          <a:prstGeom prst="roundRect">
            <a:avLst>
              <a:gd name="adj" fmla="val 5556"/>
            </a:avLst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78408" y="1600200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QUARTERLY / EVENT-DRIVEN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978408" y="1920240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Screener picks symbols and classifies each one · estimates yield, dividend growth and expected CAGR · manual override only for IPOs and crises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943600" y="2414016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C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651760"/>
            <a:ext cx="11055096" cy="987552"/>
          </a:xfrm>
          <a:prstGeom prst="roundRect">
            <a:avLst>
              <a:gd name="adj" fmla="val 5556"/>
            </a:avLst>
          </a:prstGeom>
          <a:solidFill>
            <a:srgbClr val="EEF4F7"/>
          </a:solidFill>
          <a:ln w="12700">
            <a:solidFill>
              <a:srgbClr val="C9DAE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78408" y="2834640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— SIGNAL COLLECTION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978408" y="3154680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Prices, news sentiment, macro · rolling 14-day metrics · composite conviction updated · regime detected · no trading decisions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943600" y="3648456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C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66928" y="3886200"/>
            <a:ext cx="11055096" cy="987552"/>
          </a:xfrm>
          <a:prstGeom prst="roundRect">
            <a:avLst>
              <a:gd name="adj" fmla="val 5556"/>
            </a:avLst>
          </a:prstGeom>
          <a:solidFill>
            <a:srgbClr val="EEF4F7"/>
          </a:solidFill>
          <a:ln w="12700">
            <a:solidFill>
              <a:srgbClr val="C9DAE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78408" y="4069080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— PLAN REVIEW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978408" y="4389120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Signals checked against thresholds · new plans created · plans paused or resumed on regime · existing plans adjusted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4882896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C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5120640"/>
            <a:ext cx="11055096" cy="987552"/>
          </a:xfrm>
          <a:prstGeom prst="roundRect">
            <a:avLst>
              <a:gd name="adj" fmla="val 5556"/>
            </a:avLst>
          </a:prstGeom>
          <a:solidFill>
            <a:srgbClr val="E3F2EE"/>
          </a:solidFill>
          <a:ln w="12700">
            <a:solidFill>
              <a:srgbClr val="B9DED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78408" y="5303520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— TRANCHE CHECK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978408" y="5623560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plans tested for eligibility: spacing, signal, regime, budget · tranche size scaled by category · execute or log the reason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623620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E6E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Most passes through the bottom band produce a logged reason, not an order.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1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2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Signal accumulation — the eyes and ears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630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COLLECTED DAILY — NO DECISIONS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5257800" cy="603504"/>
          </a:xfrm>
          <a:prstGeom prst="roundRect">
            <a:avLst>
              <a:gd name="adj" fmla="val 9091"/>
            </a:avLst>
          </a:prstGeom>
          <a:solidFill>
            <a:srgbClr val="EEF4F7"/>
          </a:solidFill>
          <a:ln w="12700">
            <a:solidFill>
              <a:srgbClr val="C9DAE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2002536"/>
            <a:ext cx="256032" cy="256032"/>
          </a:xfrm>
          <a:prstGeom prst="ellipse">
            <a:avLst/>
          </a:prstGeom>
          <a:solidFill>
            <a:srgbClr val="02C3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25296" y="197510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2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487168" y="1975104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Close, volume, position vs moving averages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2542032"/>
            <a:ext cx="5257800" cy="603504"/>
          </a:xfrm>
          <a:prstGeom prst="roundRect">
            <a:avLst>
              <a:gd name="adj" fmla="val 9091"/>
            </a:avLst>
          </a:prstGeom>
          <a:solidFill>
            <a:srgbClr val="EEF4F7"/>
          </a:solidFill>
          <a:ln w="12700">
            <a:solidFill>
              <a:srgbClr val="C9DAE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4672" y="2715768"/>
            <a:ext cx="256032" cy="256032"/>
          </a:xfrm>
          <a:prstGeom prst="ellipse">
            <a:avLst/>
          </a:prstGeom>
          <a:solidFill>
            <a:srgbClr val="02C3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225296" y="2688336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2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2487168" y="2688336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FinBERT scores over news headlines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3255264"/>
            <a:ext cx="5257800" cy="603504"/>
          </a:xfrm>
          <a:prstGeom prst="roundRect">
            <a:avLst>
              <a:gd name="adj" fmla="val 9091"/>
            </a:avLst>
          </a:prstGeom>
          <a:solidFill>
            <a:srgbClr val="EEF4F7"/>
          </a:solidFill>
          <a:ln w="12700">
            <a:solidFill>
              <a:srgbClr val="C9DAE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4672" y="3429000"/>
            <a:ext cx="256032" cy="256032"/>
          </a:xfrm>
          <a:prstGeom prst="ellipse">
            <a:avLst/>
          </a:prstGeom>
          <a:solidFill>
            <a:srgbClr val="02C3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225296" y="340156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2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2487168" y="3401568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VIX, yields, Fed funds rate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3968496"/>
            <a:ext cx="5257800" cy="603504"/>
          </a:xfrm>
          <a:prstGeom prst="roundRect">
            <a:avLst>
              <a:gd name="adj" fmla="val 9091"/>
            </a:avLst>
          </a:prstGeom>
          <a:solidFill>
            <a:srgbClr val="EEF4F7"/>
          </a:solidFill>
          <a:ln w="12700">
            <a:solidFill>
              <a:srgbClr val="C9DAE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" y="4142232"/>
            <a:ext cx="256032" cy="256032"/>
          </a:xfrm>
          <a:prstGeom prst="ellipse">
            <a:avLst/>
          </a:prstGeom>
          <a:solidFill>
            <a:srgbClr val="02C3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225296" y="411480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2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2487168" y="4114800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Relative performance against peers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36208" y="1463040"/>
            <a:ext cx="5394960" cy="2212848"/>
          </a:xfrm>
          <a:prstGeom prst="roundRect">
            <a:avLst>
              <a:gd name="adj" fmla="val 2479"/>
            </a:avLst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601968" y="170078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CONVICTION SCORE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601968" y="201168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number per symbol, per day — a weighted blend of level, direction and price momentum.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6601968" y="261518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level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10351008" y="26151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0.40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6601968" y="294436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trend (14-day slope)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10351008" y="29443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0.30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6601968" y="327355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momentum vs 50-day SMA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10351008" y="32735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0.30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236208" y="3803904"/>
            <a:ext cx="5394960" cy="1737360"/>
          </a:xfrm>
          <a:prstGeom prst="roundRect">
            <a:avLst>
              <a:gd name="adj" fmla="val 3158"/>
            </a:avLst>
          </a:prstGeom>
          <a:solidFill>
            <a:srgbClr val="E3F2EE"/>
          </a:solidFill>
          <a:ln w="12700">
            <a:solidFill>
              <a:srgbClr val="B9DED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601968" y="402336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Weights are configuration, not code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601968" y="4334256"/>
            <a:ext cx="4709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622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Thresholds and weights are settings so the first 30 days of collected data can be used to tune them by backtest — before any of it is allowed to move money.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566928" y="5806440"/>
            <a:ext cx="11055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E6E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the collection layer first and run it alone for 30 days — the thresholds are unknowable until there is data to fit them to.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REFINEMENT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2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Signal decay — why one bad day shouldn't trigger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66928" y="1517904"/>
          <a:ext cx="667512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66928" y="4846320"/>
            <a:ext cx="6675120" cy="1280160"/>
          </a:xfrm>
          <a:prstGeom prst="roundRect">
            <a:avLst>
              <a:gd name="adj" fmla="val 4286"/>
            </a:avLst>
          </a:prstGeom>
          <a:solidFill>
            <a:srgbClr val="EEF4F7"/>
          </a:solidFill>
          <a:ln w="12700">
            <a:solidFill>
              <a:srgbClr val="C9DAE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32688" y="5029200"/>
            <a:ext cx="5989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622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bad news day drops the raw score from 0.73 to 0.45. With α = 0.10 the smoothed score moves only from 0.715 to 0.689 — well clear of the 0.70 threshold, so no plan is paused and nothing is cancelled.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7626096" y="151790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α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626096" y="1883664"/>
            <a:ext cx="4023360" cy="777240"/>
          </a:xfrm>
          <a:prstGeom prst="roundRect">
            <a:avLst>
              <a:gd name="adj" fmla="val 7059"/>
            </a:avLst>
          </a:prstGeom>
          <a:solidFill>
            <a:srgbClr val="EEF4F7"/>
          </a:solidFill>
          <a:ln w="12700">
            <a:solidFill>
              <a:srgbClr val="C9DAE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900416" y="2011680"/>
            <a:ext cx="1051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0.05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8997696" y="20116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2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smooth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8997696" y="228600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E6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Long-term trend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626096" y="2798064"/>
            <a:ext cx="4023360" cy="777240"/>
          </a:xfrm>
          <a:prstGeom prst="roundRect">
            <a:avLst>
              <a:gd name="adj" fmla="val 7059"/>
            </a:avLst>
          </a:prstGeom>
          <a:solidFill>
            <a:srgbClr val="E3F2EE"/>
          </a:solidFill>
          <a:ln w="12700">
            <a:solidFill>
              <a:srgbClr val="B9DED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900416" y="2926080"/>
            <a:ext cx="1051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0.10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8997696" y="2926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2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8997696" y="320040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E6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626096" y="3712464"/>
            <a:ext cx="4023360" cy="777240"/>
          </a:xfrm>
          <a:prstGeom prst="roundRect">
            <a:avLst>
              <a:gd name="adj" fmla="val 7059"/>
            </a:avLst>
          </a:prstGeom>
          <a:solidFill>
            <a:srgbClr val="EEF4F7"/>
          </a:solidFill>
          <a:ln w="12700">
            <a:solidFill>
              <a:srgbClr val="C9DAE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900416" y="3840480"/>
            <a:ext cx="1051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0.20 +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8997696" y="38404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2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Responsive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8997696" y="411480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E6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reaction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7626096" y="4626864"/>
            <a:ext cx="4023360" cy="1499616"/>
          </a:xfrm>
          <a:prstGeom prst="roundRect">
            <a:avLst>
              <a:gd name="adj" fmla="val 3659"/>
            </a:avLst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900416" y="482803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idea, applied to regime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7900416" y="5138928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VIX can spike for one day and fall back. Plans pause only after three consecutive RISK_OFF days, tracked as a streak counter.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2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2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 regime — accumulate, or defend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3429000" cy="1691640"/>
          </a:xfrm>
          <a:prstGeom prst="roundRect">
            <a:avLst>
              <a:gd name="adj" fmla="val 3243"/>
            </a:avLst>
          </a:prstGeom>
          <a:solidFill>
            <a:srgbClr val="E3F2EE"/>
          </a:solidFill>
          <a:ln w="12700">
            <a:solidFill>
              <a:srgbClr val="B9DED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9536" y="1719072"/>
            <a:ext cx="274320" cy="27432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243584" y="1691640"/>
            <a:ext cx="2459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RISK_ON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59536" y="2121408"/>
            <a:ext cx="2843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healthy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859536" y="2432304"/>
            <a:ext cx="2843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1622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Accumulation runs at full size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70248" y="1481328"/>
            <a:ext cx="3429000" cy="1691640"/>
          </a:xfrm>
          <a:prstGeom prst="roundRect">
            <a:avLst>
              <a:gd name="adj" fmla="val 3243"/>
            </a:avLst>
          </a:prstGeom>
          <a:solidFill>
            <a:srgbClr val="FBF0E4"/>
          </a:solidFill>
          <a:ln w="12700">
            <a:solidFill>
              <a:srgbClr val="EBD9C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62856" y="1719072"/>
            <a:ext cx="274320" cy="274320"/>
          </a:xfrm>
          <a:prstGeom prst="ellipse">
            <a:avLst/>
          </a:prstGeom>
          <a:solidFill>
            <a:srgbClr val="B5651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946904" y="1691640"/>
            <a:ext cx="2459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NEUTRAL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562856" y="2121408"/>
            <a:ext cx="2843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 signals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4562856" y="2432304"/>
            <a:ext cx="2843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1622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sizing reduced by category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973568" y="1481328"/>
            <a:ext cx="3429000" cy="1691640"/>
          </a:xfrm>
          <a:prstGeom prst="roundRect">
            <a:avLst>
              <a:gd name="adj" fmla="val 3243"/>
            </a:avLst>
          </a:prstGeom>
          <a:solidFill>
            <a:srgbClr val="EEF4F7"/>
          </a:solidFill>
          <a:ln w="12700">
            <a:solidFill>
              <a:srgbClr val="C9DAE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66176" y="1719072"/>
            <a:ext cx="274320" cy="274320"/>
          </a:xfrm>
          <a:prstGeom prst="ellipse">
            <a:avLst/>
          </a:prstGeom>
          <a:solidFill>
            <a:srgbClr val="0F1B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650224" y="1691640"/>
            <a:ext cx="2459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RISK_OFF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266176" y="2121408"/>
            <a:ext cx="2843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stressed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8266176" y="2432304"/>
            <a:ext cx="2843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1622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pauses; income keeps buying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34564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SCORED FROM FOUR INDICATORS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3822192"/>
            <a:ext cx="6675120" cy="457200"/>
          </a:xfrm>
          <a:prstGeom prst="roundRect">
            <a:avLst>
              <a:gd name="adj" fmla="val 12000"/>
            </a:avLst>
          </a:prstGeom>
          <a:solidFill>
            <a:srgbClr val="EEF4F7"/>
          </a:solidFill>
          <a:ln w="12700">
            <a:solidFill>
              <a:srgbClr val="C9DAE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77824" y="391363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2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VIX above 25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5961888" y="3913632"/>
            <a:ext cx="969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0.30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66928" y="4370832"/>
            <a:ext cx="6675120" cy="457200"/>
          </a:xfrm>
          <a:prstGeom prst="roundRect">
            <a:avLst>
              <a:gd name="adj" fmla="val 12000"/>
            </a:avLst>
          </a:prstGeom>
          <a:solidFill>
            <a:srgbClr val="EEF4F7"/>
          </a:solidFill>
          <a:ln w="12700">
            <a:solidFill>
              <a:srgbClr val="C9DAE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77824" y="446227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2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VIX above 35 (extreme)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961888" y="4462272"/>
            <a:ext cx="969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+0.20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66928" y="4919472"/>
            <a:ext cx="6675120" cy="457200"/>
          </a:xfrm>
          <a:prstGeom prst="roundRect">
            <a:avLst>
              <a:gd name="adj" fmla="val 12000"/>
            </a:avLst>
          </a:prstGeom>
          <a:solidFill>
            <a:srgbClr val="EEF4F7"/>
          </a:solidFill>
          <a:ln w="12700">
            <a:solidFill>
              <a:srgbClr val="C9DAE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77824" y="501091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2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Yield curve inverted (10Y–2Y &lt; 0)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5961888" y="5010912"/>
            <a:ext cx="969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0.25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66928" y="5468112"/>
            <a:ext cx="6675120" cy="457200"/>
          </a:xfrm>
          <a:prstGeom prst="roundRect">
            <a:avLst>
              <a:gd name="adj" fmla="val 12000"/>
            </a:avLst>
          </a:prstGeom>
          <a:solidFill>
            <a:srgbClr val="EEF4F7"/>
          </a:solidFill>
          <a:ln w="12700">
            <a:solidFill>
              <a:srgbClr val="C9DAE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77824" y="55595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2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Breadth below 40% above 200 SMA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5961888" y="5559552"/>
            <a:ext cx="969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0.25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7626096" y="3456432"/>
            <a:ext cx="4023360" cy="2651760"/>
          </a:xfrm>
          <a:prstGeom prst="roundRect">
            <a:avLst>
              <a:gd name="adj" fmla="val 2069"/>
            </a:avLst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918704" y="367588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SCORE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7918704" y="4041648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≥ 0.50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9089136" y="404164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RISK_OFF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7918704" y="4517136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≥ 0.25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9089136" y="45171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NEUTRAL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7918704" y="49926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0.25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9089136" y="4992624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RISK_ON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7918704" y="550468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Regime is recorded every day with its indicator breakdown, so any pause can be explained months later.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2.5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2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watchlist classifies itself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7160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E6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screener runs, it does not just pick names — it decides what kind of holding each one is, and everything downstream inherits that answer.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847088"/>
            <a:ext cx="6675120" cy="859536"/>
          </a:xfrm>
          <a:prstGeom prst="roundRect">
            <a:avLst>
              <a:gd name="adj" fmla="val 6383"/>
            </a:avLst>
          </a:prstGeom>
          <a:solidFill>
            <a:srgbClr val="FBF0E4"/>
          </a:solidFill>
          <a:ln w="12700">
            <a:solidFill>
              <a:srgbClr val="EBD9C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993392"/>
            <a:ext cx="1874520" cy="310896"/>
          </a:xfrm>
          <a:prstGeom prst="roundRect">
            <a:avLst>
              <a:gd name="adj" fmla="val 14706"/>
            </a:avLst>
          </a:prstGeom>
          <a:solidFill>
            <a:srgbClr val="B5651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1993392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INCOME_BOOSTER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2852928" y="1984248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2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yield above 4%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50008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cash flow — the place the portfolio rotates to when the regime turns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2816352"/>
            <a:ext cx="6675120" cy="859536"/>
          </a:xfrm>
          <a:prstGeom prst="roundRect">
            <a:avLst>
              <a:gd name="adj" fmla="val 6383"/>
            </a:avLst>
          </a:prstGeom>
          <a:solidFill>
            <a:srgbClr val="E3F2EE"/>
          </a:solidFill>
          <a:ln w="12700">
            <a:solidFill>
              <a:srgbClr val="B9DED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2962656"/>
            <a:ext cx="1874520" cy="310896"/>
          </a:xfrm>
          <a:prstGeom prst="roundRect">
            <a:avLst>
              <a:gd name="adj" fmla="val 14706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2962656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DIVIDEND_GROWTH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2852928" y="2953512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2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yield 1–4% and dividend growing above 5% a year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3319272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Income that compounds rather than income bought at today's price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785616"/>
            <a:ext cx="6675120" cy="859536"/>
          </a:xfrm>
          <a:prstGeom prst="roundRect">
            <a:avLst>
              <a:gd name="adj" fmla="val 6383"/>
            </a:avLst>
          </a:prstGeom>
          <a:solidFill>
            <a:srgbClr val="EEF4F7"/>
          </a:solidFill>
          <a:ln w="12700">
            <a:solidFill>
              <a:srgbClr val="C9DAE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3931920"/>
            <a:ext cx="1874520" cy="310896"/>
          </a:xfrm>
          <a:prstGeom prst="roundRect">
            <a:avLst>
              <a:gd name="adj" fmla="val 14706"/>
            </a:avLst>
          </a:prstGeom>
          <a:solidFill>
            <a:srgbClr val="0F1B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3931920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GROWTH_CORE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2852928" y="3922776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2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everything else — little or no dividend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4288536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appreciation, and the first thing paused under stress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4791456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E6E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Rules are checked in that order, so the first match wins.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7626096" y="1810512"/>
            <a:ext cx="4562856" cy="3310128"/>
          </a:xfrm>
          <a:prstGeom prst="roundRect">
            <a:avLst>
              <a:gd name="adj" fmla="val 1657"/>
            </a:avLst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936992" y="20116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EMITTED PER SYMBOL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7936992" y="23774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symbol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9838944" y="23774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JNJ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7936992" y="272491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category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9838944" y="27249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DIVIDEND_GROWTH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7936992" y="3072384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conviction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9838944" y="307238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0.78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7936992" y="3419856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dividend yield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9838944" y="341985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2.9%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7936992" y="376732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dividend growth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9838944" y="37673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6% / yr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7936992" y="41148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estimated CAGR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9838944" y="41148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8%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7936992" y="455371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“Healthcare dividend aristocrat, 60+ years of increases”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566928" y="5266944"/>
            <a:ext cx="11055096" cy="859536"/>
          </a:xfrm>
          <a:prstGeom prst="roundRect">
            <a:avLst>
              <a:gd name="adj" fmla="val 6383"/>
            </a:avLst>
          </a:prstGeom>
          <a:solidFill>
            <a:srgbClr val="E3F2EE"/>
          </a:solidFill>
          <a:ln w="12700">
            <a:solidFill>
              <a:srgbClr val="B9DED2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77824" y="5266944"/>
            <a:ext cx="105156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280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SCREENER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1911096" y="5266944"/>
            <a:ext cx="23774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FA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2121408" y="5266944"/>
            <a:ext cx="105156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280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WATCHLIST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3154680" y="5266944"/>
            <a:ext cx="23774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FA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3364992" y="5266944"/>
            <a:ext cx="105156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280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PLANS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4398264" y="5266944"/>
            <a:ext cx="23774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FA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4608576" y="5266944"/>
            <a:ext cx="105156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280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6053328" y="5266944"/>
            <a:ext cx="52578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2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category and its estimates travel with the symbol. There is no manual tagging step, and nothing downstream has to re-derive what kind of holding this is.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3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2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Strategic plans — campaigns, not trades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3429000" cy="1874520"/>
          </a:xfrm>
          <a:prstGeom prst="roundRect">
            <a:avLst>
              <a:gd name="adj" fmla="val 2927"/>
            </a:avLst>
          </a:prstGeom>
          <a:solidFill>
            <a:srgbClr val="EEF4F7"/>
          </a:solidFill>
          <a:ln w="12700">
            <a:solidFill>
              <a:srgbClr val="C9DAE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9536" y="1737360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02C3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59536" y="173736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ACCUMULATE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859536" y="2194560"/>
            <a:ext cx="28437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1622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 position over time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59536" y="2724912"/>
            <a:ext cx="2843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5E6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 100 AAPL across 4 tranches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70248" y="1481328"/>
            <a:ext cx="3429000" cy="1874520"/>
          </a:xfrm>
          <a:prstGeom prst="roundRect">
            <a:avLst>
              <a:gd name="adj" fmla="val 2927"/>
            </a:avLst>
          </a:prstGeom>
          <a:solidFill>
            <a:srgbClr val="EEF4F7"/>
          </a:solidFill>
          <a:ln w="12700">
            <a:solidFill>
              <a:srgbClr val="C9DAE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62856" y="1737360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62856" y="173736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TRIM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562856" y="2194560"/>
            <a:ext cx="28437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1622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Reduce a position gradually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562856" y="2724912"/>
            <a:ext cx="2843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5E6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 50% of NVDA over 3 weeks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973568" y="1481328"/>
            <a:ext cx="3429000" cy="1874520"/>
          </a:xfrm>
          <a:prstGeom prst="roundRect">
            <a:avLst>
              <a:gd name="adj" fmla="val 2927"/>
            </a:avLst>
          </a:prstGeom>
          <a:solidFill>
            <a:srgbClr val="EEF4F7"/>
          </a:solidFill>
          <a:ln w="12700">
            <a:solidFill>
              <a:srgbClr val="C9DAE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66176" y="1737360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0F1B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66176" y="173736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HEDGE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8266176" y="2194560"/>
            <a:ext cx="28437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1622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Rotate into defensive assets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266176" y="2724912"/>
            <a:ext cx="2843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5E6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Allocate 20% to GLD / TLT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362102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LIFECYCLE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3986784"/>
            <a:ext cx="196596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9DAE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66928" y="3986784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22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2551176" y="3986784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A9BC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2898648" y="3986784"/>
            <a:ext cx="1965960" cy="566928"/>
          </a:xfrm>
          <a:prstGeom prst="roundRect">
            <a:avLst>
              <a:gd name="adj" fmla="val 9677"/>
            </a:avLst>
          </a:prstGeom>
          <a:solidFill>
            <a:srgbClr val="E3F2EE"/>
          </a:solidFill>
          <a:ln w="12700">
            <a:solidFill>
              <a:srgbClr val="B9DED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898648" y="3986784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22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ACTIVE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882896" y="3986784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A9BC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5230368" y="3986784"/>
            <a:ext cx="196596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9DAE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230368" y="3986784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22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PAUSED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7214616" y="3986784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A9BC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7562088" y="3986784"/>
            <a:ext cx="196596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9DAE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562088" y="3986784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22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COMPLETED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653528" y="3986784"/>
            <a:ext cx="196596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9DAE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653528" y="3986784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E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CANCELLED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9802368" y="3986784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E6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PAUSED is reversible. CANCELLED is not — it means conviction collapsed, and may itself trigger a TRIM.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66928" y="4828032"/>
            <a:ext cx="11055096" cy="1298448"/>
          </a:xfrm>
          <a:prstGeom prst="roundRect">
            <a:avLst>
              <a:gd name="adj" fmla="val 4225"/>
            </a:avLst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50976" y="5029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 is what the plan does. Category is what the holding is.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950976" y="5340096"/>
            <a:ext cx="10287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are independent: an ACCUMULATE plan on an income name behaves differently from an ACCUMULATE plan on a growth name. Creation notes record the thesis and the scores at the moment the plan opened, so “why are we still buying this?” has an answer that predates the position.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3, CONTINUED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2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plan is actually aiming at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44752"/>
            <a:ext cx="2560320" cy="1691640"/>
          </a:xfrm>
          <a:prstGeom prst="roundRect">
            <a:avLst>
              <a:gd name="adj" fmla="val 3243"/>
            </a:avLst>
          </a:prstGeom>
          <a:solidFill>
            <a:srgbClr val="EEF4F7"/>
          </a:solidFill>
          <a:ln w="12700">
            <a:solidFill>
              <a:srgbClr val="C9DAE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41248" y="164592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2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Shares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841248" y="20116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target_shares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2340864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2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Accumulate 100 shares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346704" y="1444752"/>
            <a:ext cx="2560320" cy="1691640"/>
          </a:xfrm>
          <a:prstGeom prst="roundRect">
            <a:avLst>
              <a:gd name="adj" fmla="val 3243"/>
            </a:avLst>
          </a:prstGeom>
          <a:solidFill>
            <a:srgbClr val="EEF4F7"/>
          </a:solidFill>
          <a:ln w="12700">
            <a:solidFill>
              <a:srgbClr val="C9DAE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21024" y="164592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2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Dollars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3621024" y="20116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target_budget_cents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3621024" y="2340864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2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 $10,000 in total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26480" y="1444752"/>
            <a:ext cx="2560320" cy="1691640"/>
          </a:xfrm>
          <a:prstGeom prst="roundRect">
            <a:avLst>
              <a:gd name="adj" fmla="val 3243"/>
            </a:avLst>
          </a:prstGeom>
          <a:solidFill>
            <a:srgbClr val="E3F2EE"/>
          </a:solidFill>
          <a:ln w="12700">
            <a:solidFill>
              <a:srgbClr val="B9DED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0" y="164592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2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Income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0" y="20116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280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target_dividend_cents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6400800" y="2340864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2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$500 a year of dividend income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909560" y="1572768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2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8906256" y="1444752"/>
            <a:ext cx="2560320" cy="1691640"/>
          </a:xfrm>
          <a:prstGeom prst="roundRect">
            <a:avLst>
              <a:gd name="adj" fmla="val 3243"/>
            </a:avLst>
          </a:prstGeom>
          <a:solidFill>
            <a:srgbClr val="E3F2EE"/>
          </a:solidFill>
          <a:ln w="12700">
            <a:solidFill>
              <a:srgbClr val="B9DED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80576" y="164592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2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Return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9180576" y="20116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280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target_total_return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9180576" y="2340864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2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 for a 15% CAGR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10689336" y="1572768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2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566928" y="3310128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YIELD ON COST — A 3% YIELDER GROWING ITS DIVIDEND 10% A YEAR</a:t>
            </a:r>
            <a:endParaRPr lang="en-US" sz="1000" dirty="0"/>
          </a:p>
        </p:txBody>
      </p:sp>
      <p:graphicFrame>
        <p:nvGraphicFramePr>
          <p:cNvPr id="23" name="Chart 0" descr=""/>
          <p:cNvGraphicFramePr/>
          <p:nvPr/>
        </p:nvGraphicFramePr>
        <p:xfrm>
          <a:off x="566928" y="3584448"/>
          <a:ext cx="603504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4" name="Shape 21"/>
          <p:cNvSpPr/>
          <p:nvPr/>
        </p:nvSpPr>
        <p:spPr>
          <a:xfrm>
            <a:off x="7059168" y="3310128"/>
            <a:ext cx="5129784" cy="2651760"/>
          </a:xfrm>
          <a:prstGeom prst="roundRect">
            <a:avLst>
              <a:gd name="adj" fmla="val 2069"/>
            </a:avLst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388352" y="3529584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Income without chasing yield</a:t>
            </a:r>
            <a:endParaRPr lang="en-US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7388352" y="3877056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income target is not an instruction to buy the highest yield available. It is a destination the portfolio grows into.</a:t>
            </a:r>
            <a:endParaRPr lang="en-US" sz="1250" dirty="0"/>
          </a:p>
        </p:txBody>
      </p:sp>
      <p:sp>
        <p:nvSpPr>
          <p:cNvPr id="27" name="Text 24"/>
          <p:cNvSpPr txBox="1"/>
          <p:nvPr/>
        </p:nvSpPr>
        <p:spPr>
          <a:xfrm>
            <a:off x="7388352" y="4517136"/>
            <a:ext cx="4526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current yield is usually a distressed price, not a gift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dividend grower reaches the same yield later, on a healthier business</a:t>
            </a:r>
            <a:endParaRPr lang="en-US" sz="1250" dirty="0"/>
          </a:p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years of 10% growth doubles the yield on the original cost</a:t>
            </a:r>
            <a:endParaRPr lang="en-US" sz="125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614476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E6E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plan may carry more than one target; shares or dollars is still the constraint that has to be present.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4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2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Execution — four gates, checked daily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7315200" cy="731520"/>
          </a:xfrm>
          <a:prstGeom prst="roundRect">
            <a:avLst>
              <a:gd name="adj" fmla="val 7500"/>
            </a:avLst>
          </a:prstGeom>
          <a:solidFill>
            <a:srgbClr val="EEF4F7"/>
          </a:solidFill>
          <a:ln w="12700">
            <a:solidFill>
              <a:srgbClr val="C9DAE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691640"/>
            <a:ext cx="310896" cy="31089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691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609344"/>
            <a:ext cx="1143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Regime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441448" y="1609344"/>
            <a:ext cx="3566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2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is not paused by the current regime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6053328" y="1609344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fails → plan paused, reason logged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66928" y="2340864"/>
            <a:ext cx="7315200" cy="731520"/>
          </a:xfrm>
          <a:prstGeom prst="roundRect">
            <a:avLst>
              <a:gd name="adj" fmla="val 7500"/>
            </a:avLst>
          </a:prstGeom>
          <a:solidFill>
            <a:srgbClr val="EEF4F7"/>
          </a:solidFill>
          <a:ln w="12700">
            <a:solidFill>
              <a:srgbClr val="C9DAE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2551176"/>
            <a:ext cx="310896" cy="31089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25511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2468880"/>
            <a:ext cx="1143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441448" y="2468880"/>
            <a:ext cx="3566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2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N days since the last tranche (default 5)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053328" y="2468880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fails → waiting for timing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66928" y="3200400"/>
            <a:ext cx="7315200" cy="731520"/>
          </a:xfrm>
          <a:prstGeom prst="roundRect">
            <a:avLst>
              <a:gd name="adj" fmla="val 7500"/>
            </a:avLst>
          </a:prstGeom>
          <a:solidFill>
            <a:srgbClr val="EEF4F7"/>
          </a:solidFill>
          <a:ln w="12700">
            <a:solidFill>
              <a:srgbClr val="C9DAE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3410712"/>
            <a:ext cx="310896" cy="31089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34107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280160" y="3328416"/>
            <a:ext cx="1143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441448" y="3328416"/>
            <a:ext cx="3566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2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score still above the plan's threshold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6053328" y="3328416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fails → signal weakened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66928" y="4059936"/>
            <a:ext cx="7315200" cy="731520"/>
          </a:xfrm>
          <a:prstGeom prst="roundRect">
            <a:avLst>
              <a:gd name="adj" fmla="val 7500"/>
            </a:avLst>
          </a:prstGeom>
          <a:solidFill>
            <a:srgbClr val="EEF4F7"/>
          </a:solidFill>
          <a:ln w="12700">
            <a:solidFill>
              <a:srgbClr val="C9DAE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2960" y="4270248"/>
            <a:ext cx="310896" cy="31089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2960" y="42702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280160" y="4187952"/>
            <a:ext cx="1143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2441448" y="4187952"/>
            <a:ext cx="3566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2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Enough cash for a whole tranche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6053328" y="4187952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fails → insufficient funds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266176" y="1481328"/>
            <a:ext cx="3383280" cy="2148840"/>
          </a:xfrm>
          <a:prstGeom prst="roundRect">
            <a:avLst>
              <a:gd name="adj" fmla="val 2553"/>
            </a:avLst>
          </a:prstGeom>
          <a:solidFill>
            <a:srgbClr val="E3F2EE"/>
          </a:solidFill>
          <a:ln w="12700">
            <a:solidFill>
              <a:srgbClr val="B9DED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540496" y="170078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PASS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8540496" y="201168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22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Execute</a:t>
            </a:r>
            <a:endParaRPr lang="en-US" sz="2600" dirty="0"/>
          </a:p>
        </p:txBody>
      </p:sp>
      <p:sp>
        <p:nvSpPr>
          <p:cNvPr id="31" name="Text 29"/>
          <p:cNvSpPr txBox="1"/>
          <p:nvPr/>
        </p:nvSpPr>
        <p:spPr>
          <a:xfrm>
            <a:off x="8540496" y="2578608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622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tranche, sized by conviction and then multiplied by the category's regime factor.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8266176" y="384048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540496" y="405993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GATE FAILS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8540496" y="4370832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Skip and log</a:t>
            </a:r>
            <a:endParaRPr lang="en-US" sz="2400" dirty="0"/>
          </a:p>
        </p:txBody>
      </p:sp>
      <p:sp>
        <p:nvSpPr>
          <p:cNvPr id="35" name="Text 33"/>
          <p:cNvSpPr txBox="1"/>
          <p:nvPr/>
        </p:nvSpPr>
        <p:spPr>
          <a:xfrm>
            <a:off x="8540496" y="4956048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reason is persisted, not just printed. A quiet week has to be as explainable as a busy one.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566928" y="5074920"/>
            <a:ext cx="7223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i="1" dirty="0">
                <a:solidFill>
                  <a:srgbClr val="5E6E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sector cap is checked alongside the four gates — no sector may exceed 30% of the portfolio after a trade.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NEW RULE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2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Regime × category — how much, and of what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2880360" y="1463040"/>
            <a:ext cx="2816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4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CORE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833872" y="1463040"/>
            <a:ext cx="2816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4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DIVIDEND GROWTH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787384" y="1463040"/>
            <a:ext cx="2816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4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INCOME BOOSTER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865376"/>
            <a:ext cx="2194560" cy="1024128"/>
          </a:xfrm>
          <a:prstGeom prst="roundRect">
            <a:avLst>
              <a:gd name="adj" fmla="val 5357"/>
            </a:avLst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04672" y="2249424"/>
            <a:ext cx="237744" cy="237744"/>
          </a:xfrm>
          <a:prstGeom prst="ellipse">
            <a:avLst/>
          </a:prstGeom>
          <a:solidFill>
            <a:srgbClr val="02C3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33856" y="1865376"/>
            <a:ext cx="15544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RISK_ON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880360" y="1865376"/>
            <a:ext cx="2816352" cy="1024128"/>
          </a:xfrm>
          <a:prstGeom prst="roundRect">
            <a:avLst>
              <a:gd name="adj" fmla="val 5357"/>
            </a:avLst>
          </a:prstGeom>
          <a:solidFill>
            <a:srgbClr val="E3F2EE"/>
          </a:solidFill>
          <a:ln w="12700">
            <a:solidFill>
              <a:srgbClr val="B9DED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136392" y="2011680"/>
            <a:ext cx="2304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 1.0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136392" y="2414016"/>
            <a:ext cx="2304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622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tranches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833872" y="1865376"/>
            <a:ext cx="2816352" cy="1024128"/>
          </a:xfrm>
          <a:prstGeom prst="roundRect">
            <a:avLst>
              <a:gd name="adj" fmla="val 5357"/>
            </a:avLst>
          </a:prstGeom>
          <a:solidFill>
            <a:srgbClr val="E3F2EE"/>
          </a:solidFill>
          <a:ln w="12700">
            <a:solidFill>
              <a:srgbClr val="B9DED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89904" y="2011680"/>
            <a:ext cx="2304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 1.0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089904" y="2414016"/>
            <a:ext cx="2304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622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tranches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787384" y="1865376"/>
            <a:ext cx="2816352" cy="1024128"/>
          </a:xfrm>
          <a:prstGeom prst="roundRect">
            <a:avLst>
              <a:gd name="adj" fmla="val 5357"/>
            </a:avLst>
          </a:prstGeom>
          <a:solidFill>
            <a:srgbClr val="E3F2EE"/>
          </a:solidFill>
          <a:ln w="12700">
            <a:solidFill>
              <a:srgbClr val="B9DED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043416" y="2011680"/>
            <a:ext cx="2304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 1.0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9043416" y="2414016"/>
            <a:ext cx="2304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622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66928" y="2999232"/>
            <a:ext cx="2194560" cy="1024128"/>
          </a:xfrm>
          <a:prstGeom prst="roundRect">
            <a:avLst>
              <a:gd name="adj" fmla="val 5357"/>
            </a:avLst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04672" y="3383280"/>
            <a:ext cx="237744" cy="237744"/>
          </a:xfrm>
          <a:prstGeom prst="ellipse">
            <a:avLst/>
          </a:prstGeom>
          <a:solidFill>
            <a:srgbClr val="B5651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133856" y="2999232"/>
            <a:ext cx="15544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NEUTRAL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880360" y="2999232"/>
            <a:ext cx="2816352" cy="1024128"/>
          </a:xfrm>
          <a:prstGeom prst="roundRect">
            <a:avLst>
              <a:gd name="adj" fmla="val 5357"/>
            </a:avLst>
          </a:prstGeom>
          <a:solidFill>
            <a:srgbClr val="FBF0E4"/>
          </a:solidFill>
          <a:ln w="12700">
            <a:solidFill>
              <a:srgbClr val="EBD9C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136392" y="3145536"/>
            <a:ext cx="2304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565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 0.5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3136392" y="3547872"/>
            <a:ext cx="2304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622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 size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833872" y="2999232"/>
            <a:ext cx="2816352" cy="1024128"/>
          </a:xfrm>
          <a:prstGeom prst="roundRect">
            <a:avLst>
              <a:gd name="adj" fmla="val 5357"/>
            </a:avLst>
          </a:prstGeom>
          <a:solidFill>
            <a:srgbClr val="F4F5F6"/>
          </a:solidFill>
          <a:ln w="12700">
            <a:solidFill>
              <a:srgbClr val="DDE1E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089904" y="3145536"/>
            <a:ext cx="2304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E6E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 0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6089904" y="3547872"/>
            <a:ext cx="2304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E6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 dips only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8787384" y="2999232"/>
            <a:ext cx="2816352" cy="1024128"/>
          </a:xfrm>
          <a:prstGeom prst="roundRect">
            <a:avLst>
              <a:gd name="adj" fmla="val 5357"/>
            </a:avLst>
          </a:prstGeom>
          <a:solidFill>
            <a:srgbClr val="E3F2EE"/>
          </a:solidFill>
          <a:ln w="12700">
            <a:solidFill>
              <a:srgbClr val="B9DED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043416" y="3145536"/>
            <a:ext cx="2304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 1.0</a:t>
            </a:r>
            <a:endParaRPr lang="en-US" sz="2000" dirty="0"/>
          </a:p>
        </p:txBody>
      </p:sp>
      <p:sp>
        <p:nvSpPr>
          <p:cNvPr id="30" name="Text 28"/>
          <p:cNvSpPr txBox="1"/>
          <p:nvPr/>
        </p:nvSpPr>
        <p:spPr>
          <a:xfrm>
            <a:off x="9043416" y="3547872"/>
            <a:ext cx="2304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622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566928" y="4133088"/>
            <a:ext cx="2194560" cy="1024128"/>
          </a:xfrm>
          <a:prstGeom prst="roundRect">
            <a:avLst>
              <a:gd name="adj" fmla="val 5357"/>
            </a:avLst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04672" y="4517136"/>
            <a:ext cx="237744" cy="237744"/>
          </a:xfrm>
          <a:prstGeom prst="ellipse">
            <a:avLst/>
          </a:prstGeom>
          <a:solidFill>
            <a:srgbClr val="9FB3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133856" y="4133088"/>
            <a:ext cx="15544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RISK_OFF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2880360" y="4133088"/>
            <a:ext cx="2816352" cy="1024128"/>
          </a:xfrm>
          <a:prstGeom prst="roundRect">
            <a:avLst>
              <a:gd name="adj" fmla="val 5357"/>
            </a:avLst>
          </a:prstGeom>
          <a:solidFill>
            <a:srgbClr val="F4F5F6"/>
          </a:solidFill>
          <a:ln w="12700">
            <a:solidFill>
              <a:srgbClr val="DDE1E4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136392" y="4279392"/>
            <a:ext cx="2304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E6E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 0</a:t>
            </a:r>
            <a:endParaRPr lang="en-US" sz="2000" dirty="0"/>
          </a:p>
        </p:txBody>
      </p:sp>
      <p:sp>
        <p:nvSpPr>
          <p:cNvPr id="36" name="Text 34"/>
          <p:cNvSpPr txBox="1"/>
          <p:nvPr/>
        </p:nvSpPr>
        <p:spPr>
          <a:xfrm>
            <a:off x="3136392" y="4681728"/>
            <a:ext cx="2304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E6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Paused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5833872" y="4133088"/>
            <a:ext cx="2816352" cy="1024128"/>
          </a:xfrm>
          <a:prstGeom prst="roundRect">
            <a:avLst>
              <a:gd name="adj" fmla="val 5357"/>
            </a:avLst>
          </a:prstGeom>
          <a:solidFill>
            <a:srgbClr val="F4F5F6"/>
          </a:solidFill>
          <a:ln w="12700">
            <a:solidFill>
              <a:srgbClr val="DDE1E4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089904" y="4279392"/>
            <a:ext cx="2304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E6E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 0</a:t>
            </a:r>
            <a:endParaRPr lang="en-US" sz="2000" dirty="0"/>
          </a:p>
        </p:txBody>
      </p:sp>
      <p:sp>
        <p:nvSpPr>
          <p:cNvPr id="39" name="Text 37"/>
          <p:cNvSpPr txBox="1"/>
          <p:nvPr/>
        </p:nvSpPr>
        <p:spPr>
          <a:xfrm>
            <a:off x="6089904" y="4681728"/>
            <a:ext cx="2304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E6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new, hold existing</a:t>
            </a:r>
            <a:endParaRPr lang="en-US" sz="1250" dirty="0"/>
          </a:p>
        </p:txBody>
      </p:sp>
      <p:sp>
        <p:nvSpPr>
          <p:cNvPr id="40" name="Shape 38"/>
          <p:cNvSpPr/>
          <p:nvPr/>
        </p:nvSpPr>
        <p:spPr>
          <a:xfrm>
            <a:off x="8787384" y="4133088"/>
            <a:ext cx="2816352" cy="1024128"/>
          </a:xfrm>
          <a:prstGeom prst="roundRect">
            <a:avLst>
              <a:gd name="adj" fmla="val 5357"/>
            </a:avLst>
          </a:prstGeom>
          <a:solidFill>
            <a:srgbClr val="E3F2EE"/>
          </a:solidFill>
          <a:ln w="12700">
            <a:solidFill>
              <a:srgbClr val="B9DED2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043416" y="4279392"/>
            <a:ext cx="2304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 1.0</a:t>
            </a:r>
            <a:endParaRPr lang="en-US" sz="2000" dirty="0"/>
          </a:p>
        </p:txBody>
      </p:sp>
      <p:sp>
        <p:nvSpPr>
          <p:cNvPr id="42" name="Text 40"/>
          <p:cNvSpPr txBox="1"/>
          <p:nvPr/>
        </p:nvSpPr>
        <p:spPr>
          <a:xfrm>
            <a:off x="9043416" y="4681728"/>
            <a:ext cx="2304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622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Rotate here for cash flow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566928" y="5486400"/>
            <a:ext cx="11055096" cy="822960"/>
          </a:xfrm>
          <a:prstGeom prst="roundRect">
            <a:avLst>
              <a:gd name="adj" fmla="val 6667"/>
            </a:avLst>
          </a:prstGeom>
          <a:solidFill>
            <a:srgbClr val="E3F2EE"/>
          </a:solidFill>
          <a:ln w="12700">
            <a:solidFill>
              <a:srgbClr val="B9DED2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950976" y="5486400"/>
            <a:ext cx="10287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622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RISK_OFF is no longer a blanket stop. The portfolio stops adding risk and keeps adding cash flow — the multiplier does the work, so no plan has to be cancelled to change behavior.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CASE, PROMOTED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2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Thresholds that don't flap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26464"/>
            <a:ext cx="6035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E6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threshold at 0.70 means a score oscillating between 0.69 and 0.71 flips a plan between active and paused every other day. Three separated bands fix it.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2286000"/>
            <a:ext cx="6858000" cy="1005840"/>
          </a:xfrm>
          <a:prstGeom prst="roundRect">
            <a:avLst>
              <a:gd name="adj" fmla="val 5455"/>
            </a:avLst>
          </a:prstGeom>
          <a:solidFill>
            <a:srgbClr val="E3F2EE"/>
          </a:solidFill>
          <a:ln w="12700">
            <a:solidFill>
              <a:srgbClr val="B9DED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2505456"/>
            <a:ext cx="1097280" cy="566928"/>
          </a:xfrm>
          <a:prstGeom prst="roundRect">
            <a:avLst>
              <a:gd name="adj" fmla="val 8065"/>
            </a:avLst>
          </a:prstGeom>
          <a:solidFill>
            <a:srgbClr val="02C3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1248" y="2505456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0.70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2139696" y="252374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2139696" y="281635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2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 new ACCUMULATE plan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66928" y="3456432"/>
            <a:ext cx="6858000" cy="1005840"/>
          </a:xfrm>
          <a:prstGeom prst="roundRect">
            <a:avLst>
              <a:gd name="adj" fmla="val 5455"/>
            </a:avLst>
          </a:prstGeom>
          <a:solidFill>
            <a:srgbClr val="FBF0E4"/>
          </a:solidFill>
          <a:ln w="12700">
            <a:solidFill>
              <a:srgbClr val="EBD9C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1248" y="3675888"/>
            <a:ext cx="1097280" cy="566928"/>
          </a:xfrm>
          <a:prstGeom prst="roundRect">
            <a:avLst>
              <a:gd name="adj" fmla="val 8065"/>
            </a:avLst>
          </a:prstGeom>
          <a:solidFill>
            <a:srgbClr val="B5651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41248" y="3675888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0.60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2139696" y="369417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B56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2139696" y="398678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2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the plan, stop executing tranches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66928" y="4626864"/>
            <a:ext cx="6858000" cy="1005840"/>
          </a:xfrm>
          <a:prstGeom prst="roundRect">
            <a:avLst>
              <a:gd name="adj" fmla="val 5455"/>
            </a:avLst>
          </a:prstGeom>
          <a:solidFill>
            <a:srgbClr val="EEF4F7"/>
          </a:solidFill>
          <a:ln w="12700">
            <a:solidFill>
              <a:srgbClr val="C9DAE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248" y="4846320"/>
            <a:ext cx="1097280" cy="566928"/>
          </a:xfrm>
          <a:prstGeom prst="roundRect">
            <a:avLst>
              <a:gd name="adj" fmla="val 8065"/>
            </a:avLst>
          </a:prstGeom>
          <a:solidFill>
            <a:srgbClr val="0F1B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41248" y="4846320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0.45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2139696" y="486460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622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2139696" y="5157216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2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plan; consider an offsetting TRIM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7808976" y="1426464"/>
            <a:ext cx="3840480" cy="2231136"/>
          </a:xfrm>
          <a:prstGeom prst="roundRect">
            <a:avLst>
              <a:gd name="adj" fmla="val 2459"/>
            </a:avLst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101584" y="16459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DEAD ZONE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8101584" y="1956816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0.60 – 0.70</a:t>
            </a:r>
            <a:endParaRPr lang="en-US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8101584" y="2487168"/>
            <a:ext cx="3337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existing plan keeps running here, but no new plan opens. The gap is the whole point: entry and exit must never share a line.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7808976" y="3858768"/>
            <a:ext cx="3840480" cy="2267712"/>
          </a:xfrm>
          <a:prstGeom prst="roundRect">
            <a:avLst>
              <a:gd name="adj" fmla="val 2419"/>
            </a:avLst>
          </a:prstGeom>
          <a:solidFill>
            <a:srgbClr val="EEF4F7"/>
          </a:solidFill>
          <a:ln w="12700">
            <a:solidFill>
              <a:srgbClr val="C9DAE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101584" y="407822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2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Conviction-scaled tranches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8101584" y="4407408"/>
            <a:ext cx="3337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E6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fixed quarter ignores how strong the signal is. Tranche size scales with the score above 0.50, floored at 20% of base.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8101584" y="5376672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0280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 0.75  →  half a base tranche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0280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 0.90  →  four fifths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BREAKS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2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Edge cases and their mitigations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3429000" cy="2103120"/>
          </a:xfrm>
          <a:prstGeom prst="roundRect">
            <a:avLst>
              <a:gd name="adj" fmla="val 2609"/>
            </a:avLst>
          </a:prstGeom>
          <a:solidFill>
            <a:srgbClr val="EEF4F7"/>
          </a:solidFill>
          <a:ln w="12700">
            <a:solidFill>
              <a:srgbClr val="C9DAE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59536" y="1682496"/>
            <a:ext cx="2843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Chunky stocks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59536" y="2011680"/>
            <a:ext cx="28437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E6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$500 share price leaves cash stranded and orders rejected.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59536" y="2688336"/>
            <a:ext cx="2843784" cy="694944"/>
          </a:xfrm>
          <a:prstGeom prst="roundRect">
            <a:avLst>
              <a:gd name="adj" fmla="val 7895"/>
            </a:avLst>
          </a:prstGeom>
          <a:solidFill>
            <a:srgbClr val="E3F2EE"/>
          </a:solidFill>
          <a:ln w="12700">
            <a:solidFill>
              <a:srgbClr val="B9DED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87552" y="2743200"/>
            <a:ext cx="258775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622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a budget instead of a share count; floor to whole shares.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270248" y="1463040"/>
            <a:ext cx="3429000" cy="2103120"/>
          </a:xfrm>
          <a:prstGeom prst="roundRect">
            <a:avLst>
              <a:gd name="adj" fmla="val 2609"/>
            </a:avLst>
          </a:prstGeom>
          <a:solidFill>
            <a:srgbClr val="EEF4F7"/>
          </a:solidFill>
          <a:ln w="12700">
            <a:solidFill>
              <a:srgbClr val="C9DAE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62856" y="1682496"/>
            <a:ext cx="2843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Liquidity for hedging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562856" y="2011680"/>
            <a:ext cx="28437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E6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invested means no cash to rotate into GLD or TLT.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62856" y="2688336"/>
            <a:ext cx="2843784" cy="694944"/>
          </a:xfrm>
          <a:prstGeom prst="roundRect">
            <a:avLst>
              <a:gd name="adj" fmla="val 7895"/>
            </a:avLst>
          </a:prstGeom>
          <a:solidFill>
            <a:srgbClr val="E3F2EE"/>
          </a:solidFill>
          <a:ln w="12700">
            <a:solidFill>
              <a:srgbClr val="B9DED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90872" y="2743200"/>
            <a:ext cx="258775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622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RISK_OFF triggers paired TRIM plans on the weakest names first.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973568" y="1463040"/>
            <a:ext cx="3429000" cy="2103120"/>
          </a:xfrm>
          <a:prstGeom prst="roundRect">
            <a:avLst>
              <a:gd name="adj" fmla="val 2609"/>
            </a:avLst>
          </a:prstGeom>
          <a:solidFill>
            <a:srgbClr val="EEF4F7"/>
          </a:solidFill>
          <a:ln w="12700">
            <a:solidFill>
              <a:srgbClr val="C9DAE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66176" y="1682496"/>
            <a:ext cx="2843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fills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266176" y="2011680"/>
            <a:ext cx="28437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E6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Broker orders fill partially, or slowly.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266176" y="2688336"/>
            <a:ext cx="2843784" cy="694944"/>
          </a:xfrm>
          <a:prstGeom prst="roundRect">
            <a:avLst>
              <a:gd name="adj" fmla="val 7895"/>
            </a:avLst>
          </a:prstGeom>
          <a:solidFill>
            <a:srgbClr val="E3F2EE"/>
          </a:solidFill>
          <a:ln w="12700">
            <a:solidFill>
              <a:srgbClr val="B9DED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94192" y="2743200"/>
            <a:ext cx="258775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622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order status; count shares only once the fill is confirmed.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3749040"/>
            <a:ext cx="3429000" cy="2103120"/>
          </a:xfrm>
          <a:prstGeom prst="roundRect">
            <a:avLst>
              <a:gd name="adj" fmla="val 2609"/>
            </a:avLst>
          </a:prstGeom>
          <a:solidFill>
            <a:srgbClr val="EEF4F7"/>
          </a:solidFill>
          <a:ln w="12700">
            <a:solidFill>
              <a:srgbClr val="C9DAE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59536" y="3968496"/>
            <a:ext cx="2843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conflicts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59536" y="4297680"/>
            <a:ext cx="28437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E6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ACCUMULATE and TRIM opened on the same symbol.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59536" y="4974336"/>
            <a:ext cx="2843784" cy="694944"/>
          </a:xfrm>
          <a:prstGeom prst="roundRect">
            <a:avLst>
              <a:gd name="adj" fmla="val 7895"/>
            </a:avLst>
          </a:prstGeom>
          <a:solidFill>
            <a:srgbClr val="E3F2EE"/>
          </a:solidFill>
          <a:ln w="12700">
            <a:solidFill>
              <a:srgbClr val="B9DED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87552" y="5029200"/>
            <a:ext cx="258775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622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active plan per symbol per direction, blocked at creation.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270248" y="3749040"/>
            <a:ext cx="3429000" cy="2103120"/>
          </a:xfrm>
          <a:prstGeom prst="roundRect">
            <a:avLst>
              <a:gd name="adj" fmla="val 2609"/>
            </a:avLst>
          </a:prstGeom>
          <a:solidFill>
            <a:srgbClr val="EEF4F7"/>
          </a:solidFill>
          <a:ln w="12700">
            <a:solidFill>
              <a:srgbClr val="C9DAE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62856" y="3968496"/>
            <a:ext cx="2843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concentration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4562856" y="4297680"/>
            <a:ext cx="28437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E6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plans quietly stacking into one sector.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62856" y="4974336"/>
            <a:ext cx="2843784" cy="694944"/>
          </a:xfrm>
          <a:prstGeom prst="roundRect">
            <a:avLst>
              <a:gd name="adj" fmla="val 7895"/>
            </a:avLst>
          </a:prstGeom>
          <a:solidFill>
            <a:srgbClr val="E3F2EE"/>
          </a:solidFill>
          <a:ln w="12700">
            <a:solidFill>
              <a:srgbClr val="B9DED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690872" y="5029200"/>
            <a:ext cx="258775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622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exposure before each tranche; skip past a 30% cap.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7973568" y="3749040"/>
            <a:ext cx="3429000" cy="2103120"/>
          </a:xfrm>
          <a:prstGeom prst="roundRect">
            <a:avLst>
              <a:gd name="adj" fmla="val 2609"/>
            </a:avLst>
          </a:prstGeom>
          <a:solidFill>
            <a:srgbClr val="EEF4F7"/>
          </a:solidFill>
          <a:ln w="12700">
            <a:solidFill>
              <a:srgbClr val="C9DAE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66176" y="3968496"/>
            <a:ext cx="2843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Passive hedging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8266176" y="4297680"/>
            <a:ext cx="28437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E6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Pausing plans is not the same as defending.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8266176" y="4974336"/>
            <a:ext cx="2843784" cy="694944"/>
          </a:xfrm>
          <a:prstGeom prst="roundRect">
            <a:avLst>
              <a:gd name="adj" fmla="val 7895"/>
            </a:avLst>
          </a:prstGeom>
          <a:solidFill>
            <a:srgbClr val="E3F2EE"/>
          </a:solidFill>
          <a:ln w="12700">
            <a:solidFill>
              <a:srgbClr val="B9DED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394192" y="5029200"/>
            <a:ext cx="258775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622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two RISK_OFF days with cash free, open a HEDGE plan automatically.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6144768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E6E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of these was found by reasoning through a normal week, not by production incident — which is the cheapest place to find them.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2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new tables, one purpose each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2560320" cy="2926080"/>
          </a:xfrm>
          <a:prstGeom prst="roundRect">
            <a:avLst>
              <a:gd name="adj" fmla="val 2143"/>
            </a:avLst>
          </a:prstGeom>
          <a:solidFill>
            <a:srgbClr val="EEF4F7"/>
          </a:solidFill>
          <a:ln w="12700">
            <a:solidFill>
              <a:srgbClr val="C9DAE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737360"/>
            <a:ext cx="310896" cy="310896"/>
          </a:xfrm>
          <a:prstGeom prst="ellipse">
            <a:avLst/>
          </a:prstGeom>
          <a:solidFill>
            <a:srgbClr val="02C3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212848"/>
            <a:ext cx="20482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0280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signal_snapshots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61488"/>
            <a:ext cx="20482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E6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per symbol per day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145536"/>
            <a:ext cx="204825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622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signals, rolling metrics, composite and its smoothed form. This is also the backtesting corpus.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46704" y="1481328"/>
            <a:ext cx="2560320" cy="2926080"/>
          </a:xfrm>
          <a:prstGeom prst="roundRect">
            <a:avLst>
              <a:gd name="adj" fmla="val 2143"/>
            </a:avLst>
          </a:prstGeom>
          <a:solidFill>
            <a:srgbClr val="EEF4F7"/>
          </a:solidFill>
          <a:ln w="12700">
            <a:solidFill>
              <a:srgbClr val="C9DAE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02736" y="1737360"/>
            <a:ext cx="310896" cy="310896"/>
          </a:xfrm>
          <a:prstGeom prst="ellipse">
            <a:avLst/>
          </a:prstGeom>
          <a:solidFill>
            <a:srgbClr val="02C3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02736" y="2212848"/>
            <a:ext cx="20482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0280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market_regime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3602736" y="2761488"/>
            <a:ext cx="20482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E6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per day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602736" y="3145536"/>
            <a:ext cx="204825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622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regime, the indicator values behind it, the risk score and the consecutive-day streak.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26480" y="1481328"/>
            <a:ext cx="2560320" cy="2926080"/>
          </a:xfrm>
          <a:prstGeom prst="roundRect">
            <a:avLst>
              <a:gd name="adj" fmla="val 2143"/>
            </a:avLst>
          </a:prstGeom>
          <a:solidFill>
            <a:srgbClr val="EEF4F7"/>
          </a:solidFill>
          <a:ln w="12700">
            <a:solidFill>
              <a:srgbClr val="C9DAE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82512" y="1737360"/>
            <a:ext cx="310896" cy="310896"/>
          </a:xfrm>
          <a:prstGeom prst="ellipse">
            <a:avLst/>
          </a:prstGeom>
          <a:solidFill>
            <a:srgbClr val="02C3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82512" y="2212848"/>
            <a:ext cx="20482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0280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strategic_plans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382512" y="2761488"/>
            <a:ext cx="20482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E6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per campaign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6382512" y="3145536"/>
            <a:ext cx="204825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622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 and category, up to four target types, tranche settings, thresholds, status and the thesis at creation.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906256" y="1481328"/>
            <a:ext cx="2560320" cy="2926080"/>
          </a:xfrm>
          <a:prstGeom prst="roundRect">
            <a:avLst>
              <a:gd name="adj" fmla="val 2143"/>
            </a:avLst>
          </a:prstGeom>
          <a:solidFill>
            <a:srgbClr val="EEF4F7"/>
          </a:solidFill>
          <a:ln w="12700">
            <a:solidFill>
              <a:srgbClr val="C9DAE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62288" y="1737360"/>
            <a:ext cx="310896" cy="310896"/>
          </a:xfrm>
          <a:prstGeom prst="ellipse">
            <a:avLst/>
          </a:prstGeom>
          <a:solidFill>
            <a:srgbClr val="02C3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62288" y="2212848"/>
            <a:ext cx="20482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0280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plan_tranches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9162288" y="2761488"/>
            <a:ext cx="20482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E6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per execution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9162288" y="3145536"/>
            <a:ext cx="204825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622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Shares, price, order status, and the score and regime at the moment it fired.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66928" y="4626864"/>
            <a:ext cx="11055096" cy="1499616"/>
          </a:xfrm>
          <a:prstGeom prst="roundRect">
            <a:avLst>
              <a:gd name="adj" fmla="val 3659"/>
            </a:avLst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50976" y="484632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Conventions carry over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950976" y="5157216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stays integer cents, quantities stay real, dates stay TEXT on the ET calendar.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471416" y="484632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rides along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4471416" y="5157216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set once by the screener and stored on the plan, so execution never has to re-derive it.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7991856" y="484632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is the product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7991856" y="5157216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Thirty days of snapshots is what makes threshold tuning an experiment rather than a guess.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THERE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2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phases, additive until phase four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36192"/>
            <a:ext cx="1700784" cy="2514600"/>
          </a:xfrm>
          <a:prstGeom prst="roundRect">
            <a:avLst>
              <a:gd name="adj" fmla="val 3226"/>
            </a:avLst>
          </a:prstGeom>
          <a:solidFill>
            <a:srgbClr val="EEF4F7"/>
          </a:solidFill>
          <a:ln w="12700">
            <a:solidFill>
              <a:srgbClr val="C9DAE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737360"/>
            <a:ext cx="1700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249424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622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collection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852928"/>
            <a:ext cx="1371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E6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alongside the existing system, changing nothing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414016" y="1536192"/>
            <a:ext cx="1700784" cy="2514600"/>
          </a:xfrm>
          <a:prstGeom prst="roundRect">
            <a:avLst>
              <a:gd name="adj" fmla="val 3226"/>
            </a:avLst>
          </a:prstGeom>
          <a:solidFill>
            <a:srgbClr val="EEF4F7"/>
          </a:solidFill>
          <a:ln w="12700">
            <a:solidFill>
              <a:srgbClr val="C9DAE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414016" y="1737360"/>
            <a:ext cx="1700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2578608" y="2249424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622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Regime detection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2578608" y="2852928"/>
            <a:ext cx="1371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E6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Recorded daily, consulted by nothing yet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261104" y="1536192"/>
            <a:ext cx="1700784" cy="2514600"/>
          </a:xfrm>
          <a:prstGeom prst="roundRect">
            <a:avLst>
              <a:gd name="adj" fmla="val 3226"/>
            </a:avLst>
          </a:prstGeom>
          <a:solidFill>
            <a:srgbClr val="EEF4F7"/>
          </a:solidFill>
          <a:ln w="12700">
            <a:solidFill>
              <a:srgbClr val="C9DAE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61104" y="1737360"/>
            <a:ext cx="1700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4425696" y="2249424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622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plans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4425696" y="2852928"/>
            <a:ext cx="1371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E6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 and category layer exists but drives no trades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08192" y="1536192"/>
            <a:ext cx="1700784" cy="2514600"/>
          </a:xfrm>
          <a:prstGeom prst="roundRect">
            <a:avLst>
              <a:gd name="adj" fmla="val 3226"/>
            </a:avLst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108192" y="1737360"/>
            <a:ext cx="1700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6272784" y="2249424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Plan-driven cycle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6272784" y="2852928"/>
            <a:ext cx="1371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trading cycle is refactored — this is the switch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955280" y="1536192"/>
            <a:ext cx="1700784" cy="2514600"/>
          </a:xfrm>
          <a:prstGeom prst="roundRect">
            <a:avLst>
              <a:gd name="adj" fmla="val 3226"/>
            </a:avLst>
          </a:prstGeom>
          <a:solidFill>
            <a:srgbClr val="EEF4F7"/>
          </a:solidFill>
          <a:ln w="12700">
            <a:solidFill>
              <a:srgbClr val="C9DAE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955280" y="1737360"/>
            <a:ext cx="1700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8119872" y="2249424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622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119872" y="2852928"/>
            <a:ext cx="1371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E6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Plans, signals and regime become visible and editable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802368" y="1536192"/>
            <a:ext cx="1700784" cy="2514600"/>
          </a:xfrm>
          <a:prstGeom prst="roundRect">
            <a:avLst>
              <a:gd name="adj" fmla="val 3226"/>
            </a:avLst>
          </a:prstGeom>
          <a:solidFill>
            <a:srgbClr val="EEF4F7"/>
          </a:solidFill>
          <a:ln w="12700">
            <a:solidFill>
              <a:srgbClr val="C9DAE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802368" y="1737360"/>
            <a:ext cx="1700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600" dirty="0"/>
          </a:p>
        </p:txBody>
      </p:sp>
      <p:sp>
        <p:nvSpPr>
          <p:cNvPr id="26" name="Text 24"/>
          <p:cNvSpPr txBox="1"/>
          <p:nvPr/>
        </p:nvSpPr>
        <p:spPr>
          <a:xfrm>
            <a:off x="9966960" y="2249424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622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Deprecate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9966960" y="2852928"/>
            <a:ext cx="1371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E6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old reactive cycle is removed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66928" y="4315968"/>
            <a:ext cx="5394960" cy="1810512"/>
          </a:xfrm>
          <a:prstGeom prst="roundRect">
            <a:avLst>
              <a:gd name="adj" fmla="val 3030"/>
            </a:avLst>
          </a:prstGeom>
          <a:solidFill>
            <a:srgbClr val="E3F2EE"/>
          </a:solidFill>
          <a:ln w="12700">
            <a:solidFill>
              <a:srgbClr val="B9DED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32688" y="4535424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breaks on the way</a:t>
            </a:r>
            <a:endParaRPr lang="en-US" sz="1350" dirty="0"/>
          </a:p>
        </p:txBody>
      </p:sp>
      <p:sp>
        <p:nvSpPr>
          <p:cNvPr id="30" name="Text 28"/>
          <p:cNvSpPr txBox="1"/>
          <p:nvPr/>
        </p:nvSpPr>
        <p:spPr>
          <a:xfrm>
            <a:off x="932688" y="4864608"/>
            <a:ext cx="4709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622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1–3 are purely additive: new tables, new jobs, no change to how trades are decided. The existing daily cycle keeps working until phase four flips the source of decisions.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236208" y="4315968"/>
            <a:ext cx="5394960" cy="1810512"/>
          </a:xfrm>
          <a:prstGeom prst="roundRect">
            <a:avLst>
              <a:gd name="adj" fmla="val 3030"/>
            </a:avLst>
          </a:prstGeom>
          <a:solidFill>
            <a:srgbClr val="EEF4F7"/>
          </a:solidFill>
          <a:ln w="12700">
            <a:solidFill>
              <a:srgbClr val="C9DAE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601968" y="4535424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2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order of work</a:t>
            </a:r>
            <a:endParaRPr lang="en-US" sz="1350" dirty="0"/>
          </a:p>
        </p:txBody>
      </p:sp>
      <p:sp>
        <p:nvSpPr>
          <p:cNvPr id="33" name="Text 31"/>
          <p:cNvSpPr txBox="1"/>
          <p:nvPr/>
        </p:nvSpPr>
        <p:spPr>
          <a:xfrm>
            <a:off x="6601968" y="4864608"/>
            <a:ext cx="4709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5E6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database first, then collect for 30 days before tuning a single threshold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5E6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plan review right before worrying about tranche mechanics</a:t>
            </a:r>
            <a:endParaRPr lang="en-US" sz="1250" dirty="0"/>
          </a:p>
          <a:p>
            <a:pPr marL="342900" indent="-342900">
              <a:lnSpc>
                <a:spcPts val="1700"/>
              </a:lnSpc>
              <a:buSzPct val="100000"/>
              <a:buChar char="•"/>
            </a:pPr>
            <a:r>
              <a:rPr lang="en-US" sz="1250" dirty="0">
                <a:solidFill>
                  <a:srgbClr val="5E6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waiting notifications early — otherwise it looks broken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4023360"/>
            <a:ext cx="3840480" cy="3840480"/>
          </a:xfrm>
          <a:prstGeom prst="ellipse">
            <a:avLst/>
          </a:prstGeom>
          <a:solidFill>
            <a:srgbClr val="1524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29184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LOOKS LIKE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will hold this to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1536192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0F1B2D"/>
          </a:solidFill>
          <a:ln w="15875">
            <a:solidFill>
              <a:srgbClr val="02C39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05840" y="1481328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can go weeks without trading, and that reads as correct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099048" y="1536192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0F1B2D"/>
          </a:solidFill>
          <a:ln w="15875">
            <a:solidFill>
              <a:srgbClr val="02C39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37960" y="1481328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Trades fire only when conviction and regime agree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66928" y="2194560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0F1B2D"/>
          </a:solidFill>
          <a:ln w="15875">
            <a:solidFill>
              <a:srgbClr val="02C39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05840" y="2139696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day is explainable: why we did or didn't trade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099048" y="2194560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0F1B2D"/>
          </a:solidFill>
          <a:ln w="15875">
            <a:solidFill>
              <a:srgbClr val="02C39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37960" y="2139696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Hedging happens automatically when the regime turns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66928" y="2852928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0F1B2D"/>
          </a:solidFill>
          <a:ln w="15875">
            <a:solidFill>
              <a:srgbClr val="02C39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2798064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Watchlist changes are rare, deliberate and self-classifying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099048" y="2852928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0F1B2D"/>
          </a:solidFill>
          <a:ln w="15875">
            <a:solidFill>
              <a:srgbClr val="02C39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37960" y="2798064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history is deep enough to backtest against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66928" y="3511296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0F1B2D"/>
          </a:solidFill>
          <a:ln w="15875">
            <a:solidFill>
              <a:srgbClr val="02C39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05840" y="3456432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sector exceeds 30% of the portfolio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099048" y="3511296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0F1B2D"/>
          </a:solidFill>
          <a:ln w="15875">
            <a:solidFill>
              <a:srgbClr val="02C39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537960" y="3456432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Smoothing keeps single-day noise from moving money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66928" y="4315968"/>
            <a:ext cx="11055096" cy="1234440"/>
          </a:xfrm>
          <a:prstGeom prst="roundRect">
            <a:avLst>
              <a:gd name="adj" fmla="val 4444"/>
            </a:avLst>
          </a:prstGeom>
          <a:solidFill>
            <a:srgbClr val="1B2C45"/>
          </a:solidFill>
          <a:ln w="12700">
            <a:solidFill>
              <a:srgbClr val="2E466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50976" y="451713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decisions to settle in this review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50976" y="4828032"/>
            <a:ext cx="10287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a symbol's category is fixed once a plan exists or re-evaluated every quarter · whether phase 1 starts collecting now against the current watchlist · and who owns the weekly plan review while the UI does not yet exist.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566928" y="5943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 #132–#139  ·  doc 08 — Strategic Plan-Based Trading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atn-trd — Strategic Plan-Based Trading</dc:title>
  <dc:subject>PptxGenJS Presentation</dc:subject>
  <dc:creator>atn-trd</dc:creator>
  <cp:lastModifiedBy>atn-trd</cp:lastModifiedBy>
  <cp:revision>1</cp:revision>
  <dcterms:created xsi:type="dcterms:W3CDTF">2026-09-02T05:35:31Z</dcterms:created>
  <dcterms:modified xsi:type="dcterms:W3CDTF">2026-09-02T05:35:31Z</dcterms:modified>
</cp:coreProperties>
</file>