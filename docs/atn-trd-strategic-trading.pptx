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composite</c:v>
                </c:pt>
              </c:strCache>
            </c:strRef>
          </c:tx>
          <c:spPr>
            <a:solidFill>
              <a:srgbClr val="C9DAE2"/>
            </a:solidFill>
            <a:ln w="38100" cap="flat">
              <a:solidFill>
                <a:srgbClr val="C9DA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DAE2"/>
              </a:solidFill>
              <a:ln w="9525" cap="flat">
                <a:solidFill>
                  <a:srgbClr val="C9DA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0.72</c:v>
                </c:pt>
                <c:pt idx="1">
                  <c:v>0.71</c:v>
                </c:pt>
                <c:pt idx="2">
                  <c:v>0.73</c:v>
                </c:pt>
                <c:pt idx="3">
                  <c:v>0.72</c:v>
                </c:pt>
                <c:pt idx="4">
                  <c:v>0.45</c:v>
                </c:pt>
                <c:pt idx="5">
                  <c:v>0.73</c:v>
                </c:pt>
                <c:pt idx="6">
                  <c:v>0.7</c:v>
                </c:pt>
                <c:pt idx="7">
                  <c:v>0.72</c:v>
                </c:pt>
                <c:pt idx="8">
                  <c:v>0.71</c:v>
                </c:pt>
                <c:pt idx="9">
                  <c:v>0.74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EWMA (α = 0.10)</c:v>
                </c:pt>
              </c:strCache>
            </c:strRef>
          </c:tx>
          <c:spPr>
            <a:solidFill>
              <a:srgbClr val="C9DAE2"/>
            </a:solidFill>
            <a:ln w="38100" cap="flat">
              <a:solidFill>
                <a:srgbClr val="C9DA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C9DA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0.715</c:v>
                </c:pt>
                <c:pt idx="1">
                  <c:v>0.715</c:v>
                </c:pt>
                <c:pt idx="2">
                  <c:v>0.716</c:v>
                </c:pt>
                <c:pt idx="3">
                  <c:v>0.716</c:v>
                </c:pt>
                <c:pt idx="4">
                  <c:v>0.689</c:v>
                </c:pt>
                <c:pt idx="5">
                  <c:v>0.693</c:v>
                </c:pt>
                <c:pt idx="6">
                  <c:v>0.694</c:v>
                </c:pt>
                <c:pt idx="7">
                  <c:v>0.697</c:v>
                </c:pt>
                <c:pt idx="8">
                  <c:v>0.698</c:v>
                </c:pt>
                <c:pt idx="9">
                  <c:v>0.702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35"/>
        </c:scaling>
        <c:delete val="0"/>
        <c:axPos val="l"/>
        <c:majorGridlines>
          <c:spPr>
            <a:ln w="12700" cap="flat">
              <a:solidFill>
                <a:srgbClr val="E7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E6E7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on cost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E6E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now</c:v>
                  </c:pt>
                  <c:pt idx="1">
                    <c:v>+1y</c:v>
                  </c:pt>
                  <c:pt idx="2">
                    <c:v>+2y</c:v>
                  </c:pt>
                  <c:pt idx="3">
                    <c:v>+3y</c:v>
                  </c:pt>
                  <c:pt idx="4">
                    <c:v>+4y</c:v>
                  </c:pt>
                  <c:pt idx="5">
                    <c:v>+5y</c:v>
                  </c:pt>
                  <c:pt idx="6">
                    <c:v>+6y</c:v>
                  </c:pt>
                  <c:pt idx="7">
                    <c:v>+7y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3.3</c:v>
                </c:pt>
                <c:pt idx="2">
                  <c:v>3.63</c:v>
                </c:pt>
                <c:pt idx="3">
                  <c:v>3.99</c:v>
                </c:pt>
                <c:pt idx="4">
                  <c:v>4.39</c:v>
                </c:pt>
                <c:pt idx="5">
                  <c:v>4.83</c:v>
                </c:pt>
                <c:pt idx="6">
                  <c:v>5.31</c:v>
                </c:pt>
                <c:pt idx="7">
                  <c:v>5.85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5E6E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supersedes the reactive daily-cycle architecture. The core claim: forcing a decision every day is noise trading. Most days the correct answer is no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cycle is not deleted on day one — it keeps running through the migration. What changes is where the decision authority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criterion: the system can go weeks without trading and that is correct behavior. The audit trail must always answer 'why did or didn't we trade today'.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Watchlist churn is a risk in itself — a screener that runs daily quietly turns the whole system reactive again through the back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plan review is the deliberate seam: it is where a human can inspect and override before anything reaches the daily executor.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layer makes no decisions by design. Its only output is rows in signal_snapshots — which is also what makes backtesting possible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Smoothing on the signal side and a confirmation delay on the regime side are the same defense against whipsaw, applied at two different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Regime detection is deliberately crude and transparent. A model here would be harder to trust and impossible to explain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challenging in review: a yield-based classifier will reclassify a name after a big price move. Whether category is sticky once a plan exists, or re-evaluated each quarter, is an open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Auto-TRIM is what closes the loop. Without it the system only ever adds, and every exit stays a manual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dividend and return targets are aspirational rather than executable — the schema still requires a share or budget target so the tranche executor always has something concrete to size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gates are ordered cheapest-check-first. Regime is a single lookup; budget requires pricing the tranche.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multiplier of zero means skip this tranche, not cancel the plan — the plan resumes on its own when the regime lifts. This is why pause and cancel had to stay separate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Hysteresis and conviction scaling both come from the same observation: a threshold is a cliff, and portfolios should not be run off cliffs.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Chunky stocks and partial fills are the two most likely to bite first, because both show up the moment real orders are 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Concepts only here — the full DDL lives in doc 08. The point on the slide is that each table answers one question and none of them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is the only step that feels irreversible, and even it is a flag — the old cycle is skipped rather than deleted until phase 6 of the original migration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dashboard's mode badge matters more than it looks: it is the one place that answers 'which system actually placed that order'.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ten criteria are checked off in the design doc. The open question is no longer whether it works as designed, but whether the thresholds are right — which needs the collected history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1B2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524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REVISION  ·  DOC 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atn-trd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848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Plan-Based Trading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7004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no longer decides every day. It classifies its own watchlist, collects signals continuously, reads the market regime, and executes a tranche only when conviction and conditions align.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730752"/>
            <a:ext cx="7040880" cy="786384"/>
          </a:xfrm>
          <a:prstGeom prst="roundRect">
            <a:avLst>
              <a:gd name="adj" fmla="val 6977"/>
            </a:avLst>
          </a:prstGeom>
          <a:solidFill>
            <a:srgbClr val="1B2C45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30752"/>
            <a:ext cx="6537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“Investment is waiting. Hurry to pick immature fruit makes my stomach sick.”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28032"/>
            <a:ext cx="1316736" cy="749808"/>
          </a:xfrm>
          <a:prstGeom prst="roundRect">
            <a:avLst>
              <a:gd name="adj" fmla="val 7317"/>
            </a:avLst>
          </a:prstGeom>
          <a:solidFill>
            <a:srgbClr val="152439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488289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2395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93392" y="4828032"/>
            <a:ext cx="1316736" cy="749808"/>
          </a:xfrm>
          <a:prstGeom prst="roundRect">
            <a:avLst>
              <a:gd name="adj" fmla="val 7317"/>
            </a:avLst>
          </a:prstGeom>
          <a:solidFill>
            <a:srgbClr val="152439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93392" y="488289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993392" y="52395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states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19856" y="4828032"/>
            <a:ext cx="1316736" cy="749808"/>
          </a:xfrm>
          <a:prstGeom prst="roundRect">
            <a:avLst>
              <a:gd name="adj" fmla="val 7317"/>
            </a:avLst>
          </a:prstGeom>
          <a:solidFill>
            <a:srgbClr val="152439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19856" y="488289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52395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categories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4828032"/>
            <a:ext cx="1316736" cy="749808"/>
          </a:xfrm>
          <a:prstGeom prst="roundRect">
            <a:avLst>
              <a:gd name="adj" fmla="val 7317"/>
            </a:avLst>
          </a:prstGeom>
          <a:solidFill>
            <a:srgbClr val="152439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488289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52395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72784" y="4828032"/>
            <a:ext cx="1316736" cy="749808"/>
          </a:xfrm>
          <a:prstGeom prst="roundRect">
            <a:avLst>
              <a:gd name="adj" fmla="val 7317"/>
            </a:avLst>
          </a:prstGeom>
          <a:solidFill>
            <a:srgbClr val="152439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72784" y="488289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272784" y="52395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#131 — Strategic Plan-Based Trading System   ·   Engineering design review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changes,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9240" cy="2880360"/>
          </a:xfrm>
          <a:prstGeom prst="roundRect">
            <a:avLst>
              <a:gd name="adj" fmla="val 1905"/>
            </a:avLst>
          </a:prstGeom>
          <a:solidFill>
            <a:srgbClr val="F4F5F6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71907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— REACTIVE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84832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day → Analyze → Decide → Trade → Repeat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706624"/>
            <a:ext cx="4727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is forced whether or not there is anything to decide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Single-day noise moves real money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conviction building or fading over weeks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holding is treated as the same kind of holding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0216" y="1481328"/>
            <a:ext cx="5349240" cy="2880360"/>
          </a:xfrm>
          <a:prstGeom prst="roundRect">
            <a:avLst>
              <a:gd name="adj" fmla="val 1905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11112" y="1719072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STRATEGIC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084832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 → Wait → Threshold + Regime → Execute tranche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11112" y="2706624"/>
            <a:ext cx="4727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accumulate daily; decisions are event-driven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are built in tranches, spaced over weeks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is a smoothed score, not a single reading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name has a category, and the regime treats them differently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709160"/>
            <a:ext cx="11055096" cy="1417320"/>
          </a:xfrm>
          <a:prstGeom prst="roundRect">
            <a:avLst>
              <a:gd name="adj" fmla="val 387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490118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questions, asked continuously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5257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signals am I seeing across the watchlist?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07408" y="5257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market regime favorable for action?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5257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conviction reached the tranche threshold?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days, the answer is 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577840" cy="2286000"/>
          </a:xfrm>
          <a:prstGeom prst="roundRect">
            <a:avLst>
              <a:gd name="adj" fmla="val 24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84708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ACTION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724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waiting —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127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correct, logged, explainable outcome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28816" y="155448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04304" y="1517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cheap, trades are not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04304" y="18013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runs every day and costs nothing. Execution is rationed.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28816" y="235915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04304" y="2322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is built, not found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26060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that clears threshold once is noise; one that holds is a thesis.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28816" y="3163824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04304" y="3127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is a design constraint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04304" y="34107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spacing between tranches is enforced in code, not left to judgment.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160520"/>
            <a:ext cx="11055096" cy="1965960"/>
          </a:xfrm>
          <a:prstGeom prst="roundRect">
            <a:avLst>
              <a:gd name="adj" fmla="val 2791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976" y="437083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psychologically hard — so the system narrates its silence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50976" y="46634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feel broken when it doesn't trade. Notifications make the waiting legible.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0976" y="5010912"/>
            <a:ext cx="102870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3856" y="5074920"/>
            <a:ext cx="9966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[WAITING]  Regime RISK_ON, AAPL score 0.62 &lt; 0.70. Next check: 5 days.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[WAITING]  GOOGL tranche 2/4 ready in 3 days.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[PAUSED]   MSFT plan paused: RISK_OFF streak day 2.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distinct rhythms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3317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COLLECTION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15184"/>
            <a:ext cx="2807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20040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news, prices, macro and sentiment. Compute rolling metrics. Make no decisions at all.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1481328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77393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23317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CURATION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615184"/>
            <a:ext cx="2807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+ event-driven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320040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screener picks the symbols and classifies each one itself. Manual overrides only for IPOs and crises.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73568" y="1481328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773936"/>
            <a:ext cx="384048" cy="384048"/>
          </a:xfrm>
          <a:prstGeom prst="ellipse">
            <a:avLst/>
          </a:prstGeom>
          <a:solidFill>
            <a:srgbClr val="0F1B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4464" y="23317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615184"/>
            <a:ext cx="2807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Signal-triggered only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3200400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weeks of nothing, then a tranche. Never scheduled, always conditional.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5096" cy="1627632"/>
          </a:xfrm>
          <a:prstGeom prst="roundRect">
            <a:avLst>
              <a:gd name="adj" fmla="val 3371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them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50292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all three into one daily job is exactly what produced noise trading. Collection must be cheap and unconditional; curation must be rare, deliberate and self-describing; execution must be gated. Each rhythm has its own failure mode, so each gets its own job, its own log, and its own settings section.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week actually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55096" cy="987552"/>
          </a:xfrm>
          <a:prstGeom prst="roundRect">
            <a:avLst>
              <a:gd name="adj" fmla="val 555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6002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EVENT-DRIVEN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19202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 picks symbols and classifies each one · estimates yield, dividend growth and expected CAGR · manual override only for IPOs and crises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24140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651760"/>
            <a:ext cx="11055096" cy="987552"/>
          </a:xfrm>
          <a:prstGeom prst="roundRect">
            <a:avLst>
              <a:gd name="adj" fmla="val 5556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28346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SIGNAL COLLECTION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1546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news sentiment, macro · rolling 14-day metrics · composite conviction updated · regime detected · no trading decisions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6484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886200"/>
            <a:ext cx="11055096" cy="987552"/>
          </a:xfrm>
          <a:prstGeom prst="roundRect">
            <a:avLst>
              <a:gd name="adj" fmla="val 5556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8408" y="40690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— PLAN REVIEW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43891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checked against thresholds · new plans created · plans paused or resumed on regime · existing plans adjusted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48828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20640"/>
            <a:ext cx="11055096" cy="987552"/>
          </a:xfrm>
          <a:prstGeom prst="roundRect">
            <a:avLst>
              <a:gd name="adj" fmla="val 5556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53035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TRANCHE CHECK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56235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plans tested for eligibility: spacing, signal, regime, budget · tranche size scaled by category · execute or log the reason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23620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passes through the bottom band produce a logged reason, not an order.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accumulation — the eyes and ears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DAILY — NO DECISIONS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0253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25296" y="19751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87168" y="19751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Close, volume, position vs moving averages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542032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71576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25296" y="26883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2688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over headlines; LLM blend planned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255264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4290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25296" y="34015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487168" y="3401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VIX, yields, Fed funds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968496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14223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25296" y="4114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487168" y="41148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performance against peers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6208" y="1463040"/>
            <a:ext cx="5394960" cy="2212848"/>
          </a:xfrm>
          <a:prstGeom prst="roundRect">
            <a:avLst>
              <a:gd name="adj" fmla="val 247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01968" y="17007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CONVICTION SCORE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symbol, per day — a weighted blend of level, direction and price momentum.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level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351008" y="2615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601968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trend (14-day slope)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351008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601968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momentum vs 50-day SMA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351008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36208" y="3803904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01968" y="4023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configuration, not code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01968" y="4334256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and weights are settings so the first 30 days of collected data can be used to tune them by backtest — before any of it is allowed to move money.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81728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7824" y="48280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FOR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77824" y="50474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watchlist ∪ positions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3583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that arrived by manual trade or the old cycle are monitored too — otherwise nothing would ever generate a TRIM signal.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59984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collection layer first and run it alone for 30 days — the thresholds are unknowable until there is data to fit them to.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decay — why one bad day shouldn't trigger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17904"/>
          <a:ext cx="6675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46320"/>
            <a:ext cx="6675120" cy="1280160"/>
          </a:xfrm>
          <a:prstGeom prst="roundRect">
            <a:avLst>
              <a:gd name="adj" fmla="val 4286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2688" y="502920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bad news day drops the raw score from 0.73 to 0.45. With α = 0.10 the smoothed score moves only from 0.715 to 0.689 — well clear of the 0.70 threshold, so no plan is paused and nothing is cancelled.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626096" y="1517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α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26096" y="1883664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0416" y="20116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997696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smooth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997696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trend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26096" y="2798064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00416" y="29260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997696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997696" y="3200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26096" y="3712464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00416" y="38404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 +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997696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997696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reaction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626096" y="4626864"/>
            <a:ext cx="4023360" cy="1499616"/>
          </a:xfrm>
          <a:prstGeom prst="roundRect">
            <a:avLst>
              <a:gd name="adj" fmla="val 365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00416" y="4828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idea, applied to regime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900416" y="51389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can spike for one day and fall back. Plans pause only after three consecutive RISK_OFF days, tracked as a streak counter.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regime — accumulate, or defend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71907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43584" y="1691640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12140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healthy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432304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runs at full size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0248" y="148132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BF0E4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719072"/>
            <a:ext cx="274320" cy="2743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46904" y="1691640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12140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signals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432304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 reduced by category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73568" y="148132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1719072"/>
            <a:ext cx="274320" cy="2743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50224" y="1691640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RISK_OFF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12140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stressed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432304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pauses; income keeps buying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456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FROM FOUR INDICATORS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7824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above 25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61888" y="391363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370832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above 35 (extreme)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61888" y="446227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19472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" y="5010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curve inverted (10Y–2Y &lt; 0)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961888" y="501091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468112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7824" y="5559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below 40% above 200 SMA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961888" y="555955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626096" y="3456432"/>
            <a:ext cx="4023360" cy="2651760"/>
          </a:xfrm>
          <a:prstGeom prst="roundRect">
            <a:avLst>
              <a:gd name="adj" fmla="val 206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18704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SCORE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918704" y="40416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0.50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089136" y="4041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RISK_OFF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918704" y="45171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0.25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089136" y="4517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918704" y="4992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0.25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089136" y="4992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RISK_ON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918704" y="55046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is recorded every day with its indicator breakdown, so any pause can be explained months later.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2.5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watchlist classifies itself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screener runs, it does not just pick names — it decides what kind of holding each one is, and everything downstream inherits that answer.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6675120" cy="859536"/>
          </a:xfrm>
          <a:prstGeom prst="roundRect">
            <a:avLst>
              <a:gd name="adj" fmla="val 6383"/>
            </a:avLst>
          </a:prstGeom>
          <a:solidFill>
            <a:srgbClr val="FBF0E4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93392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B565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INCOME_BOOSTER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852928" y="19842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above 4%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500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cash flow — the place the portfolio rotates to when the regime turns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816352"/>
            <a:ext cx="6675120" cy="859536"/>
          </a:xfrm>
          <a:prstGeom prst="roundRect">
            <a:avLst>
              <a:gd name="adj" fmla="val 6383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62656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9626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DIVIDEND_GROWTH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29535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1–4% and dividend growing above 5% a year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3192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that compounds rather than income bought at today's price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85616"/>
            <a:ext cx="6675120" cy="859536"/>
          </a:xfrm>
          <a:prstGeom prst="roundRect">
            <a:avLst>
              <a:gd name="adj" fmla="val 638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93192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0F1B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9319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GROWTH_CORE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852928" y="39227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else — little or no dividend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8853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appreciation, and the first thing paused under stress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7914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are checked in that order, so the first match wins.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26096" y="1810512"/>
            <a:ext cx="4562856" cy="3310128"/>
          </a:xfrm>
          <a:prstGeom prst="roundRect">
            <a:avLst>
              <a:gd name="adj" fmla="val 165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36992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PER SYMBOL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838944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JNJ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936992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838944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DIVIDEND_GROWTH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936992" y="3072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conviction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838944" y="3072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936992" y="3419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dividend yield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838944" y="3419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2.9%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936992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dividend growth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838944" y="3767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6% / yr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936992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 CAGR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838944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8%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936992" y="4553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“Healthcare dividend aristocrat, 60+ years of increases”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66944"/>
            <a:ext cx="11055096" cy="859536"/>
          </a:xfrm>
          <a:prstGeom prst="roundRect">
            <a:avLst>
              <a:gd name="adj" fmla="val 6383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" y="5266944"/>
            <a:ext cx="1051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SCREENER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911096" y="5266944"/>
            <a:ext cx="237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121408" y="5266944"/>
            <a:ext cx="1051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WATCHLIST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154680" y="5266944"/>
            <a:ext cx="237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364992" y="5266944"/>
            <a:ext cx="1051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398264" y="5266944"/>
            <a:ext cx="237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608576" y="5266944"/>
            <a:ext cx="1051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053328" y="5266944"/>
            <a:ext cx="5257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and its estimates travel with the symbol. There is no manual tagging step, and nothing downstream has to re-derive what kind of holding this is.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plans — campaigns, not trades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429000" cy="2157984"/>
          </a:xfrm>
          <a:prstGeom prst="roundRect">
            <a:avLst>
              <a:gd name="adj" fmla="val 2542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682496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6824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066544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 when score ≥ 0.70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35915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position over time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889504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100 AAPL across 4 tranches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0248" y="1463040"/>
            <a:ext cx="3429000" cy="2157984"/>
          </a:xfrm>
          <a:prstGeom prst="roundRect">
            <a:avLst>
              <a:gd name="adj" fmla="val 2542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682496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16824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066544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 when score ≤ −0.50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35915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a position gradually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2889504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50% of NVDA over 3 weeks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73568" y="1463040"/>
            <a:ext cx="3429000" cy="2157984"/>
          </a:xfrm>
          <a:prstGeom prst="roundRect">
            <a:avLst>
              <a:gd name="adj" fmla="val 2542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682496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0F1B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66176" y="16824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2066544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 when regime = RISK_OFF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235915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Rotate into defensive assets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2889504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20% to GLD / TLT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LIFECYCLE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4114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551176" y="411480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898648" y="41148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98648" y="4114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82896" y="411480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230368" y="41148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30368" y="4114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214616" y="411480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62088" y="41148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62088" y="4114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53528" y="411480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53528" y="4114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802368" y="41148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is reversible. CANCELLED is not — conviction collapsed.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4937760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50976" y="5120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what the plan does; category is what the holding is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50976" y="541324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are independent. An ACCUMULATE plan on an income name behaves nothing like one on a growth name, and the creation notes record the thesis either way.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327648" y="5120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plans are created for you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327648" y="541324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position's score falls below the sell threshold, the system opens a TRIM without being asked — so the portfolio can exit, not only accumulate.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3, CONTINUED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plan is actually aiming 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target_shares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408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100 shares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46704" y="1444752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1645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Dollars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target_budget_cents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23408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$10,000 in total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444752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645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target_dividend_cents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3408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$500 a year of dividend income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15727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06256" y="1444752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0576" y="1645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target_total_return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23408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 15% CAGR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689336" y="15727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1012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ON COST — A 3% YIELDER GROWING ITS DIVIDEND 10% A YEAR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66928" y="3584448"/>
          <a:ext cx="6035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7059168" y="3310128"/>
            <a:ext cx="5129784" cy="2651760"/>
          </a:xfrm>
          <a:prstGeom prst="roundRect">
            <a:avLst>
              <a:gd name="adj" fmla="val 206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88352" y="35295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without chasing yield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388352" y="387705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income target is not an instruction to buy the highest yield available. It is a destination the portfolio grows into.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388352" y="4517136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current yield is usually a distressed price, not a gift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dividend grower reaches the same yield later, on a healthier business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years of 10% growth doubles the yield on the original cost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14476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may carry more than one target; shares or dollars is still the constraint that has to be present.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— four gates, checked daily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315200" cy="731520"/>
          </a:xfrm>
          <a:prstGeom prst="roundRect">
            <a:avLst>
              <a:gd name="adj" fmla="val 75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934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41448" y="16093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is not paused by the current regime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053328" y="16093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→ plan paused, reason logged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7315200" cy="731520"/>
          </a:xfrm>
          <a:prstGeom prst="roundRect">
            <a:avLst>
              <a:gd name="adj" fmla="val 75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551176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688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41448" y="24688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N days since the last tranche (default 5)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053328" y="24688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→ waiting for timing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200400"/>
            <a:ext cx="7315200" cy="731520"/>
          </a:xfrm>
          <a:prstGeom prst="roundRect">
            <a:avLst>
              <a:gd name="adj" fmla="val 75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41071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2841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441448" y="33284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still above the plan's threshold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053328" y="33284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→ signal weakened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059936"/>
            <a:ext cx="7315200" cy="731520"/>
          </a:xfrm>
          <a:prstGeom prst="roundRect">
            <a:avLst>
              <a:gd name="adj" fmla="val 7500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27024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18795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441448" y="41879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cash for a whole tranche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053328" y="41879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→ insufficient funds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66176" y="1481328"/>
            <a:ext cx="3383280" cy="2148840"/>
          </a:xfrm>
          <a:prstGeom prst="roundRect">
            <a:avLst>
              <a:gd name="adj" fmla="val 2553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40496" y="1700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PASS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540496" y="2011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8540496" y="257860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tranche, sized by conviction and then multiplied by the category's regime factor.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66176" y="3840480"/>
            <a:ext cx="3383280" cy="2286000"/>
          </a:xfrm>
          <a:prstGeom prst="roundRect">
            <a:avLst>
              <a:gd name="adj" fmla="val 24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40496" y="4059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GATE FAILS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540496" y="43708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and log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8540496" y="495604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is persisted, not just printed. A quiet week has to be as explainable as a busy one.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0749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sector cap is checked alongside the four gates — no sector may exceed 30% of the portfolio after a trade.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RULE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× category — how much, and of what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146304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833872" y="146304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GROWTH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787384" y="146304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BOOSTER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65376"/>
            <a:ext cx="2194560" cy="1024128"/>
          </a:xfrm>
          <a:prstGeom prst="roundRect">
            <a:avLst>
              <a:gd name="adj" fmla="val 535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49424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33856" y="1865376"/>
            <a:ext cx="1554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80360" y="1865376"/>
            <a:ext cx="2816352" cy="1024128"/>
          </a:xfrm>
          <a:prstGeom prst="roundRect">
            <a:avLst>
              <a:gd name="adj" fmla="val 5357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36392" y="201168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136392" y="241401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tranches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33872" y="1865376"/>
            <a:ext cx="2816352" cy="1024128"/>
          </a:xfrm>
          <a:prstGeom prst="roundRect">
            <a:avLst>
              <a:gd name="adj" fmla="val 5357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9904" y="201168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089904" y="241401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tranches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87384" y="1865376"/>
            <a:ext cx="2816352" cy="1024128"/>
          </a:xfrm>
          <a:prstGeom prst="roundRect">
            <a:avLst>
              <a:gd name="adj" fmla="val 5357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43416" y="201168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043416" y="241401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2999232"/>
            <a:ext cx="2194560" cy="1024128"/>
          </a:xfrm>
          <a:prstGeom prst="roundRect">
            <a:avLst>
              <a:gd name="adj" fmla="val 535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383280"/>
            <a:ext cx="237744" cy="237744"/>
          </a:xfrm>
          <a:prstGeom prst="ellipse">
            <a:avLst/>
          </a:prstGeom>
          <a:solidFill>
            <a:srgbClr val="B565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33856" y="2999232"/>
            <a:ext cx="1554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80360" y="2999232"/>
            <a:ext cx="2816352" cy="1024128"/>
          </a:xfrm>
          <a:prstGeom prst="roundRect">
            <a:avLst>
              <a:gd name="adj" fmla="val 5357"/>
            </a:avLst>
          </a:prstGeom>
          <a:solidFill>
            <a:srgbClr val="FBF0E4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36392" y="314553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136392" y="354787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size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33872" y="2999232"/>
            <a:ext cx="2816352" cy="1024128"/>
          </a:xfrm>
          <a:prstGeom prst="roundRect">
            <a:avLst>
              <a:gd name="adj" fmla="val 5357"/>
            </a:avLst>
          </a:prstGeom>
          <a:solidFill>
            <a:srgbClr val="F4F5F6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89904" y="314553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089904" y="354787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dips only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7384" y="2999232"/>
            <a:ext cx="2816352" cy="1024128"/>
          </a:xfrm>
          <a:prstGeom prst="roundRect">
            <a:avLst>
              <a:gd name="adj" fmla="val 5357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43416" y="314553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043416" y="354787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4133088"/>
            <a:ext cx="2194560" cy="1024128"/>
          </a:xfrm>
          <a:prstGeom prst="roundRect">
            <a:avLst>
              <a:gd name="adj" fmla="val 535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" y="4517136"/>
            <a:ext cx="237744" cy="237744"/>
          </a:xfrm>
          <a:prstGeom prst="ellipse">
            <a:avLst/>
          </a:prstGeom>
          <a:solidFill>
            <a:srgbClr val="9FB3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33856" y="4133088"/>
            <a:ext cx="1554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RISK_OFF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880360" y="4133088"/>
            <a:ext cx="2816352" cy="1024128"/>
          </a:xfrm>
          <a:prstGeom prst="roundRect">
            <a:avLst>
              <a:gd name="adj" fmla="val 5357"/>
            </a:avLst>
          </a:prstGeom>
          <a:solidFill>
            <a:srgbClr val="F4F5F6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36392" y="42793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3136392" y="468172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833872" y="4133088"/>
            <a:ext cx="2816352" cy="1024128"/>
          </a:xfrm>
          <a:prstGeom prst="roundRect">
            <a:avLst>
              <a:gd name="adj" fmla="val 5357"/>
            </a:avLst>
          </a:prstGeom>
          <a:solidFill>
            <a:srgbClr val="F4F5F6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89904" y="42793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6089904" y="468172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new, hold existing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787384" y="4133088"/>
            <a:ext cx="2816352" cy="1024128"/>
          </a:xfrm>
          <a:prstGeom prst="roundRect">
            <a:avLst>
              <a:gd name="adj" fmla="val 5357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43416" y="42793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9043416" y="468172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here for cash flow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66928" y="5486400"/>
            <a:ext cx="11055096" cy="822960"/>
          </a:xfrm>
          <a:prstGeom prst="roundRect">
            <a:avLst>
              <a:gd name="adj" fmla="val 6667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0976" y="5486400"/>
            <a:ext cx="10287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RISK_OFF is no longer a blanket stop. The portfolio stops adding risk and keeps adding cash flow — the multiplier does the work, so no plan has to be cancelled to change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CASE, PROMOTED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Thresholds that don't flap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2646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threshold at 0.70 means a score oscillating between 0.69 and 0.71 flips a plan between active and paused every other day. Three separated bands fix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6858000" cy="1005840"/>
          </a:xfrm>
          <a:prstGeom prst="roundRect">
            <a:avLst>
              <a:gd name="adj" fmla="val 5455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05456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5054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139696" y="2523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139696" y="28163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ACCUMULATE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456432"/>
            <a:ext cx="6858000" cy="1005840"/>
          </a:xfrm>
          <a:prstGeom prst="roundRect">
            <a:avLst>
              <a:gd name="adj" fmla="val 5455"/>
            </a:avLst>
          </a:prstGeom>
          <a:solidFill>
            <a:srgbClr val="FBF0E4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675888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B565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6758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3694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139696" y="39867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plan, stop executing tranches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626864"/>
            <a:ext cx="6858000" cy="1005840"/>
          </a:xfrm>
          <a:prstGeom prst="roundRect">
            <a:avLst>
              <a:gd name="adj" fmla="val 5455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84632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0F1B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846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139696" y="4864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139696" y="51572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plan; consider an offsetting TRIM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808976" y="1426464"/>
            <a:ext cx="3840480" cy="2231136"/>
          </a:xfrm>
          <a:prstGeom prst="roundRect">
            <a:avLst>
              <a:gd name="adj" fmla="val 245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01584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 ZONE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101584" y="1956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 – 0.70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101584" y="2487168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plan keeps running here, but no new plan opens. The gap is the whole point: entry and exit must never share a line.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08976" y="3858768"/>
            <a:ext cx="3840480" cy="2267712"/>
          </a:xfrm>
          <a:prstGeom prst="roundRect">
            <a:avLst>
              <a:gd name="adj" fmla="val 241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01584" y="4078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Conviction-scaled tranches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101584" y="440740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quarter ignores how strong the signal is. Tranche size scales with the score above 0.50, floored at 20% of base.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01584" y="53766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0.75  →  half a base tranche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0.90  →  four fifths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 and their mitigations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682496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Chunky stocks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01168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 share price leaves cash stranded and orders rejected.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9536" y="2688336"/>
            <a:ext cx="2843784" cy="694944"/>
          </a:xfrm>
          <a:prstGeom prst="roundRect">
            <a:avLst>
              <a:gd name="adj" fmla="val 7895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743200"/>
            <a:ext cx="2587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budget instead of a share count; floor to whole shares.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4630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2856" y="1682496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for hedging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01168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invested means no cash to rotate into GLD or TLT.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62856" y="2688336"/>
            <a:ext cx="2843784" cy="694944"/>
          </a:xfrm>
          <a:prstGeom prst="roundRect">
            <a:avLst>
              <a:gd name="adj" fmla="val 7895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90872" y="2743200"/>
            <a:ext cx="2587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RISK_OFF triggers paired TRIM plans on the weakest names first.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4630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6176" y="1682496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fills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201168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orders fill partially, or slowly.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66176" y="2688336"/>
            <a:ext cx="2843784" cy="694944"/>
          </a:xfrm>
          <a:prstGeom prst="roundRect">
            <a:avLst>
              <a:gd name="adj" fmla="val 7895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2743200"/>
            <a:ext cx="2587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status; count shares only once the fill is confirmed.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7490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3968496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conflicts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429768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and TRIM opened on the same symbol.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9536" y="4974336"/>
            <a:ext cx="2843784" cy="694944"/>
          </a:xfrm>
          <a:prstGeom prst="roundRect">
            <a:avLst>
              <a:gd name="adj" fmla="val 7895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" y="5029200"/>
            <a:ext cx="2587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plan per symbol per direction, blocked at creation.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0248" y="37490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2856" y="3968496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62856" y="429768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plans quietly stacking into one sector.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62856" y="4974336"/>
            <a:ext cx="2843784" cy="694944"/>
          </a:xfrm>
          <a:prstGeom prst="roundRect">
            <a:avLst>
              <a:gd name="adj" fmla="val 7895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90872" y="5029200"/>
            <a:ext cx="2587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exposure before each tranche; skip past a 30% cap.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73568" y="37490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66176" y="3968496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hedging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266176" y="429768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plans is not the same as defending.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66176" y="4974336"/>
            <a:ext cx="2843784" cy="694944"/>
          </a:xfrm>
          <a:prstGeom prst="roundRect">
            <a:avLst>
              <a:gd name="adj" fmla="val 7895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94192" y="5029200"/>
            <a:ext cx="2587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two RISK_OFF days with cash free, open a HEDGE plan automatically.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of these was found by reasoning through a normal week, not by production incident — which is the cheapest place to find them.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new tables, one purpose 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signal_snapshots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6148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symbol per day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45536"/>
            <a:ext cx="2048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signals, rolling metrics, composite and its smoothed form. This is also the backtesting corpus.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46704" y="1481328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173736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2736" y="22128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market_regime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276148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day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3145536"/>
            <a:ext cx="2048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regime, the indicator values behind it, the risk score and the consecutive-day streak.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81328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73736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2512" y="22128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strategic_plans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76148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campaign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3145536"/>
            <a:ext cx="2048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and category, up to four target types, tranche settings, thresholds, status and the thesis at creation.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06256" y="1481328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62288" y="173736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62288" y="22128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plan_tranches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62288" y="276148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execution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62288" y="3145536"/>
            <a:ext cx="2048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Shares, price, order status, and the score and regime at the moment it fired.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626864"/>
            <a:ext cx="11055096" cy="1499616"/>
          </a:xfrm>
          <a:prstGeom prst="roundRect">
            <a:avLst>
              <a:gd name="adj" fmla="val 365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" y="4846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carry over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50976" y="515721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stays integer cents, quantities stay real, dates stay TEXT on the ET calendar.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71416" y="4846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rides along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71416" y="515721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set once by the screener and stored on the plan, so execution never has to re-derive it.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91856" y="4846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the product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991856" y="515721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days of snapshots is what makes threshold tuning an experiment rather than a guess.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in issue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trading changes — just start collecting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992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29809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trading settings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56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accumulation layer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136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8953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detection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46704" y="146304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2736" y="16642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02736" y="192024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infrastructure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602736" y="237744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exist, but drive nothing yet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02736" y="29992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79392" y="29809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plans and tranched execution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02736" y="3456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279392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Chunky stocks, hysteresis, partial fills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46304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16642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192024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over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237744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reactive cycle steps aside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29992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9809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trading cycle to plan-driven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3456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#139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059168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Decay, regime delay, sector caps, alerts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06256" y="146304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62288" y="16642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162288" y="192024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162288" y="237744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inspectable and steerable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162288" y="29992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838944" y="29809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reset and manual trading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62288" y="3456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838944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plans UI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466344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E3F2EE"/>
          </a:solidFill>
          <a:ln w="12700">
            <a:solidFill>
              <a:srgbClr val="B9DE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2688" y="48646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until the cut over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932688" y="519379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and 2 add tables and jobs without changing how a single trade is decided. The existing daily cycle keeps running the whole time.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236208" y="466344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01968" y="48646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 over is a setting, not a rewrite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6601968" y="519379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execution.enabled on and the old trading cycle is skipped automatically. The scheduler says so out loud: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601968" y="56875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Trading Cycle: disabled (strategic plans active)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surface, once it is running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0078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04825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engine is driving, and what it costs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359152"/>
            <a:ext cx="47731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execution-mode badge: Strategic Plans, or Trading Cycle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runs the signals; the LLM runs only the screener, on demand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LLM cost, now driven by screener runs rather than every cycle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444752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70078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47104" y="204825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at a glance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2359152"/>
            <a:ext cx="47731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paused plan cards, each with a progress bar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 Planner” triggers signal collection and plan review on the spot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report regime, watchlist and position counts, plans created and skipped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396849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Watchlist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" y="431596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categories surface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4626864"/>
            <a:ext cx="47731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 Screener” populates the list when the watchlist is dynamic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symbol carries its category — growth core, dividend growth, income booster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status is shown per symbol, so gaps are obvious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712464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EF4F7"/>
          </a:solidFill>
          <a:ln w="12700">
            <a:solidFill>
              <a:srgbClr val="C9DA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96849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History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47104" y="431596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run, two kinds of record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47104" y="4626864"/>
            <a:ext cx="47731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jobs show a summary: regime, counts, and every skip reason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Trading-cycle runs keep assessments, decisions, orders and the transcript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layouts differ because the evidence differs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05332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system decided on its own has to be visible somewhere — otherwise patience is indistinguishable from a bug.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3840480" cy="3840480"/>
          </a:xfrm>
          <a:prstGeom prst="ellipse">
            <a:avLst/>
          </a:prstGeom>
          <a:solidFill>
            <a:srgbClr val="1524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STANDS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criterion, met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721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26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 go weeks without trading, and that reads as correct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48" y="14721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9048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426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fire only when conviction and regime agree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03911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039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993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day is explainable: why we did or didn't trade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99048" y="203911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99048" y="2039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1993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happens automatically when the regime turns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6060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changes are rare, deliberate and self-classifying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99048" y="26060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99048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history is deep enough to backtest against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31729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sector exceeds 30% of the portfolio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99048" y="31729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99048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keeps single-day noise from moving money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37398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36941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are monitored for TRIM signals, not only the watchlist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99048" y="37398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99048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36941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says which engine is driving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66928" y="4315968"/>
            <a:ext cx="11055096" cy="1572768"/>
          </a:xfrm>
          <a:prstGeom prst="roundRect">
            <a:avLst>
              <a:gd name="adj" fmla="val 3488"/>
            </a:avLst>
          </a:prstGeom>
          <a:solidFill>
            <a:srgbClr val="1B2C45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0976" y="45171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50976" y="4846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#155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50976" y="5120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collection blends an LLM with FinBERT for better signal quality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471416" y="4846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#152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471416" y="5120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becomes Job History, filterable by job type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991856" y="4846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#153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991856" y="5120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LLM reports that synthesize what the signals are saying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089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#131  ·  doc 08 — Strategic Plan-Based Trading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atn-trd — Strategic Plan-Based Trading</dc:title>
  <dc:subject>PptxGenJS Presentation</dc:subject>
  <dc:creator>atn-trd</dc:creator>
  <cp:lastModifiedBy>atn-trd</cp:lastModifiedBy>
  <cp:revision>1</cp:revision>
  <dcterms:created xsi:type="dcterms:W3CDTF">2026-09-03T18:17:41Z</dcterms:created>
  <dcterms:modified xsi:type="dcterms:W3CDTF">2026-09-03T18:17:41Z</dcterms:modified>
</cp:coreProperties>
</file>